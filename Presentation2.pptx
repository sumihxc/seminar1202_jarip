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73" r:id="rId3"/>
    <p:sldId id="274" r:id="rId4"/>
    <p:sldId id="290" r:id="rId5"/>
    <p:sldId id="291" r:id="rId6"/>
    <p:sldId id="292" r:id="rId7"/>
    <p:sldId id="293" r:id="rId8"/>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FDE934FF-F4E1-47C5-9CA5-30A81DDE2BE4}"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2pPr>
      <a:lvl3pPr marL="914400" lvl="2"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3pPr>
      <a:lvl4pPr marL="1371600" lvl="3"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4pPr>
      <a:lvl5pPr marL="1828800" lvl="4"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5pPr>
      <a:lvl6pPr marL="2286000" lvl="5"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6pPr>
      <a:lvl7pPr marL="2743200" lvl="6"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7pPr>
      <a:lvl8pPr marL="3200400" lvl="7"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8pPr>
      <a:lvl9pPr marL="3657600" lvl="8"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10" name="Text Box 9"/>
          <p:cNvSpPr txBox="1"/>
          <p:nvPr/>
        </p:nvSpPr>
        <p:spPr>
          <a:xfrm>
            <a:off x="635" y="728345"/>
            <a:ext cx="10502900" cy="5977255"/>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潜在的な</a:t>
            </a:r>
            <a:r>
              <a:rPr lang="en-US" altLang="ja-JP">
                <a:latin typeface="Meiryo Regular" panose="020B0604030504040204" charset="-128"/>
                <a:ea typeface="Meiryo Regular" panose="020B0604030504040204" charset="-128"/>
              </a:rPr>
              <a:t>GP</a:t>
            </a:r>
            <a:r>
              <a:rPr lang="ja-JP" altLang="en-US">
                <a:latin typeface="Meiryo Regular" panose="020B0604030504040204" charset="-128"/>
                <a:ea typeface="Meiryo Regular" panose="020B0604030504040204" charset="-128"/>
              </a:rPr>
              <a:t>関数を統合するモデルの周辺尤度　</a:t>
            </a:r>
            <a:r>
              <a:rPr lang="en-US" altLang="ja-JP">
                <a:latin typeface="Meiryo Regular" panose="020B0604030504040204" charset="-128"/>
                <a:ea typeface="Meiryo Regular" panose="020B0604030504040204" charset="-128"/>
              </a:rPr>
              <a:t>N</a:t>
            </a:r>
            <a:r>
              <a:rPr lang="ja-JP" altLang="en-US">
                <a:latin typeface="Meiryo Regular" panose="020B0604030504040204" charset="-128"/>
                <a:ea typeface="Meiryo Regular" panose="020B0604030504040204" charset="-128"/>
              </a:rPr>
              <a:t>はデータセットのサイズ</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ベイズ情報量基準は、モデルの複雑さと適合度をトレードオフし、完全な周辺尤度を近似する。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各ラウンドのベストモデルは次のいずれかの方法で、新しい提案モデルを構築する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rPr>
              <a:t>(1). </a:t>
            </a:r>
            <a:r>
              <a:rPr lang="ja-JP" altLang="en-US">
                <a:latin typeface="Meiryo Regular" panose="020B0604030504040204" charset="-128"/>
                <a:ea typeface="Meiryo Regular" panose="020B0604030504040204" charset="-128"/>
              </a:rPr>
              <a:t>合計、積または変更点の導入など文法からの生成ルールを使用してカーネルを拡張する。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rPr>
              <a:t>(2). </a:t>
            </a:r>
            <a:r>
              <a:rPr lang="ja-JP" altLang="en-US">
                <a:latin typeface="Meiryo Regular" panose="020B0604030504040204" charset="-128"/>
                <a:ea typeface="Meiryo Regular" panose="020B0604030504040204" charset="-128"/>
              </a:rPr>
              <a:t>ベースカーネルを変更する。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ここで構築したものは次のラウンドで評価する。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上記のルールを使用すると、カーネル式が複数回提案されるが、適切に実装されたシステムはレコードを保持し、各式を一回のみ評価する。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新しく提案されたすべてのモデルのスコアが前のラウンドのベストモデルよりも悪い場合、または事前に定義された検索深度を超えた場合、検索と評価は停止する。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このような貪欲探索は最適解を得ることを保証できない。</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妥当な時間内に適切な解釈可能なモデルが見つかる限り、グローバルに最適なモデルを見つけることは通常必須ではない。モデルの検索と評価を行う方法は他にもある</a:t>
            </a:r>
            <a:r>
              <a:rPr lang="en-US" altLang="ja-JP">
                <a:latin typeface="Meiryo Regular" panose="020B0604030504040204" charset="-128"/>
                <a:ea typeface="Meiryo Regular" panose="020B0604030504040204" charset="-128"/>
              </a:rPr>
              <a:t>_x0008_(ex. </a:t>
            </a:r>
            <a:r>
              <a:rPr lang="ja-JP" altLang="en-US">
                <a:latin typeface="Meiryo Regular" panose="020B0604030504040204" charset="-128"/>
                <a:ea typeface="Meiryo Regular" panose="020B0604030504040204" charset="-128"/>
              </a:rPr>
              <a:t>ベイズ最適化、粒子フィルタとHamiltonian Monte Carlo</a:t>
            </a:r>
            <a:r>
              <a:rPr lang="en-US" altLang="ja-JP">
                <a:latin typeface="Meiryo Regular" panose="020B0604030504040204" charset="-128"/>
                <a:ea typeface="Meiryo Regular" panose="020B0604030504040204" charset="-128"/>
              </a:rPr>
              <a:t>)</a:t>
            </a:r>
            <a:endParaRPr lang="en-US" altLang="ja-JP">
              <a:latin typeface="Meiryo Regular" panose="020B0604030504040204" charset="-128"/>
              <a:ea typeface="Meiryo Regular" panose="020B060403050404020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8" name="Rectangle 7"/>
          <p:cNvSpPr/>
          <p:nvPr/>
        </p:nvSpPr>
        <p:spPr>
          <a:xfrm>
            <a:off x="129540" y="860425"/>
            <a:ext cx="3074670" cy="63436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自然言語での説明の生成</a:t>
            </a:r>
            <a:endParaRPr lang="en-US" sz="2000">
              <a:solidFill>
                <a:schemeClr val="tx1"/>
              </a:solidFill>
              <a:latin typeface="Meiryo Regular" panose="020B0604030504040204" charset="-128"/>
              <a:ea typeface="Meiryo Regular" panose="020B0604030504040204" charset="-128"/>
              <a:sym typeface="+mn-ea"/>
            </a:endParaRPr>
          </a:p>
        </p:txBody>
      </p:sp>
      <p:sp>
        <p:nvSpPr>
          <p:cNvPr id="10" name="Text Box 9"/>
          <p:cNvSpPr txBox="1"/>
          <p:nvPr/>
        </p:nvSpPr>
        <p:spPr>
          <a:xfrm>
            <a:off x="129540" y="1494790"/>
            <a:ext cx="10502900" cy="2515235"/>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検索手順が終了すると、カーネル式とそのスコアのリストが生成され、スコアが最も高い式を使用して、自然言語の説明が生成される。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カーネルを自然言語の記述に変換するには、最初に次のプロセスを使用して、カーネルの正規表現に変換する。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rPr>
              <a:t>1. </a:t>
            </a:r>
            <a:r>
              <a:rPr lang="ja-JP" altLang="en-US">
                <a:latin typeface="Meiryo Regular" panose="020B0604030504040204" charset="-128"/>
                <a:ea typeface="Meiryo Regular" panose="020B0604030504040204" charset="-128"/>
              </a:rPr>
              <a:t>ネストされた和と積は、積の合計形式に展開する。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rPr>
              <a:t>2. </a:t>
            </a:r>
            <a:r>
              <a:rPr lang="ja-JP" altLang="en-US">
                <a:latin typeface="Meiryo Regular" panose="020B0604030504040204" charset="-128"/>
                <a:ea typeface="Meiryo Regular" panose="020B0604030504040204" charset="-128"/>
              </a:rPr>
              <a:t>カーネルの一部の積はパラメータが変更されたベースカーネルに変更できる。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    </a:t>
            </a:r>
            <a:r>
              <a:rPr lang="en-US" altLang="ja-JP">
                <a:latin typeface="Meiryo Regular" panose="020B0604030504040204" charset="-128"/>
                <a:ea typeface="Meiryo Regular" panose="020B0604030504040204" charset="-128"/>
              </a:rPr>
              <a:t>ex. </a:t>
            </a:r>
            <a:endParaRPr lang="en-US" altLang="ja-JP">
              <a:latin typeface="Meiryo Regular" panose="020B0604030504040204" charset="-128"/>
              <a:ea typeface="Meiryo Regular" panose="020B0604030504040204" charset="-128"/>
            </a:endParaRPr>
          </a:p>
        </p:txBody>
      </p:sp>
      <p:pic>
        <p:nvPicPr>
          <p:cNvPr id="6" name="Picture 5" descr="スクリーンショット 2021-01-08 0.09.45"/>
          <p:cNvPicPr>
            <a:picLocks noChangeAspect="1"/>
          </p:cNvPicPr>
          <p:nvPr/>
        </p:nvPicPr>
        <p:blipFill>
          <a:blip r:embed="rId1"/>
          <a:stretch>
            <a:fillRect/>
          </a:stretch>
        </p:blipFill>
        <p:spPr>
          <a:xfrm>
            <a:off x="968375" y="3639185"/>
            <a:ext cx="4906010" cy="307975"/>
          </a:xfrm>
          <a:prstGeom prst="rect">
            <a:avLst/>
          </a:prstGeom>
        </p:spPr>
      </p:pic>
      <p:pic>
        <p:nvPicPr>
          <p:cNvPr id="7" name="Picture 6" descr="スクリーンショット 2021-01-08 0.10.26"/>
          <p:cNvPicPr>
            <a:picLocks noChangeAspect="1"/>
          </p:cNvPicPr>
          <p:nvPr/>
        </p:nvPicPr>
        <p:blipFill>
          <a:blip r:embed="rId2"/>
          <a:stretch>
            <a:fillRect/>
          </a:stretch>
        </p:blipFill>
        <p:spPr>
          <a:xfrm>
            <a:off x="968375" y="4010025"/>
            <a:ext cx="4905375" cy="354330"/>
          </a:xfrm>
          <a:prstGeom prst="rect">
            <a:avLst/>
          </a:prstGeom>
        </p:spPr>
      </p:pic>
      <p:sp>
        <p:nvSpPr>
          <p:cNvPr id="3" name="Text Box 2"/>
          <p:cNvSpPr txBox="1"/>
          <p:nvPr/>
        </p:nvSpPr>
        <p:spPr>
          <a:xfrm>
            <a:off x="129540" y="4364355"/>
            <a:ext cx="10502900" cy="437515"/>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これらのルールにより、カーネル式は積項の合計になり、各積項は次の正規形式になる。</a:t>
            </a:r>
            <a:endParaRPr lang="ja-JP" altLang="en-US">
              <a:latin typeface="Meiryo Regular" panose="020B0604030504040204" charset="-128"/>
              <a:ea typeface="Meiryo Regular" panose="020B0604030504040204" charset="-128"/>
            </a:endParaRPr>
          </a:p>
        </p:txBody>
      </p:sp>
      <p:pic>
        <p:nvPicPr>
          <p:cNvPr id="9" name="Picture 8" descr="スクリーンショット 2021-01-08 0.17.07"/>
          <p:cNvPicPr>
            <a:picLocks noChangeAspect="1"/>
          </p:cNvPicPr>
          <p:nvPr/>
        </p:nvPicPr>
        <p:blipFill>
          <a:blip r:embed="rId3"/>
          <a:stretch>
            <a:fillRect/>
          </a:stretch>
        </p:blipFill>
        <p:spPr>
          <a:xfrm>
            <a:off x="4925060" y="4801870"/>
            <a:ext cx="2341245" cy="577215"/>
          </a:xfrm>
          <a:prstGeom prst="rect">
            <a:avLst/>
          </a:prstGeom>
        </p:spPr>
      </p:pic>
      <p:pic>
        <p:nvPicPr>
          <p:cNvPr id="11" name="Picture 10" descr="スクリーンショット 2021-01-08 0.19.16"/>
          <p:cNvPicPr>
            <a:picLocks noChangeAspect="1"/>
          </p:cNvPicPr>
          <p:nvPr/>
        </p:nvPicPr>
        <p:blipFill>
          <a:blip r:embed="rId4"/>
          <a:stretch>
            <a:fillRect/>
          </a:stretch>
        </p:blipFill>
        <p:spPr>
          <a:xfrm>
            <a:off x="129540" y="5379085"/>
            <a:ext cx="2263140" cy="344170"/>
          </a:xfrm>
          <a:prstGeom prst="rect">
            <a:avLst/>
          </a:prstGeom>
        </p:spPr>
      </p:pic>
      <p:sp>
        <p:nvSpPr>
          <p:cNvPr id="12" name="Text Box 11"/>
          <p:cNvSpPr txBox="1"/>
          <p:nvPr/>
        </p:nvSpPr>
        <p:spPr>
          <a:xfrm>
            <a:off x="2408555" y="5332730"/>
            <a:ext cx="9173845" cy="437515"/>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：シグモイド関数の積</a:t>
            </a:r>
            <a:endParaRPr lang="ja-JP" altLang="en-US">
              <a:latin typeface="Meiryo Regular" panose="020B0604030504040204" charset="-128"/>
              <a:ea typeface="Meiryo Regular" panose="020B0604030504040204" charset="-128"/>
            </a:endParaRPr>
          </a:p>
        </p:txBody>
      </p:sp>
      <p:sp>
        <p:nvSpPr>
          <p:cNvPr id="13" name="Text Box 12"/>
          <p:cNvSpPr txBox="1"/>
          <p:nvPr/>
        </p:nvSpPr>
        <p:spPr>
          <a:xfrm>
            <a:off x="129540" y="5770245"/>
            <a:ext cx="9173845" cy="437515"/>
          </a:xfrm>
          <a:prstGeom prst="rect">
            <a:avLst/>
          </a:prstGeom>
          <a:noFill/>
        </p:spPr>
        <p:txBody>
          <a:bodyPr wrap="square" rtlCol="0">
            <a:spAutoFit/>
          </a:bodyPr>
          <a:p>
            <a:pPr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rPr>
              <a:t>k</a:t>
            </a:r>
            <a:r>
              <a:rPr lang="ja-JP" altLang="en-US">
                <a:latin typeface="Meiryo Regular" panose="020B0604030504040204" charset="-128"/>
                <a:ea typeface="Meiryo Regular" panose="020B0604030504040204" charset="-128"/>
              </a:rPr>
              <a:t>は次の任意の形式：</a:t>
            </a:r>
            <a:endParaRPr lang="ja-JP" altLang="en-US">
              <a:latin typeface="Meiryo Regular" panose="020B0604030504040204" charset="-128"/>
              <a:ea typeface="Meiryo Regular" panose="020B0604030504040204" charset="-128"/>
            </a:endParaRPr>
          </a:p>
        </p:txBody>
      </p:sp>
      <p:pic>
        <p:nvPicPr>
          <p:cNvPr id="14" name="Picture 13" descr="スクリーンショット 2021-01-08 0.21.34"/>
          <p:cNvPicPr>
            <a:picLocks noChangeAspect="1"/>
          </p:cNvPicPr>
          <p:nvPr/>
        </p:nvPicPr>
        <p:blipFill>
          <a:blip r:embed="rId5"/>
          <a:srcRect t="4545"/>
          <a:stretch>
            <a:fillRect/>
          </a:stretch>
        </p:blipFill>
        <p:spPr>
          <a:xfrm>
            <a:off x="2408555" y="5808345"/>
            <a:ext cx="4628515" cy="400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8" name="Rectangle 7"/>
          <p:cNvSpPr/>
          <p:nvPr/>
        </p:nvSpPr>
        <p:spPr>
          <a:xfrm>
            <a:off x="129540" y="860425"/>
            <a:ext cx="3074670" cy="63436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自然言語での説明の生成</a:t>
            </a:r>
            <a:endParaRPr lang="en-US" sz="2000">
              <a:solidFill>
                <a:schemeClr val="tx1"/>
              </a:solidFill>
              <a:latin typeface="Meiryo Regular" panose="020B0604030504040204" charset="-128"/>
              <a:ea typeface="Meiryo Regular" panose="020B0604030504040204" charset="-128"/>
              <a:sym typeface="+mn-ea"/>
            </a:endParaRPr>
          </a:p>
        </p:txBody>
      </p:sp>
      <p:sp>
        <p:nvSpPr>
          <p:cNvPr id="10" name="Text Box 9"/>
          <p:cNvSpPr txBox="1"/>
          <p:nvPr/>
        </p:nvSpPr>
        <p:spPr>
          <a:xfrm>
            <a:off x="129540" y="1494790"/>
            <a:ext cx="12061825" cy="4939030"/>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「構造検索アルゴリズムにより、N個の加法成分が識別されました。」と最初に合計の項の数が説明される。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この文の後、次のアルゴリズムを使用して各加法成分の説明がなされる。</a:t>
            </a: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r>
              <a:rPr lang="ja-JP" altLang="en-US">
                <a:latin typeface="Meiryo Regular" panose="020B0604030504040204" charset="-128"/>
                <a:ea typeface="Meiryo Regular" panose="020B0604030504040204" charset="-128"/>
              </a:rPr>
              <a:t>積のカーネルの一つを名詞記述子として選択する。 Lloyd et al.による優先順位は以下の通り</a:t>
            </a: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r>
              <a:rPr lang="ja-JP" altLang="en-US">
                <a:latin typeface="Meiryo Regular" panose="020B0604030504040204" charset="-128"/>
                <a:ea typeface="Meiryo Regular" panose="020B0604030504040204" charset="-128"/>
              </a:rPr>
              <a:t>次のテーブルを使用して、選択されたカーネルタイプを文字列に変換する。</a:t>
            </a: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r>
              <a:rPr lang="ja-JP" altLang="en-US">
                <a:latin typeface="Meiryo Regular" panose="020B0604030504040204" charset="-128"/>
                <a:ea typeface="Meiryo Regular" panose="020B0604030504040204" charset="-128"/>
              </a:rPr>
              <a:t>積にある他のカーネルは、名詞記述子に追加される形式に変換されます。</a:t>
            </a: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endParaRPr lang="ja-JP" altLang="en-US">
              <a:latin typeface="Meiryo Regular" panose="020B0604030504040204" charset="-128"/>
              <a:ea typeface="Meiryo Regular" panose="020B0604030504040204" charset="-128"/>
            </a:endParaRPr>
          </a:p>
          <a:p>
            <a:pPr marL="342900" indent="-342900" fontAlgn="auto">
              <a:lnSpc>
                <a:spcPct val="125000"/>
              </a:lnSpc>
              <a:buFont typeface="+mj-lt"/>
              <a:buAutoNum type="arabicPeriod"/>
            </a:pPr>
            <a:r>
              <a:rPr lang="ja-JP" altLang="en-US">
                <a:latin typeface="Meiryo Regular" panose="020B0604030504040204" charset="-128"/>
                <a:ea typeface="Meiryo Regular" panose="020B0604030504040204" charset="-128"/>
              </a:rPr>
              <a:t> 解釈の改良は可能。</a:t>
            </a:r>
            <a:endParaRPr lang="ja-JP" altLang="en-US">
              <a:latin typeface="Meiryo Regular" panose="020B0604030504040204" charset="-128"/>
              <a:ea typeface="Meiryo Regular" panose="020B0604030504040204" charset="-128"/>
            </a:endParaRPr>
          </a:p>
        </p:txBody>
      </p:sp>
      <p:pic>
        <p:nvPicPr>
          <p:cNvPr id="2" name="Picture 1" descr="スクリーンショット 2021-01-08 0.38.13"/>
          <p:cNvPicPr>
            <a:picLocks noChangeAspect="1"/>
          </p:cNvPicPr>
          <p:nvPr/>
        </p:nvPicPr>
        <p:blipFill>
          <a:blip r:embed="rId1"/>
          <a:srcRect l="-311" t="7518" r="1274" b="2384"/>
          <a:stretch>
            <a:fillRect/>
          </a:stretch>
        </p:blipFill>
        <p:spPr>
          <a:xfrm>
            <a:off x="3655060" y="2585720"/>
            <a:ext cx="4880610" cy="385445"/>
          </a:xfrm>
          <a:prstGeom prst="rect">
            <a:avLst/>
          </a:prstGeom>
        </p:spPr>
      </p:pic>
      <p:pic>
        <p:nvPicPr>
          <p:cNvPr id="15" name="Picture 14" descr="スクリーンショット 2021-01-08 0.44.38"/>
          <p:cNvPicPr>
            <a:picLocks noChangeAspect="1"/>
          </p:cNvPicPr>
          <p:nvPr/>
        </p:nvPicPr>
        <p:blipFill>
          <a:blip r:embed="rId2"/>
          <a:stretch>
            <a:fillRect/>
          </a:stretch>
        </p:blipFill>
        <p:spPr>
          <a:xfrm>
            <a:off x="3143250" y="3286125"/>
            <a:ext cx="6033770" cy="1078230"/>
          </a:xfrm>
          <a:prstGeom prst="rect">
            <a:avLst/>
          </a:prstGeom>
        </p:spPr>
      </p:pic>
      <p:pic>
        <p:nvPicPr>
          <p:cNvPr id="16" name="Picture 15" descr="スクリーンショット 2021-01-08 0.46.31"/>
          <p:cNvPicPr>
            <a:picLocks noChangeAspect="1"/>
          </p:cNvPicPr>
          <p:nvPr/>
        </p:nvPicPr>
        <p:blipFill>
          <a:blip r:embed="rId3"/>
          <a:srcRect t="3705" b="4940"/>
          <a:stretch>
            <a:fillRect/>
          </a:stretch>
        </p:blipFill>
        <p:spPr>
          <a:xfrm>
            <a:off x="3942080" y="4609465"/>
            <a:ext cx="4436110" cy="14090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8" name="Rectangle 7"/>
          <p:cNvSpPr/>
          <p:nvPr/>
        </p:nvSpPr>
        <p:spPr>
          <a:xfrm>
            <a:off x="129540" y="860425"/>
            <a:ext cx="3549015" cy="63436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自然言語での説明の生成</a:t>
            </a:r>
            <a:r>
              <a:rPr lang="ja-JP" altLang="en-US" sz="2000">
                <a:solidFill>
                  <a:schemeClr val="tx1"/>
                </a:solidFill>
                <a:latin typeface="Meiryo Regular" panose="020B0604030504040204" charset="-128"/>
                <a:ea typeface="Meiryo Regular" panose="020B0604030504040204" charset="-128"/>
                <a:sym typeface="+mn-ea"/>
              </a:rPr>
              <a:t>（例）</a:t>
            </a:r>
            <a:endParaRPr lang="ja-JP" altLang="en-US" sz="2000">
              <a:solidFill>
                <a:schemeClr val="tx1"/>
              </a:solidFill>
              <a:latin typeface="Meiryo Regular" panose="020B0604030504040204" charset="-128"/>
              <a:ea typeface="Meiryo Regular" panose="020B0604030504040204" charset="-128"/>
              <a:sym typeface="+mn-ea"/>
            </a:endParaRPr>
          </a:p>
        </p:txBody>
      </p:sp>
      <p:pic>
        <p:nvPicPr>
          <p:cNvPr id="6" name="Picture 5" descr="スクリーンショット 2021-01-08 1.15.14"/>
          <p:cNvPicPr>
            <a:picLocks noChangeAspect="1"/>
          </p:cNvPicPr>
          <p:nvPr/>
        </p:nvPicPr>
        <p:blipFill>
          <a:blip r:embed="rId1"/>
          <a:stretch>
            <a:fillRect/>
          </a:stretch>
        </p:blipFill>
        <p:spPr>
          <a:xfrm>
            <a:off x="129540" y="1627505"/>
            <a:ext cx="8607425" cy="3983355"/>
          </a:xfrm>
          <a:prstGeom prst="rect">
            <a:avLst/>
          </a:prstGeom>
        </p:spPr>
      </p:pic>
      <p:sp>
        <p:nvSpPr>
          <p:cNvPr id="7" name="Text Box 6"/>
          <p:cNvSpPr txBox="1"/>
          <p:nvPr/>
        </p:nvSpPr>
        <p:spPr>
          <a:xfrm>
            <a:off x="635" y="5610860"/>
            <a:ext cx="11224895" cy="1129665"/>
          </a:xfrm>
          <a:prstGeom prst="rect">
            <a:avLst/>
          </a:prstGeom>
          <a:noFill/>
        </p:spPr>
        <p:txBody>
          <a:bodyPr wrap="square" rtlCol="0">
            <a:spAutoFit/>
          </a:bodyPr>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ABCDによって発見されたモデルコンポーネントを説明する自動生成されたレポートから抽出したもの。</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 レポートのこの部分では、約11年の太陽黒点周期を分離して説明し、マウンダー極小期として知られる</a:t>
            </a:r>
            <a:endParaRPr lang="ja-JP" altLang="en-US">
              <a:latin typeface="Meiryo Regular" panose="020B0604030504040204" charset="-128"/>
              <a:ea typeface="Meiryo Regular" panose="020B0604030504040204" charset="-128"/>
            </a:endParaRPr>
          </a:p>
          <a:p>
            <a:pPr indent="0" fontAlgn="auto">
              <a:lnSpc>
                <a:spcPct val="125000"/>
              </a:lnSpc>
              <a:buFont typeface="Arial" panose="020B0604020202090204" pitchFamily="34" charset="0"/>
              <a:buNone/>
            </a:pPr>
            <a:r>
              <a:rPr lang="ja-JP" altLang="en-US">
                <a:latin typeface="Meiryo Regular" panose="020B0604030504040204" charset="-128"/>
                <a:ea typeface="Meiryo Regular" panose="020B0604030504040204" charset="-128"/>
              </a:rPr>
              <a:t>16世紀に太陽黒点が消失したことにも注目している。</a:t>
            </a:r>
            <a:endParaRPr lang="ja-JP" altLang="en-US">
              <a:latin typeface="Meiryo Regular" panose="020B0604030504040204" charset="-128"/>
              <a:ea typeface="Meiryo Regular" panose="020B060403050404020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8" name="Rectangle 7"/>
          <p:cNvSpPr/>
          <p:nvPr/>
        </p:nvSpPr>
        <p:spPr>
          <a:xfrm>
            <a:off x="129540" y="860425"/>
            <a:ext cx="3150235" cy="783590"/>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a:solidFill>
                  <a:schemeClr val="tx1"/>
                </a:solidFill>
                <a:latin typeface="Meiryo Regular" panose="020B0604030504040204" charset="-128"/>
                <a:ea typeface="Meiryo Regular" panose="020B0604030504040204" charset="-128"/>
                <a:sym typeface="+mn-ea"/>
              </a:rPr>
              <a:t>人間</a:t>
            </a:r>
            <a:r>
              <a:rPr lang="ja-JP" sz="2000">
                <a:solidFill>
                  <a:schemeClr val="tx1"/>
                </a:solidFill>
                <a:latin typeface="Meiryo Regular" panose="020B0604030504040204" charset="-128"/>
                <a:ea typeface="Meiryo Regular" panose="020B0604030504040204" charset="-128"/>
                <a:sym typeface="+mn-ea"/>
              </a:rPr>
              <a:t>専門家</a:t>
            </a:r>
            <a:r>
              <a:rPr sz="2000">
                <a:solidFill>
                  <a:schemeClr val="tx1"/>
                </a:solidFill>
                <a:latin typeface="Meiryo Regular" panose="020B0604030504040204" charset="-128"/>
                <a:ea typeface="Meiryo Regular" panose="020B0604030504040204" charset="-128"/>
                <a:sym typeface="+mn-ea"/>
              </a:rPr>
              <a:t>との比較</a:t>
            </a:r>
            <a:endParaRPr sz="2000">
              <a:solidFill>
                <a:schemeClr val="tx1"/>
              </a:solidFill>
              <a:latin typeface="Meiryo Regular" panose="020B0604030504040204" charset="-128"/>
              <a:ea typeface="Meiryo Regular" panose="020B0604030504040204" charset="-128"/>
              <a:sym typeface="+mn-ea"/>
            </a:endParaRPr>
          </a:p>
        </p:txBody>
      </p:sp>
      <p:sp>
        <p:nvSpPr>
          <p:cNvPr id="7" name="Text Box 6"/>
          <p:cNvSpPr txBox="1"/>
          <p:nvPr/>
        </p:nvSpPr>
        <p:spPr>
          <a:xfrm>
            <a:off x="3279775" y="860425"/>
            <a:ext cx="8912225" cy="783590"/>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行われた予測がどの程度人間に似ているか</a:t>
            </a:r>
            <a:r>
              <a:rPr lang="en-US" altLang="ja-JP">
                <a:latin typeface="Meiryo Regular" panose="020B0604030504040204" charset="-128"/>
                <a:ea typeface="Meiryo Regular" panose="020B0604030504040204" charset="-128"/>
              </a:rPr>
              <a:t>?</a:t>
            </a:r>
            <a:endParaRPr lang="en-US" altLang="ja-JP">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ガウス過程に基づく他の方法で行われた予測とどのように比較されるか</a:t>
            </a:r>
            <a:r>
              <a:rPr lang="en-US" altLang="ja-JP">
                <a:latin typeface="Meiryo Regular" panose="020B0604030504040204" charset="-128"/>
                <a:ea typeface="Meiryo Regular" panose="020B0604030504040204" charset="-128"/>
              </a:rPr>
              <a:t>?</a:t>
            </a:r>
            <a:endParaRPr lang="en-US" altLang="ja-JP">
              <a:latin typeface="Meiryo Regular" panose="020B0604030504040204" charset="-128"/>
              <a:ea typeface="Meiryo Regular" panose="020B0604030504040204" charset="-128"/>
            </a:endParaRPr>
          </a:p>
        </p:txBody>
      </p:sp>
      <p:sp>
        <p:nvSpPr>
          <p:cNvPr id="2" name="Rectangle 1"/>
          <p:cNvSpPr/>
          <p:nvPr/>
        </p:nvSpPr>
        <p:spPr>
          <a:xfrm>
            <a:off x="129540" y="1710690"/>
            <a:ext cx="3566795" cy="42291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a:solidFill>
                  <a:schemeClr val="tx1"/>
                </a:solidFill>
                <a:latin typeface="Meiryo Regular" panose="020B0604030504040204" charset="-128"/>
                <a:ea typeface="Meiryo Regular" panose="020B0604030504040204" charset="-128"/>
                <a:sym typeface="+mn-ea"/>
              </a:rPr>
              <a:t> Schulz et al.</a:t>
            </a:r>
            <a:r>
              <a:rPr lang="ja-JP" sz="2000">
                <a:solidFill>
                  <a:schemeClr val="tx1"/>
                </a:solidFill>
                <a:latin typeface="Meiryo Regular" panose="020B0604030504040204" charset="-128"/>
                <a:ea typeface="Meiryo Regular" panose="020B0604030504040204" charset="-128"/>
                <a:sym typeface="+mn-ea"/>
              </a:rPr>
              <a:t>による実験結果</a:t>
            </a:r>
            <a:endParaRPr lang="ja-JP" sz="2000">
              <a:solidFill>
                <a:schemeClr val="tx1"/>
              </a:solidFill>
              <a:latin typeface="Meiryo Regular" panose="020B0604030504040204" charset="-128"/>
              <a:ea typeface="Meiryo Regular" panose="020B0604030504040204" charset="-128"/>
              <a:sym typeface="+mn-ea"/>
            </a:endParaRPr>
          </a:p>
        </p:txBody>
      </p:sp>
      <p:sp>
        <p:nvSpPr>
          <p:cNvPr id="3" name="Text Box 2"/>
          <p:cNvSpPr txBox="1"/>
          <p:nvPr/>
        </p:nvSpPr>
        <p:spPr>
          <a:xfrm>
            <a:off x="129540" y="2187575"/>
            <a:ext cx="10999470" cy="1476375"/>
          </a:xfrm>
          <a:prstGeom prst="rect">
            <a:avLst/>
          </a:prstGeom>
          <a:noFill/>
        </p:spPr>
        <p:txBody>
          <a:bodyPr wrap="square" rtlCol="0">
            <a:spAutoFit/>
          </a:bodyPr>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参加者は、スペクトルカーネル</a:t>
            </a:r>
            <a:r>
              <a:rPr lang="ja-JP">
                <a:latin typeface="Meiryo Regular" panose="020B0604030504040204" charset="-128"/>
                <a:ea typeface="Meiryo Regular" panose="020B0604030504040204" charset="-128"/>
              </a:rPr>
              <a:t>や</a:t>
            </a:r>
            <a:r>
              <a:rPr>
                <a:latin typeface="Meiryo Regular" panose="020B0604030504040204" charset="-128"/>
                <a:ea typeface="Meiryo Regular" panose="020B0604030504040204" charset="-128"/>
              </a:rPr>
              <a:t>単純なRBF（動径基底関数）カーネルで作成されたものよりも、ABCDによって作成された</a:t>
            </a:r>
            <a:r>
              <a:rPr lang="ja-JP">
                <a:latin typeface="Meiryo Regular" panose="020B0604030504040204" charset="-128"/>
                <a:ea typeface="Meiryo Regular" panose="020B0604030504040204" charset="-128"/>
              </a:rPr>
              <a:t>推定結果の方を選んでいた。</a:t>
            </a:r>
            <a:endParaRPr lang="ja-JP">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参加者がデータ</a:t>
            </a:r>
            <a:r>
              <a:rPr lang="ja-JP">
                <a:latin typeface="Meiryo Regular" panose="020B0604030504040204" charset="-128"/>
                <a:ea typeface="Meiryo Regular" panose="020B0604030504040204" charset="-128"/>
              </a:rPr>
              <a:t>の</a:t>
            </a:r>
            <a:r>
              <a:rPr>
                <a:latin typeface="Meiryo Regular" panose="020B0604030504040204" charset="-128"/>
                <a:ea typeface="Meiryo Regular" panose="020B0604030504040204" charset="-128"/>
              </a:rPr>
              <a:t>推定するように求められたとき、彼らの予測はABCDの複合検索手順によって与えられたものと最も類似して</a:t>
            </a:r>
            <a:r>
              <a:rPr lang="ja-JP">
                <a:latin typeface="Meiryo Regular" panose="020B0604030504040204" charset="-128"/>
                <a:ea typeface="Meiryo Regular" panose="020B0604030504040204" charset="-128"/>
              </a:rPr>
              <a:t>いる。</a:t>
            </a:r>
            <a:endParaRPr lang="ja-JP">
              <a:latin typeface="Meiryo Regular" panose="020B0604030504040204" charset="-128"/>
              <a:ea typeface="Meiryo Regular" panose="020B0604030504040204" charset="-128"/>
            </a:endParaRPr>
          </a:p>
        </p:txBody>
      </p:sp>
      <p:sp>
        <p:nvSpPr>
          <p:cNvPr id="9" name="Text Box 8"/>
          <p:cNvSpPr txBox="1"/>
          <p:nvPr/>
        </p:nvSpPr>
        <p:spPr>
          <a:xfrm>
            <a:off x="129540" y="3625215"/>
            <a:ext cx="11831955" cy="3207385"/>
          </a:xfrm>
          <a:prstGeom prst="rect">
            <a:avLst/>
          </a:prstGeom>
          <a:noFill/>
          <a:ln>
            <a:solidFill>
              <a:schemeClr val="accent2">
                <a:lumMod val="75000"/>
              </a:schemeClr>
            </a:solidFill>
          </a:ln>
        </p:spPr>
        <p:txBody>
          <a:bodyPr wrap="square" rtlCol="0">
            <a:spAutoFit/>
          </a:bodyPr>
          <a:p>
            <a:pPr marL="285750" lvl="0" indent="-285750" fontAlgn="auto">
              <a:lnSpc>
                <a:spcPct val="125000"/>
              </a:lnSpc>
              <a:buFont typeface="Arial" panose="020B0604020202090204" pitchFamily="34" charset="0"/>
              <a:buChar char="•"/>
            </a:pPr>
            <a:r>
              <a:rPr>
                <a:latin typeface="Meiryo" panose="020B0604030504040204" charset="-128"/>
                <a:ea typeface="Meiryo" panose="020B0604030504040204" charset="-128"/>
                <a:sym typeface="+mn-ea"/>
              </a:rPr>
              <a:t>前述のシステムは、この設計の選択には予測精度が犠牲になる可能性があ</a:t>
            </a:r>
            <a:r>
              <a:rPr lang="ja-JP">
                <a:latin typeface="Meiryo" panose="020B0604030504040204" charset="-128"/>
                <a:ea typeface="Meiryo" panose="020B0604030504040204" charset="-128"/>
                <a:sym typeface="+mn-ea"/>
              </a:rPr>
              <a:t>る。</a:t>
            </a:r>
            <a:endParaRPr lang="ja-JP">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r>
              <a:rPr lang="ja-JP">
                <a:latin typeface="Meiryo" panose="020B0604030504040204" charset="-128"/>
                <a:ea typeface="Meiryo" panose="020B0604030504040204" charset="-128"/>
                <a:sym typeface="+mn-ea"/>
              </a:rPr>
              <a:t>　Doshi-Velez and Kim</a:t>
            </a:r>
            <a:r>
              <a:rPr lang="en-US" altLang="ja-JP">
                <a:latin typeface="Meiryo" panose="020B0604030504040204" charset="-128"/>
                <a:ea typeface="Meiryo" panose="020B0604030504040204" charset="-128"/>
                <a:sym typeface="+mn-ea"/>
              </a:rPr>
              <a:t>(2017)</a:t>
            </a:r>
            <a:r>
              <a:rPr lang="ja-JP" altLang="en-US">
                <a:latin typeface="Meiryo" panose="020B0604030504040204" charset="-128"/>
                <a:ea typeface="Meiryo" panose="020B0604030504040204" charset="-128"/>
                <a:sym typeface="+mn-ea"/>
              </a:rPr>
              <a:t>により、厳密な評価のための分類法を提案した。</a:t>
            </a:r>
            <a:endParaRPr lang="ja-JP" altLang="en-US">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endParaRPr lang="ja-JP" altLang="en-US">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endParaRPr lang="ja-JP" altLang="en-US">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endParaRPr lang="ja-JP" altLang="en-US">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endParaRPr lang="ja-JP" altLang="en-US">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endParaRPr lang="ja-JP" altLang="en-US">
              <a:latin typeface="Meiryo" panose="020B0604030504040204" charset="-128"/>
              <a:ea typeface="Meiryo" panose="020B0604030504040204" charset="-128"/>
              <a:sym typeface="+mn-ea"/>
            </a:endParaRPr>
          </a:p>
          <a:p>
            <a:pPr marL="285750" lvl="0" indent="-285750" fontAlgn="auto">
              <a:lnSpc>
                <a:spcPct val="125000"/>
              </a:lnSpc>
              <a:buFont typeface="Arial" panose="020B0604020202090204" pitchFamily="34" charset="0"/>
              <a:buChar char="•"/>
            </a:pPr>
            <a:r>
              <a:rPr>
                <a:latin typeface="Meiryo" panose="020B0604030504040204" charset="-128"/>
                <a:ea typeface="Meiryo" panose="020B0604030504040204" charset="-128"/>
                <a:sym typeface="+mn-ea"/>
              </a:rPr>
              <a:t>すべての機械学習システムがそのような機能を必要とするわけではないことに注意</a:t>
            </a:r>
            <a:r>
              <a:rPr lang="ja-JP">
                <a:latin typeface="Meiryo" panose="020B0604030504040204" charset="-128"/>
                <a:ea typeface="Meiryo" panose="020B0604030504040204" charset="-128"/>
                <a:sym typeface="+mn-ea"/>
              </a:rPr>
              <a:t>されたい。</a:t>
            </a:r>
            <a:endParaRPr lang="ja-JP">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r>
              <a:rPr lang="ja-JP" altLang="en-US">
                <a:latin typeface="Meiryo" panose="020B0604030504040204" charset="-128"/>
                <a:ea typeface="Meiryo" panose="020B0604030504040204" charset="-128"/>
                <a:sym typeface="+mn-ea"/>
              </a:rPr>
              <a:t>　</a:t>
            </a:r>
            <a:r>
              <a:rPr lang="en-US">
                <a:latin typeface="Meiryo" panose="020B0604030504040204" charset="-128"/>
                <a:ea typeface="Meiryo" panose="020B0604030504040204" charset="-128"/>
                <a:sym typeface="+mn-ea"/>
              </a:rPr>
              <a:t>(</a:t>
            </a:r>
            <a:r>
              <a:rPr lang="ja-JP" altLang="en-US">
                <a:latin typeface="Meiryo" panose="020B0604030504040204" charset="-128"/>
                <a:ea typeface="Meiryo" panose="020B0604030504040204" charset="-128"/>
                <a:sym typeface="+mn-ea"/>
              </a:rPr>
              <a:t>例えば</a:t>
            </a:r>
            <a:r>
              <a:rPr>
                <a:latin typeface="Meiryo" panose="020B0604030504040204" charset="-128"/>
                <a:ea typeface="Meiryo" panose="020B0604030504040204" charset="-128"/>
                <a:sym typeface="+mn-ea"/>
              </a:rPr>
              <a:t>、自動郵便区分の郵便番号を認識する</a:t>
            </a:r>
            <a:r>
              <a:rPr lang="ja-JP">
                <a:latin typeface="Meiryo" panose="020B0604030504040204" charset="-128"/>
                <a:ea typeface="Meiryo" panose="020B0604030504040204" charset="-128"/>
                <a:sym typeface="+mn-ea"/>
              </a:rPr>
              <a:t>ような、システムの結果が社会にほとんど影響を与えない場合</a:t>
            </a:r>
            <a:r>
              <a:rPr lang="en-US" altLang="ja-JP">
                <a:latin typeface="Meiryo" panose="020B0604030504040204" charset="-128"/>
                <a:ea typeface="Meiryo" panose="020B0604030504040204" charset="-128"/>
                <a:sym typeface="+mn-ea"/>
              </a:rPr>
              <a:t>)</a:t>
            </a:r>
            <a:endParaRPr lang="ja-JP" altLang="en-US">
              <a:latin typeface="Meiryo" panose="020B0604030504040204" charset="-128"/>
              <a:ea typeface="Meiryo" panose="020B0604030504040204" charset="-128"/>
              <a:sym typeface="+mn-ea"/>
            </a:endParaRPr>
          </a:p>
        </p:txBody>
      </p:sp>
      <p:pic>
        <p:nvPicPr>
          <p:cNvPr id="10" name="Picture 9" descr="スクリーンショット 2021-01-08 1.48.30"/>
          <p:cNvPicPr>
            <a:picLocks noChangeAspect="1"/>
          </p:cNvPicPr>
          <p:nvPr/>
        </p:nvPicPr>
        <p:blipFill>
          <a:blip r:embed="rId1"/>
          <a:stretch>
            <a:fillRect/>
          </a:stretch>
        </p:blipFill>
        <p:spPr>
          <a:xfrm>
            <a:off x="3445510" y="4356735"/>
            <a:ext cx="4367530" cy="17437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cxnSp>
        <p:nvCxnSpPr>
          <p:cNvPr id="5" name="Straight Connector 4"/>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2" name="Rectangle 1"/>
          <p:cNvSpPr/>
          <p:nvPr/>
        </p:nvSpPr>
        <p:spPr>
          <a:xfrm>
            <a:off x="1092200" y="1511935"/>
            <a:ext cx="3566795" cy="42291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a:solidFill>
                  <a:schemeClr val="tx1"/>
                </a:solidFill>
                <a:latin typeface="Meiryo Regular" panose="020B0604030504040204" charset="-128"/>
                <a:ea typeface="Meiryo Regular" panose="020B0604030504040204" charset="-128"/>
                <a:sym typeface="+mn-ea"/>
              </a:rPr>
              <a:t> コアコンポーネント</a:t>
            </a:r>
            <a:endParaRPr sz="2000">
              <a:solidFill>
                <a:schemeClr val="tx1"/>
              </a:solidFill>
              <a:latin typeface="Meiryo Regular" panose="020B0604030504040204" charset="-128"/>
              <a:ea typeface="Meiryo Regular" panose="020B0604030504040204" charset="-128"/>
              <a:sym typeface="+mn-ea"/>
            </a:endParaRPr>
          </a:p>
        </p:txBody>
      </p:sp>
      <p:sp>
        <p:nvSpPr>
          <p:cNvPr id="3" name="Text Box 2"/>
          <p:cNvSpPr txBox="1"/>
          <p:nvPr/>
        </p:nvSpPr>
        <p:spPr>
          <a:xfrm>
            <a:off x="319405" y="1934845"/>
            <a:ext cx="5492115" cy="1476375"/>
          </a:xfrm>
          <a:prstGeom prst="rect">
            <a:avLst/>
          </a:prstGeom>
          <a:noFill/>
        </p:spPr>
        <p:txBody>
          <a:bodyPr wrap="square" rtlCol="0">
            <a:spAutoFit/>
          </a:bodyPr>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selection strategy</a:t>
            </a:r>
            <a:endParaRPr>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model evaluation</a:t>
            </a:r>
            <a:endParaRPr>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report curator</a:t>
            </a:r>
            <a:endParaRPr>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data loading stage</a:t>
            </a:r>
            <a:endParaRPr>
              <a:latin typeface="Meiryo Regular" panose="020B0604030504040204" charset="-128"/>
              <a:ea typeface="Meiryo Regular" panose="020B0604030504040204" charset="-128"/>
            </a:endParaRPr>
          </a:p>
        </p:txBody>
      </p:sp>
      <p:sp>
        <p:nvSpPr>
          <p:cNvPr id="6" name="Text Box 5"/>
          <p:cNvSpPr txBox="1"/>
          <p:nvPr/>
        </p:nvSpPr>
        <p:spPr>
          <a:xfrm>
            <a:off x="635" y="99060"/>
            <a:ext cx="7118985"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その他のAutomatic Statistician</a:t>
            </a:r>
            <a:r>
              <a:rPr lang="ja-JP" altLang="en-US" sz="2800" b="1">
                <a:latin typeface="Meiryo Bold" panose="020B0604030504040204" charset="-128"/>
                <a:ea typeface="Meiryo Bold" panose="020B0604030504040204" charset="-128"/>
              </a:rPr>
              <a:t>システム</a:t>
            </a:r>
            <a:endParaRPr lang="ja-JP" altLang="en-US" sz="2800" b="1">
              <a:latin typeface="Meiryo Bold" panose="020B0604030504040204" charset="-128"/>
              <a:ea typeface="Meiryo Bold" panose="020B0604030504040204" charset="-128"/>
            </a:endParaRPr>
          </a:p>
        </p:txBody>
      </p:sp>
      <p:sp>
        <p:nvSpPr>
          <p:cNvPr id="11" name="Text Box 10"/>
          <p:cNvSpPr txBox="1"/>
          <p:nvPr/>
        </p:nvSpPr>
        <p:spPr>
          <a:xfrm>
            <a:off x="129540" y="728345"/>
            <a:ext cx="12062460" cy="783590"/>
          </a:xfrm>
          <a:prstGeom prst="rect">
            <a:avLst/>
          </a:prstGeom>
          <a:noFill/>
        </p:spPr>
        <p:txBody>
          <a:bodyPr wrap="square" rtlCol="0">
            <a:spAutoFit/>
          </a:bodyPr>
          <a:p>
            <a:pPr lvl="0" indent="0" fontAlgn="auto">
              <a:lnSpc>
                <a:spcPct val="125000"/>
              </a:lnSpc>
              <a:buFont typeface="Arial" panose="020B0604020202090204" pitchFamily="34" charset="0"/>
              <a:buNone/>
            </a:pPr>
            <a:r>
              <a:rPr lang="ja-JP" altLang="en-US">
                <a:latin typeface="Meiryo" panose="020B0604030504040204" charset="-128"/>
                <a:ea typeface="Meiryo" panose="020B0604030504040204" charset="-128"/>
                <a:sym typeface="+mn-ea"/>
              </a:rPr>
              <a:t>ガウス過程と異なるモデル群</a:t>
            </a:r>
            <a:r>
              <a:rPr lang="en-US" altLang="ja-JP">
                <a:latin typeface="Meiryo" panose="020B0604030504040204" charset="-128"/>
                <a:ea typeface="Meiryo" panose="020B0604030504040204" charset="-128"/>
                <a:sym typeface="+mn-ea"/>
              </a:rPr>
              <a:t>(</a:t>
            </a:r>
            <a:r>
              <a:rPr lang="ja-JP" altLang="en-US">
                <a:latin typeface="Meiryo" panose="020B0604030504040204" charset="-128"/>
                <a:ea typeface="Meiryo" panose="020B0604030504040204" charset="-128"/>
                <a:sym typeface="+mn-ea"/>
              </a:rPr>
              <a:t>回帰、分類、単変量、</a:t>
            </a:r>
            <a:r>
              <a:rPr lang="en-US" altLang="ja-JP">
                <a:latin typeface="Meiryo" panose="020B0604030504040204" charset="-128"/>
                <a:ea typeface="Meiryo" panose="020B0604030504040204" charset="-128"/>
                <a:sym typeface="+mn-ea"/>
              </a:rPr>
              <a:t>多変量</a:t>
            </a:r>
            <a:r>
              <a:rPr lang="ja-JP" altLang="en-US">
                <a:latin typeface="Meiryo" panose="020B0604030504040204" charset="-128"/>
                <a:ea typeface="Meiryo" panose="020B0604030504040204" charset="-128"/>
                <a:sym typeface="+mn-ea"/>
              </a:rPr>
              <a:t>、多種類モデル、</a:t>
            </a:r>
            <a:r>
              <a:rPr lang="en-US" altLang="ja-JP">
                <a:latin typeface="Meiryo" panose="020B0604030504040204" charset="-128"/>
                <a:ea typeface="Meiryo" panose="020B0604030504040204" charset="-128"/>
                <a:sym typeface="+mn-ea"/>
              </a:rPr>
              <a:t>intelligent resource control</a:t>
            </a:r>
            <a:r>
              <a:rPr lang="ja-JP" altLang="en-US">
                <a:latin typeface="Meiryo" panose="020B0604030504040204" charset="-128"/>
                <a:ea typeface="Meiryo" panose="020B0604030504040204" charset="-128"/>
                <a:sym typeface="+mn-ea"/>
              </a:rPr>
              <a:t>有無</a:t>
            </a:r>
            <a:r>
              <a:rPr lang="en-US" altLang="ja-JP">
                <a:latin typeface="Meiryo" panose="020B0604030504040204" charset="-128"/>
                <a:ea typeface="Meiryo" panose="020B0604030504040204" charset="-128"/>
                <a:sym typeface="+mn-ea"/>
              </a:rPr>
              <a:t>)</a:t>
            </a:r>
            <a:r>
              <a:rPr lang="ja-JP" altLang="en-US">
                <a:latin typeface="Meiryo" panose="020B0604030504040204" charset="-128"/>
                <a:ea typeface="Meiryo" panose="020B0604030504040204" charset="-128"/>
                <a:sym typeface="+mn-ea"/>
              </a:rPr>
              <a:t>のシステムも構築した。以下では、多くのシステムで共有されるいくつかの設計要素について説明する。</a:t>
            </a:r>
            <a:endParaRPr lang="ja-JP" altLang="en-US">
              <a:latin typeface="Meiryo" panose="020B0604030504040204" charset="-128"/>
              <a:ea typeface="Meiryo" panose="020B0604030504040204" charset="-128"/>
              <a:sym typeface="+mn-ea"/>
            </a:endParaRPr>
          </a:p>
        </p:txBody>
      </p:sp>
      <p:sp>
        <p:nvSpPr>
          <p:cNvPr id="12" name="Rectangle 11"/>
          <p:cNvSpPr/>
          <p:nvPr/>
        </p:nvSpPr>
        <p:spPr>
          <a:xfrm>
            <a:off x="7119620" y="1511935"/>
            <a:ext cx="3566795" cy="42291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a:solidFill>
                  <a:schemeClr val="tx1"/>
                </a:solidFill>
                <a:latin typeface="Meiryo Regular" panose="020B0604030504040204" charset="-128"/>
                <a:ea typeface="Meiryo Regular" panose="020B0604030504040204" charset="-128"/>
                <a:sym typeface="+mn-ea"/>
              </a:rPr>
              <a:t> 設計上の課題</a:t>
            </a:r>
            <a:endParaRPr sz="2000">
              <a:solidFill>
                <a:schemeClr val="tx1"/>
              </a:solidFill>
              <a:latin typeface="Meiryo Regular" panose="020B0604030504040204" charset="-128"/>
              <a:ea typeface="Meiryo Regular" panose="020B0604030504040204" charset="-128"/>
              <a:sym typeface="+mn-ea"/>
            </a:endParaRPr>
          </a:p>
        </p:txBody>
      </p:sp>
      <p:sp>
        <p:nvSpPr>
          <p:cNvPr id="13" name="Text Box 12"/>
          <p:cNvSpPr txBox="1"/>
          <p:nvPr/>
        </p:nvSpPr>
        <p:spPr>
          <a:xfrm>
            <a:off x="6242050" y="2108200"/>
            <a:ext cx="5321300" cy="1129665"/>
          </a:xfrm>
          <a:prstGeom prst="rect">
            <a:avLst/>
          </a:prstGeom>
          <a:noFill/>
        </p:spPr>
        <p:txBody>
          <a:bodyPr wrap="square" rtlCol="0">
            <a:spAutoFit/>
          </a:bodyPr>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User Interaction</a:t>
            </a:r>
            <a:endParaRPr>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Missing and Messy Data</a:t>
            </a:r>
            <a:r>
              <a:rPr lang="en-US">
                <a:latin typeface="Meiryo Regular" panose="020B0604030504040204" charset="-128"/>
                <a:ea typeface="Meiryo Regular" panose="020B0604030504040204" charset="-128"/>
              </a:rPr>
              <a:t>(</a:t>
            </a:r>
            <a:r>
              <a:rPr lang="ja-JP" altLang="en-US">
                <a:latin typeface="Meiryo Regular" panose="020B0604030504040204" charset="-128"/>
                <a:ea typeface="Meiryo Regular" panose="020B0604030504040204" charset="-128"/>
              </a:rPr>
              <a:t>欠損値処理が</a:t>
            </a:r>
            <a:r>
              <a:rPr lang="en-US" altLang="ja-JP">
                <a:latin typeface="Meiryo Regular" panose="020B0604030504040204" charset="-128"/>
                <a:ea typeface="Meiryo Regular" panose="020B0604030504040204" charset="-128"/>
              </a:rPr>
              <a:t>可能)</a:t>
            </a:r>
            <a:endParaRPr>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AutoNum type="arabicPeriod"/>
            </a:pPr>
            <a:r>
              <a:rPr>
                <a:latin typeface="Meiryo Regular" panose="020B0604030504040204" charset="-128"/>
                <a:ea typeface="Meiryo Regular" panose="020B0604030504040204" charset="-128"/>
              </a:rPr>
              <a:t>Resource Allocation</a:t>
            </a:r>
            <a:endParaRPr>
              <a:latin typeface="Meiryo Regular" panose="020B0604030504040204" charset="-128"/>
              <a:ea typeface="Meiryo Regular" panose="020B0604030504040204" charset="-128"/>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1785</Words>
  <Application>WPS Presentation</Application>
  <PresentationFormat>Widescreen</PresentationFormat>
  <Paragraphs>100</Paragraphs>
  <Slides>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vt:i4>
      </vt:variant>
    </vt:vector>
  </HeadingPairs>
  <TitlesOfParts>
    <vt:vector size="20" baseType="lpstr">
      <vt:lpstr>Arial</vt:lpstr>
      <vt:lpstr>SimSun</vt:lpstr>
      <vt:lpstr>Wingdings</vt:lpstr>
      <vt:lpstr>Meiryo Bold</vt:lpstr>
      <vt:lpstr>Wingdings</vt:lpstr>
      <vt:lpstr>Meiryo Regular</vt:lpstr>
      <vt:lpstr>Meiryo</vt:lpstr>
      <vt:lpstr>Cambria Math</vt:lpstr>
      <vt:lpstr>Arial Bold</vt:lpstr>
      <vt:lpstr>微软雅黑</vt:lpstr>
      <vt:lpstr>宋体</vt:lpstr>
      <vt:lpstr>Arial Unicode MS</vt:lpstr>
      <vt:lpstr>Calibri</vt:lpstr>
      <vt:lpstr>Default Design</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sumi</dc:creator>
  <cp:lastModifiedBy>sumi</cp:lastModifiedBy>
  <cp:revision>4</cp:revision>
  <dcterms:created xsi:type="dcterms:W3CDTF">2021-01-07T18:08:30Z</dcterms:created>
  <dcterms:modified xsi:type="dcterms:W3CDTF">2021-01-07T18:08:30Z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1033-3.1.1.4956</vt:lpwstr>
  </property>
</Properties>
</file>