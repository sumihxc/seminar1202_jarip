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3"/>
    <p:sldId id="257" r:id="rId4"/>
    <p:sldId id="258" r:id="rId5"/>
    <p:sldId id="259" r:id="rId6"/>
    <p:sldId id="261" r:id="rId7"/>
    <p:sldId id="260" r:id="rId8"/>
    <p:sldId id="262" r:id="rId9"/>
    <p:sldId id="263" r:id="rId10"/>
    <p:sldId id="264" r:id="rId11"/>
    <p:sldId id="265" r:id="rId12"/>
    <p:sldId id="266" r:id="rId13"/>
    <p:sldId id="267" r:id="rId14"/>
    <p:sldId id="268" r:id="rId15"/>
    <p:sldId id="269" r:id="rId16"/>
    <p:sldId id="270" r:id="rId17"/>
    <p:sldId id="271" r:id="rId18"/>
  </p:sldIdLst>
  <p:sldSz cx="12192000" cy="6858000"/>
  <p:notesSz cx="7103745"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FDE934FF-F4E1-47C5-9CA5-30A81DDE2BE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SimSun" panose="02010600030101010101" pitchFamily="2" charset="-122"/>
              <a:cs typeface="+mn-cs"/>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FDE934FF-F4E1-47C5-9CA5-30A81DDE2BE4}"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B3561BA9-CDCF-4958-B8AB-66F3BF063E1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9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2pPr>
      <a:lvl3pPr marL="914400" lvl="2"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3pPr>
      <a:lvl4pPr marL="1371600" lvl="3"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4pPr>
      <a:lvl5pPr marL="1828800" lvl="4"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5pPr>
      <a:lvl6pPr marL="2286000" lvl="5"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6pPr>
      <a:lvl7pPr marL="2743200" lvl="6"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7pPr>
      <a:lvl8pPr marL="3200400" lvl="7"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8pPr>
      <a:lvl9pPr marL="3657600" lvl="8" indent="0" algn="l" defTabSz="914400" eaLnBrk="1" fontAlgn="base" latinLnBrk="0" hangingPunct="1">
        <a:lnSpc>
          <a:spcPct val="100000"/>
        </a:lnSpc>
        <a:spcBef>
          <a:spcPct val="0"/>
        </a:spcBef>
        <a:spcAft>
          <a:spcPct val="0"/>
        </a:spcAft>
        <a:buFont typeface="Arial" panose="020B0604020202090204" pitchFamily="34" charset="0"/>
        <a:buNone/>
        <a:defRPr b="0" i="0" u="none" kern="1200" baseline="0">
          <a:solidFill>
            <a:schemeClr val="tx1"/>
          </a:solidFill>
          <a:latin typeface="Arial" panose="020B0604020202090204" pitchFamily="34" charset="0"/>
          <a:ea typeface="Arial" panose="020B0604020202090204" pitchFamily="34" charset="0"/>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5" name="Text Box 4"/>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rPr>
              <a:t>NAS(Neural architecture search)</a:t>
            </a:r>
            <a:endParaRPr lang="en-US" sz="2800" b="1">
              <a:latin typeface="Meiryo Bold" panose="020B0604030504040204" charset="-128"/>
              <a:ea typeface="Meiryo Bold" panose="020B0604030504040204" charset="-128"/>
            </a:endParaRPr>
          </a:p>
        </p:txBody>
      </p:sp>
      <p:sp>
        <p:nvSpPr>
          <p:cNvPr id="6" name="Text Box 5"/>
          <p:cNvSpPr txBox="1"/>
          <p:nvPr/>
        </p:nvSpPr>
        <p:spPr>
          <a:xfrm>
            <a:off x="635" y="1031240"/>
            <a:ext cx="7129780" cy="3322955"/>
          </a:xfrm>
          <a:prstGeom prst="rect">
            <a:avLst/>
          </a:prstGeom>
          <a:noFill/>
        </p:spPr>
        <p:txBody>
          <a:bodyPr wrap="square" rtlCol="0" anchor="t">
            <a:spAutoFit/>
          </a:bodyPr>
          <a:p>
            <a:pPr marL="457200" indent="-457200">
              <a:lnSpc>
                <a:spcPct val="150000"/>
              </a:lnSpc>
              <a:buFont typeface="Wingdings" panose="05000000000000000000" charset="0"/>
              <a:buChar char=""/>
            </a:pPr>
            <a:r>
              <a:rPr lang="en-US" sz="2800">
                <a:latin typeface="Meiryo Regular" panose="020B0604030504040204" charset="-128"/>
                <a:ea typeface="Meiryo Regular" panose="020B0604030504040204" charset="-128"/>
              </a:rPr>
              <a:t>Introduction</a:t>
            </a:r>
            <a:endParaRPr lang="en-US" sz="2800">
              <a:latin typeface="Meiryo Regular" panose="020B0604030504040204" charset="-128"/>
              <a:ea typeface="Meiryo Regular" panose="020B0604030504040204" charset="-128"/>
            </a:endParaRPr>
          </a:p>
          <a:p>
            <a:pPr marL="457200" indent="-457200">
              <a:lnSpc>
                <a:spcPct val="150000"/>
              </a:lnSpc>
              <a:buFont typeface="Wingdings" panose="05000000000000000000" charset="0"/>
              <a:buChar char=""/>
            </a:pPr>
            <a:r>
              <a:rPr lang="en-US" sz="2800">
                <a:latin typeface="Meiryo Regular" panose="020B0604030504040204" charset="-128"/>
                <a:ea typeface="Meiryo Regular" panose="020B0604030504040204" charset="-128"/>
              </a:rPr>
              <a:t>Search space</a:t>
            </a:r>
            <a:endParaRPr lang="en-US" sz="2800">
              <a:latin typeface="Meiryo Regular" panose="020B0604030504040204" charset="-128"/>
              <a:ea typeface="Meiryo Regular" panose="020B0604030504040204" charset="-128"/>
            </a:endParaRPr>
          </a:p>
          <a:p>
            <a:pPr marL="457200" indent="-457200">
              <a:lnSpc>
                <a:spcPct val="150000"/>
              </a:lnSpc>
              <a:buFont typeface="Wingdings" panose="05000000000000000000" charset="0"/>
              <a:buChar char=""/>
            </a:pPr>
            <a:r>
              <a:rPr lang="en-US" sz="2800">
                <a:latin typeface="Meiryo Regular" panose="020B0604030504040204" charset="-128"/>
                <a:ea typeface="Meiryo Regular" panose="020B0604030504040204" charset="-128"/>
              </a:rPr>
              <a:t>Search strategy</a:t>
            </a:r>
            <a:endParaRPr lang="en-US" sz="2800">
              <a:latin typeface="Meiryo Regular" panose="020B0604030504040204" charset="-128"/>
              <a:ea typeface="Meiryo Regular" panose="020B0604030504040204" charset="-128"/>
            </a:endParaRPr>
          </a:p>
          <a:p>
            <a:pPr marL="457200" indent="-457200">
              <a:lnSpc>
                <a:spcPct val="150000"/>
              </a:lnSpc>
              <a:buFont typeface="Wingdings" panose="05000000000000000000" charset="0"/>
              <a:buChar char=""/>
            </a:pPr>
            <a:r>
              <a:rPr lang="en-US" sz="2800">
                <a:latin typeface="Meiryo Regular" panose="020B0604030504040204" charset="-128"/>
                <a:ea typeface="Meiryo Regular" panose="020B0604030504040204" charset="-128"/>
              </a:rPr>
              <a:t>Performance estimation strategy</a:t>
            </a:r>
            <a:endParaRPr lang="en-US" sz="2800">
              <a:latin typeface="Meiryo Regular" panose="020B0604030504040204" charset="-128"/>
              <a:ea typeface="Meiryo Regular" panose="020B0604030504040204" charset="-128"/>
            </a:endParaRPr>
          </a:p>
          <a:p>
            <a:pPr marL="457200" indent="-457200">
              <a:lnSpc>
                <a:spcPct val="150000"/>
              </a:lnSpc>
              <a:buFont typeface="Wingdings" panose="05000000000000000000" charset="0"/>
              <a:buChar char=""/>
            </a:pPr>
            <a:r>
              <a:rPr lang="en-US" sz="2800">
                <a:latin typeface="Meiryo Regular" panose="020B0604030504040204" charset="-128"/>
                <a:ea typeface="Meiryo Regular" panose="020B0604030504040204" charset="-128"/>
              </a:rPr>
              <a:t>Future Directions</a:t>
            </a:r>
            <a:endParaRPr lang="en-US" sz="2800">
              <a:latin typeface="Meiryo Regular" panose="020B0604030504040204" charset="-128"/>
              <a:ea typeface="Meiryo Regular" panose="020B0604030504040204" charset="-128"/>
            </a:endParaRPr>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5" name="Text Box 4"/>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sym typeface="+mn-ea"/>
              </a:rPr>
              <a:t>Introduction</a:t>
            </a:r>
            <a:endParaRPr lang="en-US" sz="2800" b="1">
              <a:latin typeface="Meiryo Bold" panose="020B0604030504040204" charset="-128"/>
              <a:ea typeface="Meiryo Bold" panose="020B0604030504040204" charset="-128"/>
            </a:endParaRPr>
          </a:p>
        </p:txBody>
      </p:sp>
      <p:sp>
        <p:nvSpPr>
          <p:cNvPr id="3" name="Rectangle 2"/>
          <p:cNvSpPr/>
          <p:nvPr/>
        </p:nvSpPr>
        <p:spPr>
          <a:xfrm>
            <a:off x="53340" y="873760"/>
            <a:ext cx="12084685" cy="82296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nSpc>
                <a:spcPct val="125000"/>
              </a:lnSpc>
              <a:spcBef>
                <a:spcPts val="0"/>
              </a:spcBef>
              <a:spcAft>
                <a:spcPts val="0"/>
              </a:spcAft>
            </a:pPr>
            <a:r>
              <a:rPr lang="en-US" sz="2000" b="1">
                <a:solidFill>
                  <a:schemeClr val="tx1"/>
                </a:solidFill>
                <a:latin typeface="Meiryo Regular" panose="020B0604030504040204" charset="-128"/>
                <a:ea typeface="Meiryo Regular" panose="020B0604030504040204" charset="-128"/>
                <a:cs typeface="Meiryo Regular" panose="020B0604030504040204" charset="-128"/>
                <a:sym typeface="+mn-ea"/>
              </a:rPr>
              <a:t>NAS(Neural architecture search)</a:t>
            </a:r>
            <a:r>
              <a:rPr lang="ja-JP" altLang="en-US" sz="2000">
                <a:solidFill>
                  <a:schemeClr val="tx1"/>
                </a:solidFill>
                <a:latin typeface="Meiryo Regular" panose="020B0604030504040204" charset="-128"/>
                <a:ea typeface="Meiryo Regular" panose="020B0604030504040204" charset="-128"/>
                <a:cs typeface="Meiryo Regular" panose="020B0604030504040204" charset="-128"/>
                <a:sym typeface="+mn-ea"/>
              </a:rPr>
              <a:t>は、</a:t>
            </a:r>
            <a:r>
              <a:rPr lang="en-US" altLang="ja-JP" sz="2000">
                <a:solidFill>
                  <a:schemeClr val="tx1"/>
                </a:solidFill>
                <a:latin typeface="Meiryo Regular" panose="020B0604030504040204" charset="-128"/>
                <a:ea typeface="Meiryo Regular" panose="020B0604030504040204" charset="-128"/>
                <a:cs typeface="Meiryo Regular" panose="020B0604030504040204" charset="-128"/>
                <a:sym typeface="+mn-ea"/>
              </a:rPr>
              <a:t>AutoML</a:t>
            </a:r>
            <a:r>
              <a:rPr lang="ja-JP" altLang="en-US" sz="2000">
                <a:solidFill>
                  <a:schemeClr val="tx1"/>
                </a:solidFill>
                <a:latin typeface="Meiryo Regular" panose="020B0604030504040204" charset="-128"/>
                <a:ea typeface="Meiryo Regular" panose="020B0604030504040204" charset="-128"/>
                <a:cs typeface="Meiryo Regular" panose="020B0604030504040204" charset="-128"/>
                <a:sym typeface="+mn-ea"/>
              </a:rPr>
              <a:t>のサブフィールドで、</a:t>
            </a:r>
            <a:r>
              <a:rPr lang="en-US" altLang="ja-JP" sz="2000">
                <a:solidFill>
                  <a:schemeClr val="tx1"/>
                </a:solidFill>
                <a:latin typeface="Meiryo Regular" panose="020B0604030504040204" charset="-128"/>
                <a:ea typeface="Meiryo Regular" panose="020B0604030504040204" charset="-128"/>
                <a:cs typeface="Meiryo Regular" panose="020B0604030504040204" charset="-128"/>
                <a:sym typeface="+mn-ea"/>
              </a:rPr>
              <a:t>NN</a:t>
            </a:r>
            <a:r>
              <a:rPr lang="ja-JP" altLang="en-US" sz="2000">
                <a:solidFill>
                  <a:schemeClr val="tx1"/>
                </a:solidFill>
                <a:latin typeface="Meiryo Regular" panose="020B0604030504040204" charset="-128"/>
                <a:ea typeface="Meiryo Regular" panose="020B0604030504040204" charset="-128"/>
                <a:cs typeface="Meiryo Regular" panose="020B0604030504040204" charset="-128"/>
                <a:sym typeface="+mn-ea"/>
              </a:rPr>
              <a:t>（ニューラルネット）の構造を自動的に最適する手法である。</a:t>
            </a:r>
            <a:endParaRPr lang="ja-JP" altLang="en-US" sz="2000">
              <a:solidFill>
                <a:schemeClr val="tx1"/>
              </a:solidFill>
              <a:latin typeface="Meiryo Regular" panose="020B0604030504040204" charset="-128"/>
              <a:ea typeface="Meiryo Regular" panose="020B0604030504040204" charset="-128"/>
              <a:cs typeface="Meiryo Regular" panose="020B0604030504040204" charset="-128"/>
              <a:sym typeface="+mn-ea"/>
            </a:endParaRPr>
          </a:p>
        </p:txBody>
      </p:sp>
      <p:sp>
        <p:nvSpPr>
          <p:cNvPr id="7" name="Text Box 6"/>
          <p:cNvSpPr txBox="1"/>
          <p:nvPr/>
        </p:nvSpPr>
        <p:spPr>
          <a:xfrm>
            <a:off x="53340" y="1871980"/>
            <a:ext cx="11870055" cy="1129665"/>
          </a:xfrm>
          <a:prstGeom prst="rect">
            <a:avLst/>
          </a:prstGeom>
          <a:noFill/>
        </p:spPr>
        <p:txBody>
          <a:bodyPr wrap="square" rtlCol="0">
            <a:spAutoFit/>
          </a:bodyPr>
          <a:p>
            <a:pPr fontAlgn="auto">
              <a:lnSpc>
                <a:spcPct val="125000"/>
              </a:lnSpc>
            </a:pPr>
            <a:r>
              <a:rPr lang="en-US" altLang="ja-JP">
                <a:latin typeface="Meiryo Regular" panose="020B0604030504040204" charset="-128"/>
                <a:ea typeface="Meiryo Regular" panose="020B0604030504040204" charset="-128"/>
              </a:rPr>
              <a:t>※</a:t>
            </a:r>
            <a:r>
              <a:rPr lang="ja-JP" altLang="en-US">
                <a:latin typeface="Meiryo Regular" panose="020B0604030504040204" charset="-128"/>
                <a:ea typeface="Meiryo Regular" panose="020B0604030504040204" charset="-128"/>
              </a:rPr>
              <a:t>　従来のニューラルネットワークでは、事前に人間がニューラルネットワークの構造を設計し、ネットワークの重みを最適化するが、</a:t>
            </a:r>
            <a:r>
              <a:rPr lang="en-US" altLang="ja-JP" u="sng">
                <a:latin typeface="Meiryo Regular" panose="020B0604030504040204" charset="-128"/>
                <a:ea typeface="Meiryo Regular" panose="020B0604030504040204" charset="-128"/>
              </a:rPr>
              <a:t>NAS</a:t>
            </a:r>
            <a:r>
              <a:rPr lang="ja-JP" altLang="en-US" u="sng">
                <a:latin typeface="Meiryo Regular" panose="020B0604030504040204" charset="-128"/>
                <a:ea typeface="Meiryo Regular" panose="020B0604030504040204" charset="-128"/>
              </a:rPr>
              <a:t>では、ニューラルネットワークの構造自体やパラメータを最適化した上で、重みを最適化する。</a:t>
            </a:r>
            <a:endParaRPr lang="ja-JP" altLang="en-US" u="sng">
              <a:latin typeface="Meiryo Regular" panose="020B0604030504040204" charset="-128"/>
              <a:ea typeface="Meiryo Regular" panose="020B0604030504040204" charset="-128"/>
            </a:endParaRPr>
          </a:p>
        </p:txBody>
      </p:sp>
      <p:sp>
        <p:nvSpPr>
          <p:cNvPr id="8" name="Rectangle 7"/>
          <p:cNvSpPr/>
          <p:nvPr/>
        </p:nvSpPr>
        <p:spPr>
          <a:xfrm>
            <a:off x="53340" y="3176905"/>
            <a:ext cx="2240280" cy="824230"/>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en-US" sz="2000">
                <a:solidFill>
                  <a:schemeClr val="tx1"/>
                </a:solidFill>
                <a:latin typeface="Meiryo Regular" panose="020B0604030504040204" charset="-128"/>
                <a:ea typeface="Meiryo Regular" panose="020B0604030504040204" charset="-128"/>
                <a:sym typeface="+mn-ea"/>
              </a:rPr>
              <a:t>Search space</a:t>
            </a:r>
            <a:endParaRPr lang="en-US" sz="2000">
              <a:solidFill>
                <a:schemeClr val="tx1"/>
              </a:solidFill>
              <a:latin typeface="Meiryo Regular" panose="020B0604030504040204" charset="-128"/>
              <a:ea typeface="Meiryo Regular" panose="020B0604030504040204" charset="-128"/>
              <a:sym typeface="+mn-ea"/>
            </a:endParaRPr>
          </a:p>
        </p:txBody>
      </p:sp>
      <p:sp>
        <p:nvSpPr>
          <p:cNvPr id="9" name="Rectangle 8"/>
          <p:cNvSpPr/>
          <p:nvPr/>
        </p:nvSpPr>
        <p:spPr>
          <a:xfrm>
            <a:off x="53340" y="4344035"/>
            <a:ext cx="2240280" cy="824230"/>
          </a:xfrm>
          <a:prstGeom prst="rect">
            <a:avLst/>
          </a:prstGeom>
          <a:solidFill>
            <a:schemeClr val="accent2">
              <a:lumMod val="60000"/>
              <a:lumOff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en-US" sz="2000">
                <a:solidFill>
                  <a:schemeClr val="tx1"/>
                </a:solidFill>
                <a:latin typeface="Meiryo Regular" panose="020B0604030504040204" charset="-128"/>
                <a:ea typeface="Meiryo Regular" panose="020B0604030504040204" charset="-128"/>
                <a:sym typeface="+mn-ea"/>
              </a:rPr>
              <a:t>Search strategy</a:t>
            </a:r>
            <a:endParaRPr lang="en-US" sz="2000">
              <a:solidFill>
                <a:schemeClr val="tx1"/>
              </a:solidFill>
              <a:latin typeface="Meiryo Regular" panose="020B0604030504040204" charset="-128"/>
              <a:ea typeface="Meiryo Regular" panose="020B0604030504040204" charset="-128"/>
              <a:sym typeface="+mn-ea"/>
            </a:endParaRPr>
          </a:p>
        </p:txBody>
      </p:sp>
      <p:sp>
        <p:nvSpPr>
          <p:cNvPr id="10" name="Rectangle 9"/>
          <p:cNvSpPr/>
          <p:nvPr/>
        </p:nvSpPr>
        <p:spPr>
          <a:xfrm>
            <a:off x="53340" y="5434965"/>
            <a:ext cx="2240280" cy="107442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en-US" sz="2000">
                <a:solidFill>
                  <a:schemeClr val="tx1"/>
                </a:solidFill>
                <a:latin typeface="Meiryo Regular" panose="020B0604030504040204" charset="-128"/>
                <a:ea typeface="Meiryo Regular" panose="020B0604030504040204" charset="-128"/>
                <a:sym typeface="+mn-ea"/>
              </a:rPr>
              <a:t>Performance </a:t>
            </a:r>
            <a:r>
              <a:rPr lang="en-US" sz="2000">
                <a:solidFill>
                  <a:schemeClr val="tx1"/>
                </a:solidFill>
                <a:uFillTx/>
                <a:latin typeface="Meiryo" panose="020B0604030504040204" charset="-128"/>
                <a:ea typeface="Meiryo Regular" panose="020B0604030504040204" charset="-128"/>
                <a:sym typeface="+mn-ea"/>
              </a:rPr>
              <a:t>estimation </a:t>
            </a:r>
            <a:r>
              <a:rPr lang="en-US" sz="2000">
                <a:solidFill>
                  <a:schemeClr val="tx1"/>
                </a:solidFill>
                <a:latin typeface="Meiryo Regular" panose="020B0604030504040204" charset="-128"/>
                <a:ea typeface="Meiryo Regular" panose="020B0604030504040204" charset="-128"/>
                <a:sym typeface="+mn-ea"/>
              </a:rPr>
              <a:t>strategy</a:t>
            </a:r>
            <a:endParaRPr lang="en-US" sz="2000">
              <a:solidFill>
                <a:schemeClr val="tx1"/>
              </a:solidFill>
              <a:latin typeface="Meiryo Regular" panose="020B0604030504040204" charset="-128"/>
              <a:ea typeface="Meiryo Regular" panose="020B0604030504040204" charset="-128"/>
              <a:sym typeface="+mn-ea"/>
            </a:endParaRPr>
          </a:p>
        </p:txBody>
      </p:sp>
      <p:sp>
        <p:nvSpPr>
          <p:cNvPr id="11" name="Text Box 10"/>
          <p:cNvSpPr txBox="1"/>
          <p:nvPr/>
        </p:nvSpPr>
        <p:spPr>
          <a:xfrm>
            <a:off x="2349500" y="3176905"/>
            <a:ext cx="9573895" cy="1129665"/>
          </a:xfrm>
          <a:prstGeom prst="rect">
            <a:avLst/>
          </a:prstGeom>
          <a:noFill/>
        </p:spPr>
        <p:txBody>
          <a:bodyPr wrap="square" rtlCol="0">
            <a:spAutoFit/>
          </a:bodyPr>
          <a:p>
            <a:pPr marL="285750" indent="-285750" fontAlgn="auto">
              <a:lnSpc>
                <a:spcPct val="125000"/>
              </a:lnSpc>
              <a:buFont typeface="Arial" panose="020B0604020202090204" pitchFamily="34" charset="0"/>
              <a:buChar char="•"/>
            </a:pPr>
            <a:r>
              <a:rPr lang="ja-JP" altLang="en-US">
                <a:latin typeface="Meiryo Regular" panose="020B0604030504040204" charset="-128"/>
                <a:ea typeface="Meiryo Regular" panose="020B0604030504040204" charset="-128"/>
              </a:rPr>
              <a:t>評価したい構造の集合は何か</a:t>
            </a:r>
            <a:endParaRPr lang="ja-JP" altLang="en-US">
              <a:latin typeface="Meiryo Regular" panose="020B0604030504040204" charset="-128"/>
              <a:ea typeface="Meiryo Regular" panose="020B0604030504040204" charset="-128"/>
            </a:endParaRPr>
          </a:p>
          <a:p>
            <a:pPr marL="285750" indent="-285750" fontAlgn="auto">
              <a:lnSpc>
                <a:spcPct val="125000"/>
              </a:lnSpc>
              <a:buFont typeface="Arial" panose="020B0604020202090204" pitchFamily="34" charset="0"/>
              <a:buChar char="•"/>
            </a:pPr>
            <a:r>
              <a:rPr lang="ja-JP" altLang="en-US">
                <a:latin typeface="Meiryo Regular" panose="020B0604030504040204" charset="-128"/>
                <a:ea typeface="Meiryo Regular" panose="020B0604030504040204" charset="-128"/>
              </a:rPr>
              <a:t>事前知識を反映させることで探索空間を狭めば探索がシンプルになるが、人間が持つバイアスにより、人間の知識を超えた新たな構造の発見を妨げてしまう。</a:t>
            </a:r>
            <a:endParaRPr lang="ja-JP" altLang="en-US">
              <a:latin typeface="Meiryo Regular" panose="020B0604030504040204" charset="-128"/>
              <a:ea typeface="Meiryo Regular" panose="020B0604030504040204" charset="-128"/>
            </a:endParaRPr>
          </a:p>
        </p:txBody>
      </p:sp>
      <p:sp>
        <p:nvSpPr>
          <p:cNvPr id="12" name="Text Box 11"/>
          <p:cNvSpPr txBox="1"/>
          <p:nvPr/>
        </p:nvSpPr>
        <p:spPr>
          <a:xfrm>
            <a:off x="2455545" y="4344035"/>
            <a:ext cx="9573260" cy="783590"/>
          </a:xfrm>
          <a:prstGeom prst="rect">
            <a:avLst/>
          </a:prstGeom>
          <a:noFill/>
        </p:spPr>
        <p:txBody>
          <a:bodyPr wrap="square" rtlCol="0">
            <a:spAutoFit/>
          </a:bodyPr>
          <a:p>
            <a:pPr marL="285750" indent="-285750" fontAlgn="auto">
              <a:lnSpc>
                <a:spcPct val="125000"/>
              </a:lnSpc>
              <a:buFont typeface="Arial" panose="020B0604020202090204" pitchFamily="34" charset="0"/>
              <a:buChar char="•"/>
            </a:pPr>
            <a:r>
              <a:rPr lang="ja-JP" altLang="en-US">
                <a:latin typeface="Meiryo Regular" panose="020B0604030504040204" charset="-128"/>
                <a:ea typeface="Meiryo Regular" panose="020B0604030504040204" charset="-128"/>
              </a:rPr>
              <a:t>探索空間の中でどうやって探索するか</a:t>
            </a:r>
            <a:endParaRPr lang="ja-JP" altLang="en-US">
              <a:latin typeface="Meiryo Regular" panose="020B0604030504040204" charset="-128"/>
              <a:ea typeface="Meiryo Regular" panose="020B0604030504040204" charset="-128"/>
            </a:endParaRPr>
          </a:p>
          <a:p>
            <a:pPr marL="285750" indent="-285750" fontAlgn="auto">
              <a:lnSpc>
                <a:spcPct val="125000"/>
              </a:lnSpc>
              <a:buFont typeface="Arial" panose="020B0604020202090204" pitchFamily="34" charset="0"/>
              <a:buChar char="•"/>
            </a:pPr>
            <a:r>
              <a:rPr lang="ja-JP" altLang="en-US">
                <a:latin typeface="Meiryo Regular" panose="020B0604030504040204" charset="-128"/>
                <a:ea typeface="Meiryo Regular" panose="020B0604030504040204" charset="-128"/>
              </a:rPr>
              <a:t>早くて良い結果 </a:t>
            </a:r>
            <a:r>
              <a:rPr lang="en-US" altLang="ja-JP">
                <a:latin typeface="Meiryo Regular" panose="020B0604030504040204" charset="-128"/>
                <a:ea typeface="Meiryo Regular" panose="020B0604030504040204" charset="-128"/>
              </a:rPr>
              <a:t>or </a:t>
            </a:r>
            <a:r>
              <a:rPr lang="ja-JP" altLang="en-US">
                <a:latin typeface="Meiryo Regular" panose="020B0604030504040204" charset="-128"/>
                <a:ea typeface="Meiryo Regular" panose="020B0604030504040204" charset="-128"/>
              </a:rPr>
              <a:t>最善な結果　と言う </a:t>
            </a:r>
            <a:r>
              <a:rPr lang="en-US" altLang="ja-JP">
                <a:latin typeface="Meiryo Regular" panose="020B0604030504040204" charset="-128"/>
                <a:ea typeface="Meiryo Regular" panose="020B0604030504040204" charset="-128"/>
              </a:rPr>
              <a:t>exploration-exploitation trade-off</a:t>
            </a:r>
            <a:endParaRPr lang="ja-JP" altLang="en-US">
              <a:latin typeface="Meiryo Regular" panose="020B0604030504040204" charset="-128"/>
              <a:ea typeface="Meiryo Regular" panose="020B0604030504040204" charset="-128"/>
            </a:endParaRPr>
          </a:p>
        </p:txBody>
      </p:sp>
      <p:sp>
        <p:nvSpPr>
          <p:cNvPr id="13" name="Text Box 12"/>
          <p:cNvSpPr txBox="1"/>
          <p:nvPr/>
        </p:nvSpPr>
        <p:spPr>
          <a:xfrm>
            <a:off x="2350135" y="5434965"/>
            <a:ext cx="9573260" cy="1129665"/>
          </a:xfrm>
          <a:prstGeom prst="rect">
            <a:avLst/>
          </a:prstGeom>
          <a:noFill/>
        </p:spPr>
        <p:txBody>
          <a:bodyPr wrap="square" rtlCol="0">
            <a:spAutoFit/>
          </a:bodyPr>
          <a:p>
            <a:pPr marL="285750" indent="-285750" fontAlgn="auto">
              <a:lnSpc>
                <a:spcPct val="125000"/>
              </a:lnSpc>
              <a:buFont typeface="Arial" panose="020B0604020202090204" pitchFamily="34" charset="0"/>
              <a:buChar char="•"/>
            </a:pPr>
            <a:r>
              <a:rPr lang="ja-JP" altLang="en-US">
                <a:latin typeface="Meiryo Regular" panose="020B0604030504040204" charset="-128"/>
                <a:ea typeface="Meiryo Regular" panose="020B0604030504040204" charset="-128"/>
              </a:rPr>
              <a:t>どうやって未知のデータに対するパフォーマンスを推定するか</a:t>
            </a:r>
            <a:endParaRPr lang="ja-JP" altLang="en-US">
              <a:latin typeface="Meiryo Regular" panose="020B0604030504040204" charset="-128"/>
              <a:ea typeface="Meiryo Regular" panose="020B0604030504040204" charset="-128"/>
            </a:endParaRPr>
          </a:p>
          <a:p>
            <a:pPr marL="285750" indent="-285750" fontAlgn="auto">
              <a:lnSpc>
                <a:spcPct val="125000"/>
              </a:lnSpc>
              <a:buFont typeface="Arial" panose="020B0604020202090204" pitchFamily="34" charset="0"/>
              <a:buChar char="•"/>
            </a:pPr>
            <a:r>
              <a:rPr lang="ja-JP" altLang="en-US">
                <a:latin typeface="Meiryo Regular" panose="020B0604030504040204" charset="-128"/>
                <a:ea typeface="Meiryo Regular" panose="020B0604030504040204" charset="-128"/>
              </a:rPr>
              <a:t>一般的にな「訓練データと評価データを分割する」と言う手法では計算コストが高くなってしまうため、最近ではコスト削減にフォーカスする研究が進んでいる。</a:t>
            </a:r>
            <a:endParaRPr lang="ja-JP" altLang="en-US">
              <a:latin typeface="Meiryo Regular" panose="020B0604030504040204" charset="-128"/>
              <a:ea typeface="Meiryo Regular" panose="020B0604030504040204" charset="-128"/>
            </a:endParaRPr>
          </a:p>
        </p:txBody>
      </p:sp>
      <p:sp>
        <p:nvSpPr>
          <p:cNvPr id="14" name="Slide Number Placeholder 13"/>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Picture 8"/>
          <p:cNvPicPr>
            <a:picLocks noChangeAspect="1"/>
          </p:cNvPicPr>
          <p:nvPr/>
        </p:nvPicPr>
        <p:blipFill>
          <a:blip r:embed="rId1"/>
          <a:stretch>
            <a:fillRect/>
          </a:stretch>
        </p:blipFill>
        <p:spPr>
          <a:xfrm>
            <a:off x="876935" y="1075055"/>
            <a:ext cx="10437495" cy="4036060"/>
          </a:xfrm>
          <a:prstGeom prst="rect">
            <a:avLst/>
          </a:prstGeom>
        </p:spPr>
      </p:pic>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2" name="Text Box 1"/>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sym typeface="+mn-ea"/>
              </a:rPr>
              <a:t>Introduction</a:t>
            </a:r>
            <a:endParaRPr lang="en-US" sz="2800" b="1">
              <a:latin typeface="Meiryo Bold" panose="020B0604030504040204" charset="-128"/>
              <a:ea typeface="Meiryo Bold" panose="020B0604030504040204" charset="-128"/>
            </a:endParaRPr>
          </a:p>
        </p:txBody>
      </p:sp>
      <p:sp>
        <p:nvSpPr>
          <p:cNvPr id="8" name="Text Box 7"/>
          <p:cNvSpPr txBox="1"/>
          <p:nvPr/>
        </p:nvSpPr>
        <p:spPr>
          <a:xfrm>
            <a:off x="708660" y="5286375"/>
            <a:ext cx="10773410" cy="783590"/>
          </a:xfrm>
          <a:prstGeom prst="rect">
            <a:avLst/>
          </a:prstGeom>
          <a:noFill/>
        </p:spPr>
        <p:txBody>
          <a:bodyPr wrap="square" rtlCol="0">
            <a:spAutoFit/>
          </a:bodyPr>
          <a:p>
            <a:pPr fontAlgn="auto">
              <a:lnSpc>
                <a:spcPct val="125000"/>
              </a:lnSpc>
            </a:pPr>
            <a:r>
              <a:rPr>
                <a:latin typeface="Meiryo Regular" panose="020B0604030504040204" charset="-128"/>
                <a:ea typeface="Meiryo Regular" panose="020B0604030504040204" charset="-128"/>
              </a:rPr>
              <a:t>探索空間(構造の集合)Aの中から探索戦略が一つの構造Aを選び、そのパフォーマンスを推定</a:t>
            </a:r>
            <a:r>
              <a:rPr lang="ja-JP">
                <a:latin typeface="Meiryo Regular" panose="020B0604030504040204" charset="-128"/>
                <a:ea typeface="Meiryo Regular" panose="020B0604030504040204" charset="-128"/>
              </a:rPr>
              <a:t>する。</a:t>
            </a:r>
            <a:endParaRPr lang="ja-JP">
              <a:latin typeface="Meiryo Regular" panose="020B0604030504040204" charset="-128"/>
              <a:ea typeface="Meiryo Regular" panose="020B0604030504040204" charset="-128"/>
            </a:endParaRPr>
          </a:p>
          <a:p>
            <a:pPr fontAlgn="auto">
              <a:lnSpc>
                <a:spcPct val="125000"/>
              </a:lnSpc>
            </a:pPr>
            <a:r>
              <a:rPr>
                <a:latin typeface="Meiryo Regular" panose="020B0604030504040204" charset="-128"/>
                <a:ea typeface="Meiryo Regular" panose="020B0604030504040204" charset="-128"/>
              </a:rPr>
              <a:t>その推定値に依って、別の構造をAの中から選ぶ</a:t>
            </a:r>
            <a:r>
              <a:rPr lang="ja-JP">
                <a:latin typeface="Meiryo Regular" panose="020B0604030504040204" charset="-128"/>
                <a:ea typeface="Meiryo Regular" panose="020B0604030504040204" charset="-128"/>
              </a:rPr>
              <a:t>…</a:t>
            </a:r>
            <a:r>
              <a:rPr>
                <a:latin typeface="Meiryo Regular" panose="020B0604030504040204" charset="-128"/>
                <a:ea typeface="Meiryo Regular" panose="020B0604030504040204" charset="-128"/>
              </a:rPr>
              <a:t>ということを繰り返し、NNの構造を最適化</a:t>
            </a:r>
            <a:r>
              <a:rPr lang="ja-JP">
                <a:latin typeface="Meiryo Regular" panose="020B0604030504040204" charset="-128"/>
                <a:ea typeface="Meiryo Regular" panose="020B0604030504040204" charset="-128"/>
              </a:rPr>
              <a:t>する。</a:t>
            </a:r>
            <a:endParaRPr lang="ja-JP">
              <a:latin typeface="Meiryo Regular" panose="020B0604030504040204" charset="-128"/>
              <a:ea typeface="Meiryo Regular" panose="020B0604030504040204"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5" name="Text Box 4"/>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rPr>
              <a:t>Search space</a:t>
            </a:r>
            <a:endParaRPr lang="en-US" sz="2800" b="1">
              <a:latin typeface="Meiryo Bold" panose="020B0604030504040204" charset="-128"/>
              <a:ea typeface="Meiryo Bold" panose="020B0604030504040204" charset="-128"/>
            </a:endParaRPr>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pic>
        <p:nvPicPr>
          <p:cNvPr id="2" name="Picture 1"/>
          <p:cNvPicPr>
            <a:picLocks noChangeAspect="1"/>
          </p:cNvPicPr>
          <p:nvPr/>
        </p:nvPicPr>
        <p:blipFill>
          <a:blip r:embed="rId1"/>
          <a:srcRect l="5457" t="1717" r="4773" b="2582"/>
          <a:stretch>
            <a:fillRect/>
          </a:stretch>
        </p:blipFill>
        <p:spPr>
          <a:xfrm>
            <a:off x="223520" y="831850"/>
            <a:ext cx="4168140" cy="4212590"/>
          </a:xfrm>
          <a:prstGeom prst="rect">
            <a:avLst/>
          </a:prstGeom>
        </p:spPr>
      </p:pic>
      <p:sp>
        <p:nvSpPr>
          <p:cNvPr id="8" name="Text Box 7"/>
          <p:cNvSpPr txBox="1"/>
          <p:nvPr/>
        </p:nvSpPr>
        <p:spPr>
          <a:xfrm>
            <a:off x="0" y="5044440"/>
            <a:ext cx="4615180" cy="1822450"/>
          </a:xfrm>
          <a:prstGeom prst="rect">
            <a:avLst/>
          </a:prstGeom>
          <a:noFill/>
        </p:spPr>
        <p:txBody>
          <a:bodyPr wrap="square" rtlCol="0">
            <a:spAutoFit/>
          </a:bodyPr>
          <a:p>
            <a:pPr fontAlgn="auto">
              <a:lnSpc>
                <a:spcPct val="125000"/>
              </a:lnSpc>
            </a:pPr>
            <a:r>
              <a:rPr lang="ja-JP" b="1">
                <a:latin typeface="Meiryo Bold" panose="020B0604030504040204" charset="-128"/>
                <a:ea typeface="Meiryo Bold" panose="020B0604030504040204" charset="-128"/>
                <a:cs typeface="Meiryo Bold" panose="020B0604030504040204" charset="-128"/>
              </a:rPr>
              <a:t>シンプルな直列</a:t>
            </a:r>
            <a:r>
              <a:rPr lang="en-US" altLang="ja-JP" b="1">
                <a:latin typeface="Meiryo Bold" panose="020B0604030504040204" charset="-128"/>
                <a:ea typeface="Meiryo Bold" panose="020B0604030504040204" charset="-128"/>
                <a:cs typeface="Meiryo Bold" panose="020B0604030504040204" charset="-128"/>
              </a:rPr>
              <a:t>NN(</a:t>
            </a:r>
            <a:r>
              <a:rPr lang="ja-JP" altLang="en-US" b="1">
                <a:latin typeface="Meiryo Bold" panose="020B0604030504040204" charset="-128"/>
                <a:ea typeface="Meiryo Bold" panose="020B0604030504040204" charset="-128"/>
                <a:cs typeface="Meiryo Bold" panose="020B0604030504040204" charset="-128"/>
              </a:rPr>
              <a:t>左</a:t>
            </a:r>
            <a:r>
              <a:rPr lang="en-US" altLang="ja-JP" b="1">
                <a:latin typeface="Meiryo Bold" panose="020B0604030504040204" charset="-128"/>
                <a:ea typeface="Meiryo Bold" panose="020B0604030504040204" charset="-128"/>
                <a:cs typeface="Meiryo Bold" panose="020B0604030504040204" charset="-128"/>
              </a:rPr>
              <a:t>)</a:t>
            </a:r>
            <a:r>
              <a:rPr lang="ja-JP" altLang="en-US" b="1">
                <a:latin typeface="Meiryo Bold" panose="020B0604030504040204" charset="-128"/>
                <a:ea typeface="Meiryo Bold" panose="020B0604030504040204" charset="-128"/>
                <a:cs typeface="Meiryo Bold" panose="020B0604030504040204" charset="-128"/>
              </a:rPr>
              <a:t>；複雑な</a:t>
            </a:r>
            <a:r>
              <a:rPr lang="en-US" altLang="ja-JP" b="1">
                <a:latin typeface="Meiryo Bold" panose="020B0604030504040204" charset="-128"/>
                <a:ea typeface="Meiryo Bold" panose="020B0604030504040204" charset="-128"/>
                <a:cs typeface="Meiryo Bold" panose="020B0604030504040204" charset="-128"/>
              </a:rPr>
              <a:t>NN(</a:t>
            </a:r>
            <a:r>
              <a:rPr lang="ja-JP" altLang="en-US" b="1">
                <a:latin typeface="Meiryo Bold" panose="020B0604030504040204" charset="-128"/>
                <a:ea typeface="Meiryo Bold" panose="020B0604030504040204" charset="-128"/>
                <a:cs typeface="Meiryo Bold" panose="020B0604030504040204" charset="-128"/>
              </a:rPr>
              <a:t>右</a:t>
            </a:r>
            <a:r>
              <a:rPr lang="en-US" altLang="ja-JP" b="1">
                <a:latin typeface="Meiryo Bold" panose="020B0604030504040204" charset="-128"/>
                <a:ea typeface="Meiryo Bold" panose="020B0604030504040204" charset="-128"/>
                <a:cs typeface="Meiryo Bold" panose="020B0604030504040204" charset="-128"/>
              </a:rPr>
              <a:t>)</a:t>
            </a:r>
            <a:r>
              <a:rPr lang="ja-JP" altLang="en-US">
                <a:latin typeface="Meiryo Regular" panose="020B0604030504040204" charset="-128"/>
                <a:ea typeface="Meiryo Regular" panose="020B0604030504040204" charset="-128"/>
              </a:rPr>
              <a:t>：</a:t>
            </a:r>
            <a:r>
              <a:rPr lang="en-US" altLang="ja-JP">
                <a:latin typeface="Meiryo" panose="020B0604030504040204" charset="-128"/>
                <a:ea typeface="Meiryo" panose="020B0604030504040204" charset="-128"/>
                <a:sym typeface="+mn-ea"/>
              </a:rPr>
              <a:t>skip connection</a:t>
            </a:r>
            <a:r>
              <a:rPr lang="ja-JP" altLang="en-US">
                <a:latin typeface="Meiryo" panose="020B0604030504040204" charset="-128"/>
                <a:ea typeface="Meiryo" panose="020B0604030504040204" charset="-128"/>
                <a:sym typeface="+mn-ea"/>
              </a:rPr>
              <a:t>のような複雑な要素を組み込み、複雑な構造を生成している。この場合、あるレイヤの主力の関数</a:t>
            </a:r>
            <a:r>
              <a:rPr lang="en-US" altLang="ja-JP">
                <a:latin typeface="Meiryo" panose="020B0604030504040204" charset="-128"/>
                <a:ea typeface="Meiryo" panose="020B0604030504040204" charset="-128"/>
                <a:sym typeface="+mn-ea"/>
              </a:rPr>
              <a:t>g</a:t>
            </a:r>
            <a:r>
              <a:rPr lang="ja-JP" altLang="en-US">
                <a:latin typeface="Meiryo" panose="020B0604030504040204" charset="-128"/>
                <a:ea typeface="Meiryo" panose="020B0604030504040204" charset="-128"/>
                <a:sym typeface="+mn-ea"/>
              </a:rPr>
              <a:t>と表すことができ、大幅に自由度が上がる。</a:t>
            </a:r>
            <a:endParaRPr lang="ja-JP" altLang="en-US">
              <a:latin typeface="Meiryo" panose="020B0604030504040204" charset="-128"/>
              <a:ea typeface="Meiryo" panose="020B0604030504040204" charset="-128"/>
              <a:sym typeface="+mn-ea"/>
            </a:endParaRPr>
          </a:p>
        </p:txBody>
      </p:sp>
      <p:sp>
        <p:nvSpPr>
          <p:cNvPr id="3" name="Text Box 2"/>
          <p:cNvSpPr txBox="1"/>
          <p:nvPr/>
        </p:nvSpPr>
        <p:spPr>
          <a:xfrm>
            <a:off x="4615180" y="831850"/>
            <a:ext cx="7400925" cy="3707765"/>
          </a:xfrm>
          <a:prstGeom prst="rect">
            <a:avLst/>
          </a:prstGeom>
          <a:noFill/>
          <a:ln>
            <a:solidFill>
              <a:schemeClr val="accent2">
                <a:lumMod val="75000"/>
              </a:schemeClr>
            </a:solidFill>
          </a:ln>
        </p:spPr>
        <p:txBody>
          <a:bodyPr wrap="square" rtlCol="0">
            <a:spAutoFit/>
          </a:bodyPr>
          <a:p>
            <a:pPr fontAlgn="auto">
              <a:lnSpc>
                <a:spcPct val="125000"/>
              </a:lnSpc>
            </a:pPr>
            <a:r>
              <a:rPr sz="2000" b="1">
                <a:latin typeface="Meiryo Bold" panose="020B0604030504040204" charset="-128"/>
                <a:ea typeface="Meiryo Bold" panose="020B0604030504040204" charset="-128"/>
              </a:rPr>
              <a:t>探索空間</a:t>
            </a:r>
            <a:r>
              <a:rPr lang="ja-JP" sz="2000" b="1">
                <a:latin typeface="Meiryo Bold" panose="020B0604030504040204" charset="-128"/>
                <a:ea typeface="Meiryo Bold" panose="020B0604030504040204" charset="-128"/>
              </a:rPr>
              <a:t>のパラメータ</a:t>
            </a:r>
            <a:endParaRPr lang="ja-JP" sz="2000" b="1">
              <a:latin typeface="Meiryo Bold" panose="020B0604030504040204" charset="-128"/>
              <a:ea typeface="Meiryo Bold" panose="020B0604030504040204" charset="-128"/>
            </a:endParaRPr>
          </a:p>
          <a:p>
            <a:pPr fontAlgn="auto">
              <a:lnSpc>
                <a:spcPct val="125000"/>
              </a:lnSpc>
            </a:pPr>
            <a:r>
              <a:rPr lang="ja-JP" altLang="en-US">
                <a:latin typeface="Meiryo" panose="020B0604030504040204" charset="-128"/>
                <a:ea typeface="Meiryo" panose="020B0604030504040204" charset="-128"/>
                <a:cs typeface="Meiryo" panose="020B0604030504040204" charset="-128"/>
              </a:rPr>
              <a:t>　　</a:t>
            </a:r>
            <a:r>
              <a:rPr lang="en-US" altLang="ja-JP">
                <a:latin typeface="Meiryo" panose="020B0604030504040204" charset="-128"/>
                <a:ea typeface="Meiryo" panose="020B0604030504040204" charset="-128"/>
                <a:cs typeface="Meiryo" panose="020B0604030504040204" charset="-128"/>
              </a:rPr>
              <a:t>(</a:t>
            </a:r>
            <a:r>
              <a:rPr lang="ja-JP" altLang="en-US">
                <a:latin typeface="Meiryo" panose="020B0604030504040204" charset="-128"/>
                <a:ea typeface="Meiryo" panose="020B0604030504040204" charset="-128"/>
                <a:cs typeface="Meiryo" panose="020B0604030504040204" charset="-128"/>
              </a:rPr>
              <a:t>左図の場合のみ考</a:t>
            </a:r>
            <a:r>
              <a:rPr lang="ja-JP" altLang="en-US">
                <a:latin typeface="Meiryo" panose="020B0604030504040204" charset="-128"/>
                <a:ea typeface="Meiryo" panose="020B0604030504040204" charset="-128"/>
                <a:cs typeface="Meiryo" panose="020B0604030504040204" charset="-128"/>
              </a:rPr>
              <a:t>えている</a:t>
            </a:r>
            <a:r>
              <a:rPr lang="ja-JP" altLang="en-US">
                <a:latin typeface="Meiryo" panose="020B0604030504040204" charset="-128"/>
                <a:ea typeface="Meiryo" panose="020B0604030504040204" charset="-128"/>
                <a:cs typeface="Meiryo" panose="020B0604030504040204" charset="-128"/>
              </a:rPr>
              <a:t>、分岐や</a:t>
            </a:r>
            <a:r>
              <a:rPr lang="en-US" altLang="ja-JP">
                <a:latin typeface="Meiryo" panose="020B0604030504040204" charset="-128"/>
                <a:ea typeface="Meiryo" panose="020B0604030504040204" charset="-128"/>
                <a:cs typeface="Meiryo" panose="020B0604030504040204" charset="-128"/>
              </a:rPr>
              <a:t>skip connet</a:t>
            </a:r>
            <a:r>
              <a:rPr lang="ja-JP" altLang="en-US">
                <a:latin typeface="Meiryo" panose="020B0604030504040204" charset="-128"/>
                <a:ea typeface="Meiryo" panose="020B0604030504040204" charset="-128"/>
                <a:cs typeface="Meiryo" panose="020B0604030504040204" charset="-128"/>
              </a:rPr>
              <a:t>は一旦考えない</a:t>
            </a:r>
            <a:r>
              <a:rPr lang="en-US" altLang="ja-JP">
                <a:latin typeface="Meiryo" panose="020B0604030504040204" charset="-128"/>
                <a:ea typeface="Meiryo" panose="020B0604030504040204" charset="-128"/>
                <a:cs typeface="Meiryo" panose="020B0604030504040204" charset="-128"/>
              </a:rPr>
              <a:t>)</a:t>
            </a:r>
            <a:endParaRPr lang="ja-JP" sz="2000">
              <a:latin typeface="Meiryo" panose="020B0604030504040204" charset="-128"/>
              <a:ea typeface="Meiryo" panose="020B0604030504040204" charset="-128"/>
              <a:cs typeface="Meiryo" panose="020B0604030504040204" charset="-128"/>
            </a:endParaRPr>
          </a:p>
          <a:p>
            <a:pPr marL="457200" indent="-457200" fontAlgn="auto">
              <a:lnSpc>
                <a:spcPct val="125000"/>
              </a:lnSpc>
              <a:buFont typeface="+mj-lt"/>
              <a:buAutoNum type="arabicPeriod"/>
            </a:pPr>
            <a:r>
              <a:rPr lang="ja-JP" sz="2000" b="1">
                <a:latin typeface="Meiryo Bold" panose="020B0604030504040204" charset="-128"/>
                <a:ea typeface="Meiryo Bold" panose="020B0604030504040204" charset="-128"/>
              </a:rPr>
              <a:t>レイヤ数</a:t>
            </a:r>
            <a:endParaRPr lang="ja-JP" sz="2000" b="1">
              <a:latin typeface="Meiryo Bold" panose="020B0604030504040204" charset="-128"/>
              <a:ea typeface="Meiryo Bold" panose="020B0604030504040204" charset="-128"/>
            </a:endParaRPr>
          </a:p>
          <a:p>
            <a:pPr marL="457200" indent="-457200" fontAlgn="auto">
              <a:lnSpc>
                <a:spcPct val="125000"/>
              </a:lnSpc>
              <a:buFont typeface="Arial" panose="020B0604020202090204" pitchFamily="34" charset="0"/>
              <a:buAutoNum type="arabicPeriod"/>
            </a:pPr>
            <a:r>
              <a:rPr lang="ja-JP" sz="2000" b="1">
                <a:latin typeface="Meiryo Bold" panose="020B0604030504040204" charset="-128"/>
                <a:ea typeface="Meiryo Bold" panose="020B0604030504040204" charset="-128"/>
              </a:rPr>
              <a:t>レイヤの種類</a:t>
            </a:r>
            <a:r>
              <a:rPr lang="ja-JP" sz="2000">
                <a:latin typeface="Meiryo" panose="020B0604030504040204" charset="-128"/>
                <a:ea typeface="Meiryo" panose="020B0604030504040204" charset="-128"/>
              </a:rPr>
              <a:t>：レイヤが実行できる操作のタイプ</a:t>
            </a:r>
            <a:endParaRPr lang="ja-JP" sz="2000">
              <a:latin typeface="Meiryo" panose="020B0604030504040204" charset="-128"/>
              <a:ea typeface="Meiryo" panose="020B0604030504040204" charset="-128"/>
            </a:endParaRPr>
          </a:p>
          <a:p>
            <a:pPr lvl="1" indent="0" fontAlgn="auto">
              <a:lnSpc>
                <a:spcPct val="125000"/>
              </a:lnSpc>
              <a:buFont typeface="Arial" panose="020B0604020202090204" pitchFamily="34" charset="0"/>
              <a:buNone/>
            </a:pPr>
            <a:r>
              <a:rPr lang="ja-JP">
                <a:solidFill>
                  <a:schemeClr val="tx1"/>
                </a:solidFill>
                <a:latin typeface="Meiryo" panose="020B0604030504040204" charset="-128"/>
                <a:ea typeface="Meiryo" panose="020B0604030504040204" charset="-128"/>
              </a:rPr>
              <a:t>プーリング層、畳み込み層、</a:t>
            </a:r>
            <a:r>
              <a:rPr lang="en-US" altLang="ja-JP">
                <a:solidFill>
                  <a:schemeClr val="tx1"/>
                </a:solidFill>
                <a:latin typeface="Meiryo" panose="020B0604030504040204" charset="-128"/>
                <a:ea typeface="Meiryo" panose="020B0604030504040204" charset="-128"/>
              </a:rPr>
              <a:t>Depthwise Separable Convolutions</a:t>
            </a:r>
            <a:r>
              <a:rPr lang="ja-JP" altLang="en-US">
                <a:solidFill>
                  <a:schemeClr val="tx1"/>
                </a:solidFill>
                <a:latin typeface="Meiryo" panose="020B0604030504040204" charset="-128"/>
                <a:ea typeface="Meiryo" panose="020B0604030504040204" charset="-128"/>
              </a:rPr>
              <a:t>、Dilated Convolutions 等</a:t>
            </a:r>
            <a:endParaRPr lang="ja-JP">
              <a:solidFill>
                <a:schemeClr val="tx1"/>
              </a:solidFill>
              <a:latin typeface="Meiryo" panose="020B0604030504040204" charset="-128"/>
              <a:ea typeface="Meiryo" panose="020B0604030504040204" charset="-128"/>
            </a:endParaRPr>
          </a:p>
          <a:p>
            <a:pPr marL="457200" indent="-457200" fontAlgn="auto">
              <a:lnSpc>
                <a:spcPct val="125000"/>
              </a:lnSpc>
              <a:buFont typeface="Arial" panose="020B0604020202090204" pitchFamily="34" charset="0"/>
              <a:buAutoNum type="arabicPeriod"/>
            </a:pPr>
            <a:r>
              <a:rPr lang="ja-JP" sz="2000" b="1">
                <a:latin typeface="Meiryo Bold" panose="020B0604030504040204" charset="-128"/>
                <a:ea typeface="Meiryo Bold" panose="020B0604030504040204" charset="-128"/>
                <a:sym typeface="+mn-ea"/>
              </a:rPr>
              <a:t>レイヤの種類に応じたハイパーパラメータ</a:t>
            </a:r>
            <a:endParaRPr lang="ja-JP" sz="2000">
              <a:latin typeface="Meiryo" panose="020B0604030504040204" charset="-128"/>
              <a:ea typeface="Meiryo" panose="020B0604030504040204" charset="-128"/>
              <a:sym typeface="+mn-ea"/>
            </a:endParaRPr>
          </a:p>
          <a:p>
            <a:pPr lvl="1" indent="0" fontAlgn="auto">
              <a:lnSpc>
                <a:spcPct val="125000"/>
              </a:lnSpc>
              <a:buFont typeface="Arial" panose="020B0604020202090204" pitchFamily="34" charset="0"/>
              <a:buNone/>
            </a:pPr>
            <a:r>
              <a:rPr lang="ja-JP">
                <a:latin typeface="Meiryo" panose="020B0604030504040204" charset="-128"/>
                <a:ea typeface="Meiryo" panose="020B0604030504040204" charset="-128"/>
                <a:sym typeface="+mn-ea"/>
              </a:rPr>
              <a:t>畳み込み層のフィルター数、サイズ、ストライド</a:t>
            </a:r>
            <a:r>
              <a:rPr lang="ja-JP" altLang="en-US">
                <a:latin typeface="Meiryo" panose="020B0604030504040204" charset="-128"/>
                <a:ea typeface="Meiryo" panose="020B0604030504040204" charset="-128"/>
                <a:sym typeface="+mn-ea"/>
              </a:rPr>
              <a:t> 等</a:t>
            </a:r>
            <a:endParaRPr lang="ja-JP" altLang="en-US">
              <a:latin typeface="Meiryo" panose="020B0604030504040204" charset="-128"/>
              <a:ea typeface="Meiryo" panose="020B0604030504040204" charset="-128"/>
              <a:sym typeface="+mn-ea"/>
            </a:endParaRPr>
          </a:p>
          <a:p>
            <a:pPr lvl="1" indent="0" fontAlgn="auto">
              <a:lnSpc>
                <a:spcPct val="125000"/>
              </a:lnSpc>
              <a:buFont typeface="Arial" panose="020B0604020202090204" pitchFamily="34" charset="0"/>
              <a:buNone/>
            </a:pPr>
            <a:r>
              <a:rPr lang="en-US" altLang="ja-JP">
                <a:latin typeface="Meiryo" panose="020B0604030504040204" charset="-128"/>
                <a:ea typeface="Meiryo" panose="020B0604030504040204" charset="-128"/>
                <a:sym typeface="+mn-ea"/>
              </a:rPr>
              <a:t>3</a:t>
            </a:r>
            <a:r>
              <a:rPr lang="ja-JP" altLang="en-US">
                <a:latin typeface="Meiryo" panose="020B0604030504040204" charset="-128"/>
                <a:ea typeface="Meiryo" panose="020B0604030504040204" charset="-128"/>
                <a:sym typeface="+mn-ea"/>
              </a:rPr>
              <a:t>は</a:t>
            </a:r>
            <a:r>
              <a:rPr lang="en-US" altLang="ja-JP">
                <a:latin typeface="Meiryo" panose="020B0604030504040204" charset="-128"/>
                <a:ea typeface="Meiryo" panose="020B0604030504040204" charset="-128"/>
                <a:sym typeface="+mn-ea"/>
              </a:rPr>
              <a:t>2</a:t>
            </a:r>
            <a:r>
              <a:rPr lang="ja-JP" altLang="en-US">
                <a:latin typeface="Meiryo" panose="020B0604030504040204" charset="-128"/>
                <a:ea typeface="Meiryo" panose="020B0604030504040204" charset="-128"/>
                <a:sym typeface="+mn-ea"/>
              </a:rPr>
              <a:t>によって条件付けられるため、</a:t>
            </a:r>
            <a:r>
              <a:rPr lang="ja-JP">
                <a:latin typeface="Meiryo" panose="020B0604030504040204" charset="-128"/>
                <a:ea typeface="Meiryo" panose="020B0604030504040204" charset="-128"/>
                <a:sym typeface="+mn-ea"/>
              </a:rPr>
              <a:t>全体のパラメータは固定長ではなく条件付きの空間である</a:t>
            </a:r>
            <a:endParaRPr lang="ja-JP">
              <a:latin typeface="Meiryo" panose="020B0604030504040204" charset="-128"/>
              <a:ea typeface="Meiryo" panose="020B0604030504040204" charset="-128"/>
              <a:sym typeface="+mn-ea"/>
            </a:endParaRPr>
          </a:p>
        </p:txBody>
      </p:sp>
      <mc:AlternateContent xmlns:mc="http://schemas.openxmlformats.org/markup-compatibility/2006">
        <mc:Choice xmlns:a14="http://schemas.microsoft.com/office/drawing/2010/main" Requires="a14">
          <p:sp>
            <p:nvSpPr>
              <p:cNvPr id="9" name="Text Box 8"/>
              <p:cNvSpPr txBox="1"/>
              <p:nvPr/>
            </p:nvSpPr>
            <p:spPr>
              <a:xfrm>
                <a:off x="4615180" y="4747260"/>
                <a:ext cx="7402195" cy="1725930"/>
              </a:xfrm>
              <a:prstGeom prst="rect">
                <a:avLst/>
              </a:prstGeom>
              <a:noFill/>
            </p:spPr>
            <p:txBody>
              <a:bodyPr wrap="square" rtlCol="0">
                <a:spAutoFit/>
              </a:bodyPr>
              <a:p>
                <a:pPr lvl="0" indent="0" fontAlgn="auto">
                  <a:lnSpc>
                    <a:spcPct val="125000"/>
                  </a:lnSpc>
                  <a:buFont typeface="Arial" panose="020B0604020202090204" pitchFamily="34" charset="0"/>
                  <a:buNone/>
                </a:pPr>
                <a:r>
                  <a:rPr lang="en-US" altLang="ja-JP">
                    <a:latin typeface="Meiryo" panose="020B0604030504040204" charset="-128"/>
                    <a:ea typeface="Meiryo" panose="020B0604030504040204" charset="-128"/>
                    <a:sym typeface="+mn-ea"/>
                  </a:rPr>
                  <a:t>※</a:t>
                </a:r>
                <a:r>
                  <a:rPr lang="ja-JP" altLang="en-US">
                    <a:latin typeface="Meiryo" panose="020B0604030504040204" charset="-128"/>
                    <a:ea typeface="Meiryo" panose="020B0604030504040204" charset="-128"/>
                    <a:sym typeface="+mn-ea"/>
                  </a:rPr>
                  <a:t>　右図のような</a:t>
                </a:r>
                <a:r>
                  <a:rPr lang="en-US" altLang="ja-JP">
                    <a:latin typeface="Meiryo" panose="020B0604030504040204" charset="-128"/>
                    <a:ea typeface="Meiryo" panose="020B0604030504040204" charset="-128"/>
                    <a:sym typeface="+mn-ea"/>
                  </a:rPr>
                  <a:t>Multi-branch</a:t>
                </a:r>
                <a:r>
                  <a:rPr lang="ja-JP" altLang="en-US">
                    <a:latin typeface="Meiryo" panose="020B0604030504040204" charset="-128"/>
                    <a:ea typeface="Meiryo" panose="020B0604030504040204" charset="-128"/>
                    <a:sym typeface="+mn-ea"/>
                  </a:rPr>
                  <a:t>構造には</a:t>
                </a:r>
                <a:r>
                  <a:rPr lang="en-US" altLang="ja-JP">
                    <a:latin typeface="Meiryo" panose="020B0604030504040204" charset="-128"/>
                    <a:ea typeface="Meiryo" panose="020B0604030504040204" charset="-128"/>
                    <a:sym typeface="+mn-ea"/>
                  </a:rPr>
                  <a:t>3</a:t>
                </a:r>
                <a:r>
                  <a:rPr lang="ja-JP" altLang="en-US">
                    <a:latin typeface="Meiryo" panose="020B0604030504040204" charset="-128"/>
                    <a:ea typeface="Meiryo" panose="020B0604030504040204" charset="-128"/>
                    <a:sym typeface="+mn-ea"/>
                  </a:rPr>
                  <a:t>つの特殊なケースがある。</a:t>
                </a:r>
                <a:endParaRPr lang="ja-JP" altLang="en-US">
                  <a:latin typeface="Meiryo" panose="020B0604030504040204" charset="-128"/>
                  <a:ea typeface="Meiryo" panose="020B0604030504040204" charset="-128"/>
                  <a:sym typeface="+mn-ea"/>
                </a:endParaRPr>
              </a:p>
              <a:p>
                <a:pPr marL="285750" lvl="0" indent="-285750" fontAlgn="auto">
                  <a:lnSpc>
                    <a:spcPct val="125000"/>
                  </a:lnSpc>
                  <a:buFont typeface="Arial" panose="020B0604020202090204" pitchFamily="34" charset="0"/>
                  <a:buChar char="•"/>
                </a:pPr>
                <a:r>
                  <a:rPr lang="ja-JP" altLang="en-US">
                    <a:latin typeface="Meiryo" panose="020B0604030504040204" charset="-128"/>
                    <a:ea typeface="Meiryo" panose="020B0604030504040204" charset="-128"/>
                    <a:sym typeface="+mn-ea"/>
                  </a:rPr>
                  <a:t>シンプルな直列</a:t>
                </a:r>
                <a:r>
                  <a:rPr lang="en-US" altLang="ja-JP">
                    <a:latin typeface="Meiryo" panose="020B0604030504040204" charset="-128"/>
                    <a:ea typeface="Meiryo" panose="020B0604030504040204" charset="-128"/>
                    <a:sym typeface="+mn-ea"/>
                  </a:rPr>
                  <a:t>NN </a:t>
                </a:r>
                <a:r>
                  <a:rPr lang="ja-JP" altLang="en-US">
                    <a:latin typeface="Meiryo" panose="020B0604030504040204" charset="-128"/>
                    <a:ea typeface="Meiryo" panose="020B0604030504040204" charset="-128"/>
                    <a:sym typeface="+mn-ea"/>
                  </a:rPr>
                  <a:t>　</a:t>
                </a:r>
                <a14:m>
                  <m:oMath xmlns:m="http://schemas.openxmlformats.org/officeDocument/2006/math">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𝑔</m:t>
                        </m:r>
                      </m:e>
                      <m:sub>
                        <m:r>
                          <a:rPr lang="en-US" altLang="ja-JP" i="1">
                            <a:latin typeface="Cambria Math" panose="02040503050406030204" charset="0"/>
                            <a:ea typeface="Meiryo" panose="020B0604030504040204" charset="-128"/>
                            <a:cs typeface="Cambria Math" panose="02040503050406030204" charset="0"/>
                            <a:sym typeface="+mn-ea"/>
                          </a:rPr>
                          <m:t>𝑖</m:t>
                        </m:r>
                      </m:sub>
                    </m:sSub>
                    <m:r>
                      <a:rPr lang="en-US" altLang="ja-JP" i="1">
                        <a:latin typeface="Cambria Math" panose="02040503050406030204" charset="0"/>
                        <a:ea typeface="Meiryo" panose="020B0604030504040204" charset="-128"/>
                        <a:cs typeface="Cambria Math" panose="02040503050406030204" charset="0"/>
                        <a:sym typeface="+mn-ea"/>
                      </a:rPr>
                      <m:t>=</m:t>
                    </m:r>
                    <m:sSubSup>
                      <m:sSubSupPr>
                        <m:ctrlPr>
                          <a:rPr lang="en-US" altLang="ja-JP" i="1">
                            <a:latin typeface="Cambria Math" panose="02040503050406030204" charset="0"/>
                            <a:ea typeface="Meiryo" panose="020B0604030504040204" charset="-128"/>
                            <a:cs typeface="Cambria Math" panose="02040503050406030204" charset="0"/>
                            <a:sym typeface="+mn-ea"/>
                          </a:rPr>
                        </m:ctrlPr>
                      </m:sSubSupPr>
                      <m:e>
                        <m:r>
                          <a:rPr lang="en-US" altLang="ja-JP" i="1">
                            <a:latin typeface="Cambria Math" panose="02040503050406030204" charset="0"/>
                            <a:ea typeface="Meiryo" panose="020B0604030504040204" charset="-128"/>
                            <a:cs typeface="Cambria Math" panose="02040503050406030204" charset="0"/>
                            <a:sym typeface="+mn-ea"/>
                          </a:rPr>
                          <m:t>𝐿</m:t>
                        </m:r>
                      </m:e>
                      <m:sub>
                        <m:r>
                          <a:rPr lang="en-US" altLang="ja-JP" i="1">
                            <a:latin typeface="Cambria Math" panose="02040503050406030204" charset="0"/>
                            <a:ea typeface="Meiryo" panose="020B0604030504040204" charset="-128"/>
                            <a:cs typeface="Cambria Math" panose="02040503050406030204" charset="0"/>
                            <a:sym typeface="+mn-ea"/>
                          </a:rPr>
                          <m:t>𝑖−</m:t>
                        </m:r>
                        <m:r>
                          <a:rPr lang="en-US" altLang="ja-JP" i="1">
                            <a:latin typeface="Cambria Math" panose="02040503050406030204" charset="0"/>
                            <a:ea typeface="Meiryo" panose="020B0604030504040204" charset="-128"/>
                            <a:cs typeface="Cambria Math" panose="02040503050406030204" charset="0"/>
                            <a:sym typeface="+mn-ea"/>
                          </a:rPr>
                          <m:t>1</m:t>
                        </m:r>
                      </m:sub>
                      <m:sup>
                        <m:r>
                          <a:rPr lang="en-US" altLang="ja-JP" i="1">
                            <a:latin typeface="Cambria Math" panose="02040503050406030204" charset="0"/>
                            <a:ea typeface="Meiryo" panose="020B0604030504040204" charset="-128"/>
                            <a:cs typeface="Cambria Math" panose="02040503050406030204" charset="0"/>
                            <a:sym typeface="+mn-ea"/>
                          </a:rPr>
                          <m:t>𝑜𝑢𝑡</m:t>
                        </m:r>
                      </m:sup>
                    </m:sSubSup>
                  </m:oMath>
                </a14:m>
                <a:endParaRPr lang="en-US" altLang="ja-JP">
                  <a:latin typeface="Meiryo" panose="020B0604030504040204" charset="-128"/>
                  <a:ea typeface="Meiryo" panose="020B0604030504040204" charset="-128"/>
                  <a:sym typeface="+mn-ea"/>
                </a:endParaRPr>
              </a:p>
              <a:p>
                <a:pPr marL="285750" lvl="0" indent="-285750" fontAlgn="auto">
                  <a:lnSpc>
                    <a:spcPct val="125000"/>
                  </a:lnSpc>
                  <a:buFont typeface="Arial" panose="020B0604020202090204" pitchFamily="34" charset="0"/>
                  <a:buChar char="•"/>
                </a:pPr>
                <a:r>
                  <a:rPr lang="en-US" altLang="ja-JP">
                    <a:latin typeface="Meiryo" panose="020B0604030504040204" charset="-128"/>
                    <a:ea typeface="Meiryo" panose="020B0604030504040204" charset="-128"/>
                    <a:sym typeface="+mn-ea"/>
                  </a:rPr>
                  <a:t>Residual Networks </a:t>
                </a:r>
                <a:r>
                  <a:rPr lang="ja-JP" altLang="en-US">
                    <a:latin typeface="Meiryo" panose="020B0604030504040204" charset="-128"/>
                    <a:ea typeface="Meiryo" panose="020B0604030504040204" charset="-128"/>
                    <a:sym typeface="+mn-ea"/>
                  </a:rPr>
                  <a:t>　</a:t>
                </a:r>
                <a14:m>
                  <m:oMath xmlns:m="http://schemas.openxmlformats.org/officeDocument/2006/math">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𝑔</m:t>
                        </m:r>
                      </m:e>
                      <m:sub>
                        <m:r>
                          <a:rPr lang="en-US" altLang="ja-JP" i="1">
                            <a:latin typeface="Cambria Math" panose="02040503050406030204" charset="0"/>
                            <a:ea typeface="Meiryo" panose="020B0604030504040204" charset="-128"/>
                            <a:cs typeface="Cambria Math" panose="02040503050406030204" charset="0"/>
                            <a:sym typeface="+mn-ea"/>
                          </a:rPr>
                          <m:t>𝑖</m:t>
                        </m:r>
                      </m:sub>
                    </m:sSub>
                    <m:r>
                      <a:rPr lang="en-US" altLang="ja-JP" i="1">
                        <a:latin typeface="Cambria Math" panose="02040503050406030204" charset="0"/>
                        <a:ea typeface="Meiryo" panose="020B0604030504040204" charset="-128"/>
                        <a:cs typeface="Cambria Math" panose="02040503050406030204" charset="0"/>
                        <a:sym typeface="+mn-ea"/>
                      </a:rPr>
                      <m:t>=</m:t>
                    </m:r>
                    <m:sSubSup>
                      <m:sSubSupPr>
                        <m:ctrlPr>
                          <a:rPr lang="en-US" altLang="ja-JP" i="1">
                            <a:latin typeface="Cambria Math" panose="02040503050406030204" charset="0"/>
                            <a:ea typeface="Meiryo" panose="020B0604030504040204" charset="-128"/>
                            <a:cs typeface="Cambria Math" panose="02040503050406030204" charset="0"/>
                            <a:sym typeface="+mn-ea"/>
                          </a:rPr>
                        </m:ctrlPr>
                      </m:sSubSupPr>
                      <m:e>
                        <m:r>
                          <a:rPr lang="en-US" altLang="ja-JP" i="1">
                            <a:latin typeface="Cambria Math" panose="02040503050406030204" charset="0"/>
                            <a:ea typeface="Meiryo" panose="020B0604030504040204" charset="-128"/>
                            <a:cs typeface="Cambria Math" panose="02040503050406030204" charset="0"/>
                            <a:sym typeface="+mn-ea"/>
                          </a:rPr>
                          <m:t>𝐿</m:t>
                        </m:r>
                      </m:e>
                      <m:sub>
                        <m:r>
                          <a:rPr lang="en-US" altLang="ja-JP" i="1">
                            <a:latin typeface="Cambria Math" panose="02040503050406030204" charset="0"/>
                            <a:ea typeface="Meiryo" panose="020B0604030504040204" charset="-128"/>
                            <a:cs typeface="Cambria Math" panose="02040503050406030204" charset="0"/>
                            <a:sym typeface="+mn-ea"/>
                          </a:rPr>
                          <m:t>𝑖</m:t>
                        </m:r>
                        <m:r>
                          <a:rPr lang="en-US" altLang="ja-JP" i="1">
                            <a:latin typeface="Cambria Math" panose="02040503050406030204" charset="0"/>
                            <a:ea typeface="Meiryo" panose="020B0604030504040204" charset="-128"/>
                            <a:cs typeface="Cambria Math" panose="02040503050406030204" charset="0"/>
                            <a:sym typeface="+mn-ea"/>
                          </a:rPr>
                          <m:t>−</m:t>
                        </m:r>
                        <m:r>
                          <a:rPr lang="en-US" altLang="ja-JP" i="1">
                            <a:latin typeface="Cambria Math" panose="02040503050406030204" charset="0"/>
                            <a:ea typeface="Meiryo" panose="020B0604030504040204" charset="-128"/>
                            <a:cs typeface="Cambria Math" panose="02040503050406030204" charset="0"/>
                            <a:sym typeface="+mn-ea"/>
                          </a:rPr>
                          <m:t>1</m:t>
                        </m:r>
                      </m:sub>
                      <m:sup>
                        <m:r>
                          <a:rPr lang="en-US" altLang="ja-JP" i="1">
                            <a:latin typeface="Cambria Math" panose="02040503050406030204" charset="0"/>
                            <a:ea typeface="Meiryo" panose="020B0604030504040204" charset="-128"/>
                            <a:cs typeface="Cambria Math" panose="02040503050406030204" charset="0"/>
                            <a:sym typeface="+mn-ea"/>
                          </a:rPr>
                          <m:t>𝑜𝑢𝑡</m:t>
                        </m:r>
                      </m:sup>
                    </m:sSubSup>
                    <m:r>
                      <a:rPr lang="en-US" altLang="ja-JP" i="1">
                        <a:latin typeface="Cambria Math" panose="02040503050406030204" charset="0"/>
                        <a:ea typeface="Meiryo" panose="020B0604030504040204" charset="-128"/>
                        <a:cs typeface="Cambria Math" panose="02040503050406030204" charset="0"/>
                        <a:sym typeface="+mn-ea"/>
                      </a:rPr>
                      <m:t>+</m:t>
                    </m:r>
                    <m:sSubSup>
                      <m:sSubSupPr>
                        <m:ctrlPr>
                          <a:rPr lang="en-US" altLang="ja-JP" i="1">
                            <a:latin typeface="Cambria Math" panose="02040503050406030204" charset="0"/>
                            <a:ea typeface="Meiryo" panose="020B0604030504040204" charset="-128"/>
                            <a:cs typeface="Cambria Math" panose="02040503050406030204" charset="0"/>
                            <a:sym typeface="+mn-ea"/>
                          </a:rPr>
                        </m:ctrlPr>
                      </m:sSubSupPr>
                      <m:e>
                        <m:r>
                          <a:rPr lang="en-US" altLang="ja-JP" i="1">
                            <a:latin typeface="Cambria Math" panose="02040503050406030204" charset="0"/>
                            <a:ea typeface="Meiryo" panose="020B0604030504040204" charset="-128"/>
                            <a:cs typeface="Cambria Math" panose="02040503050406030204" charset="0"/>
                            <a:sym typeface="+mn-ea"/>
                          </a:rPr>
                          <m:t>𝐿</m:t>
                        </m:r>
                      </m:e>
                      <m:sub>
                        <m:r>
                          <a:rPr lang="en-US" altLang="ja-JP" i="1">
                            <a:latin typeface="Cambria Math" panose="02040503050406030204" charset="0"/>
                            <a:ea typeface="Meiryo" panose="020B0604030504040204" charset="-128"/>
                            <a:cs typeface="Cambria Math" panose="02040503050406030204" charset="0"/>
                            <a:sym typeface="+mn-ea"/>
                          </a:rPr>
                          <m:t>𝑗</m:t>
                        </m:r>
                      </m:sub>
                      <m:sup>
                        <m:r>
                          <a:rPr lang="en-US" altLang="ja-JP" i="1">
                            <a:latin typeface="Cambria Math" panose="02040503050406030204" charset="0"/>
                            <a:ea typeface="Meiryo" panose="020B0604030504040204" charset="-128"/>
                            <a:cs typeface="Cambria Math" panose="02040503050406030204" charset="0"/>
                            <a:sym typeface="+mn-ea"/>
                          </a:rPr>
                          <m:t>𝑜𝑢𝑡</m:t>
                        </m:r>
                      </m:sup>
                    </m:sSubSup>
                    <m:r>
                      <a:rPr lang="en-US" altLang="ja-JP" i="1">
                        <a:latin typeface="Cambria Math" panose="02040503050406030204" charset="0"/>
                        <a:ea typeface="Meiryo" panose="020B0604030504040204" charset="-128"/>
                        <a:cs typeface="Cambria Math" panose="02040503050406030204" charset="0"/>
                        <a:sym typeface="+mn-ea"/>
                      </a:rPr>
                      <m:t>, </m:t>
                    </m:r>
                    <m:r>
                      <a:rPr lang="en-US" altLang="ja-JP" i="1">
                        <a:latin typeface="Cambria Math" panose="02040503050406030204" charset="0"/>
                        <a:ea typeface="Meiryo" panose="020B0604030504040204" charset="-128"/>
                        <a:cs typeface="Cambria Math" panose="02040503050406030204" charset="0"/>
                        <a:sym typeface="+mn-ea"/>
                      </a:rPr>
                      <m:t>𝑗</m:t>
                    </m:r>
                    <m:r>
                      <a:rPr lang="en-US" altLang="ja-JP" i="1">
                        <a:latin typeface="Cambria Math" panose="02040503050406030204" charset="0"/>
                        <a:ea typeface="Meiryo" panose="020B0604030504040204" charset="-128"/>
                        <a:cs typeface="Cambria Math" panose="02040503050406030204" charset="0"/>
                        <a:sym typeface="+mn-ea"/>
                      </a:rPr>
                      <m:t>&lt;</m:t>
                    </m:r>
                    <m:r>
                      <a:rPr lang="en-US" altLang="ja-JP" i="1">
                        <a:latin typeface="Cambria Math" panose="02040503050406030204" charset="0"/>
                        <a:ea typeface="Meiryo" panose="020B0604030504040204" charset="-128"/>
                        <a:cs typeface="Cambria Math" panose="02040503050406030204" charset="0"/>
                        <a:sym typeface="+mn-ea"/>
                      </a:rPr>
                      <m:t>𝑖−</m:t>
                    </m:r>
                    <m:r>
                      <a:rPr lang="en-US" altLang="ja-JP" i="1">
                        <a:latin typeface="Cambria Math" panose="02040503050406030204" charset="0"/>
                        <a:ea typeface="Meiryo" panose="020B0604030504040204" charset="-128"/>
                        <a:cs typeface="Cambria Math" panose="02040503050406030204" charset="0"/>
                        <a:sym typeface="+mn-ea"/>
                      </a:rPr>
                      <m:t>1</m:t>
                    </m:r>
                  </m:oMath>
                </a14:m>
                <a:endParaRPr lang="en-US" altLang="ja-JP">
                  <a:latin typeface="Meiryo" panose="020B0604030504040204" charset="-128"/>
                  <a:ea typeface="Meiryo" panose="020B0604030504040204" charset="-128"/>
                  <a:sym typeface="+mn-ea"/>
                </a:endParaRPr>
              </a:p>
              <a:p>
                <a:pPr marL="285750" lvl="0" indent="-285750" fontAlgn="auto">
                  <a:lnSpc>
                    <a:spcPct val="125000"/>
                  </a:lnSpc>
                  <a:buFont typeface="Arial" panose="020B0604020202090204" pitchFamily="34" charset="0"/>
                  <a:buChar char="•"/>
                </a:pPr>
                <a:r>
                  <a:rPr lang="en-US" altLang="ja-JP">
                    <a:latin typeface="Meiryo" panose="020B0604030504040204" charset="-128"/>
                    <a:ea typeface="Meiryo" panose="020B0604030504040204" charset="-128"/>
                    <a:sym typeface="+mn-ea"/>
                  </a:rPr>
                  <a:t>DenseNet</a:t>
                </a:r>
                <a:r>
                  <a:rPr lang="ja-JP" altLang="en-US">
                    <a:latin typeface="Meiryo" panose="020B0604030504040204" charset="-128"/>
                    <a:ea typeface="Meiryo" panose="020B0604030504040204" charset="-128"/>
                    <a:sym typeface="+mn-ea"/>
                  </a:rPr>
                  <a:t>　</a:t>
                </a:r>
                <a14:m>
                  <m:oMath xmlns:m="http://schemas.openxmlformats.org/officeDocument/2006/math">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𝑔</m:t>
                        </m:r>
                      </m:e>
                      <m:sub>
                        <m:r>
                          <a:rPr lang="en-US" altLang="ja-JP" i="1">
                            <a:latin typeface="Cambria Math" panose="02040503050406030204" charset="0"/>
                            <a:ea typeface="Meiryo" panose="020B0604030504040204" charset="-128"/>
                            <a:cs typeface="Cambria Math" panose="02040503050406030204" charset="0"/>
                            <a:sym typeface="+mn-ea"/>
                          </a:rPr>
                          <m:t>𝑖</m:t>
                        </m:r>
                      </m:sub>
                    </m:sSub>
                    <m:r>
                      <a:rPr lang="en-US" altLang="ja-JP" i="1">
                        <a:latin typeface="Cambria Math" panose="02040503050406030204" charset="0"/>
                        <a:ea typeface="Meiryo" panose="020B0604030504040204" charset="-128"/>
                        <a:cs typeface="Cambria Math" panose="02040503050406030204" charset="0"/>
                        <a:sym typeface="+mn-ea"/>
                      </a:rPr>
                      <m:t>=</m:t>
                    </m:r>
                    <m:sSubSup>
                      <m:sSubSupPr>
                        <m:ctrlPr>
                          <a:rPr lang="en-US" altLang="ja-JP" i="1">
                            <a:latin typeface="Cambria Math" panose="02040503050406030204" charset="0"/>
                            <a:ea typeface="Meiryo" panose="020B0604030504040204" charset="-128"/>
                            <a:cs typeface="Cambria Math" panose="02040503050406030204" charset="0"/>
                            <a:sym typeface="+mn-ea"/>
                          </a:rPr>
                        </m:ctrlPr>
                      </m:sSubSupPr>
                      <m:e>
                        <m:r>
                          <a:rPr lang="en-US" altLang="ja-JP" i="1">
                            <a:latin typeface="Cambria Math" panose="02040503050406030204" charset="0"/>
                            <a:ea typeface="Meiryo" panose="020B0604030504040204" charset="-128"/>
                            <a:cs typeface="Cambria Math" panose="02040503050406030204" charset="0"/>
                            <a:sym typeface="+mn-ea"/>
                          </a:rPr>
                          <m:t>𝑐𝑜𝑛𝑐𝑎𝑡</m:t>
                        </m:r>
                        <m:r>
                          <a:rPr lang="en-US" altLang="ja-JP" i="1">
                            <a:latin typeface="Cambria Math" panose="02040503050406030204" charset="0"/>
                            <a:ea typeface="Meiryo" panose="020B0604030504040204" charset="-128"/>
                            <a:cs typeface="Cambria Math" panose="02040503050406030204" charset="0"/>
                            <a:sym typeface="+mn-ea"/>
                          </a:rPr>
                          <m:t>(</m:t>
                        </m:r>
                        <m:r>
                          <a:rPr lang="en-US" altLang="ja-JP" i="1">
                            <a:latin typeface="Cambria Math" panose="02040503050406030204" charset="0"/>
                            <a:ea typeface="Meiryo" panose="020B0604030504040204" charset="-128"/>
                            <a:cs typeface="Cambria Math" panose="02040503050406030204" charset="0"/>
                            <a:sym typeface="+mn-ea"/>
                          </a:rPr>
                          <m:t>𝐿</m:t>
                        </m:r>
                      </m:e>
                      <m:sub>
                        <m:r>
                          <a:rPr lang="en-US" altLang="ja-JP" i="1">
                            <a:latin typeface="Cambria Math" panose="02040503050406030204" charset="0"/>
                            <a:ea typeface="Meiryo" panose="020B0604030504040204" charset="-128"/>
                            <a:cs typeface="Cambria Math" panose="02040503050406030204" charset="0"/>
                            <a:sym typeface="+mn-ea"/>
                          </a:rPr>
                          <m:t>𝑖</m:t>
                        </m:r>
                        <m:r>
                          <a:rPr lang="en-US" altLang="ja-JP" i="1">
                            <a:latin typeface="Cambria Math" panose="02040503050406030204" charset="0"/>
                            <a:ea typeface="Meiryo" panose="020B0604030504040204" charset="-128"/>
                            <a:cs typeface="Cambria Math" panose="02040503050406030204" charset="0"/>
                            <a:sym typeface="+mn-ea"/>
                          </a:rPr>
                          <m:t>−</m:t>
                        </m:r>
                        <m:r>
                          <a:rPr lang="en-US" altLang="ja-JP" i="1">
                            <a:latin typeface="Cambria Math" panose="02040503050406030204" charset="0"/>
                            <a:ea typeface="Meiryo" panose="020B0604030504040204" charset="-128"/>
                            <a:cs typeface="Cambria Math" panose="02040503050406030204" charset="0"/>
                            <a:sym typeface="+mn-ea"/>
                          </a:rPr>
                          <m:t>1</m:t>
                        </m:r>
                      </m:sub>
                      <m:sup>
                        <m:r>
                          <a:rPr lang="en-US" altLang="ja-JP" i="1">
                            <a:latin typeface="Cambria Math" panose="02040503050406030204" charset="0"/>
                            <a:ea typeface="Meiryo" panose="020B0604030504040204" charset="-128"/>
                            <a:cs typeface="Cambria Math" panose="02040503050406030204" charset="0"/>
                            <a:sym typeface="+mn-ea"/>
                          </a:rPr>
                          <m:t>𝑜𝑢𝑡</m:t>
                        </m:r>
                      </m:sup>
                    </m:sSubSup>
                    <m:r>
                      <a:rPr lang="en-US" altLang="ja-JP" i="1">
                        <a:latin typeface="Cambria Math" panose="02040503050406030204" charset="0"/>
                        <a:ea typeface="Meiryo" panose="020B0604030504040204" charset="-128"/>
                        <a:cs typeface="Cambria Math" panose="02040503050406030204" charset="0"/>
                        <a:sym typeface="+mn-ea"/>
                      </a:rPr>
                      <m:t>, ...,</m:t>
                    </m:r>
                    <m:sSubSup>
                      <m:sSubSupPr>
                        <m:ctrlPr>
                          <a:rPr lang="en-US" altLang="ja-JP" i="1">
                            <a:latin typeface="Cambria Math" panose="02040503050406030204" charset="0"/>
                            <a:ea typeface="Meiryo" panose="020B0604030504040204" charset="-128"/>
                            <a:cs typeface="Cambria Math" panose="02040503050406030204" charset="0"/>
                            <a:sym typeface="+mn-ea"/>
                          </a:rPr>
                        </m:ctrlPr>
                      </m:sSubSupPr>
                      <m:e>
                        <m:r>
                          <a:rPr lang="en-US" altLang="ja-JP" i="1">
                            <a:latin typeface="Cambria Math" panose="02040503050406030204" charset="0"/>
                            <a:ea typeface="Meiryo" panose="020B0604030504040204" charset="-128"/>
                            <a:cs typeface="Cambria Math" panose="02040503050406030204" charset="0"/>
                            <a:sym typeface="+mn-ea"/>
                          </a:rPr>
                          <m:t>𝐿</m:t>
                        </m:r>
                      </m:e>
                      <m:sub>
                        <m:r>
                          <a:rPr lang="en-US" altLang="ja-JP" i="1">
                            <a:latin typeface="Cambria Math" panose="02040503050406030204" charset="0"/>
                            <a:ea typeface="Meiryo" panose="020B0604030504040204" charset="-128"/>
                            <a:cs typeface="Cambria Math" panose="02040503050406030204" charset="0"/>
                            <a:sym typeface="+mn-ea"/>
                          </a:rPr>
                          <m:t>1</m:t>
                        </m:r>
                      </m:sub>
                      <m:sup>
                        <m:r>
                          <a:rPr lang="en-US" altLang="ja-JP" i="1">
                            <a:latin typeface="Cambria Math" panose="02040503050406030204" charset="0"/>
                            <a:ea typeface="Meiryo" panose="020B0604030504040204" charset="-128"/>
                            <a:cs typeface="Cambria Math" panose="02040503050406030204" charset="0"/>
                            <a:sym typeface="+mn-ea"/>
                          </a:rPr>
                          <m:t>𝑜𝑢𝑡</m:t>
                        </m:r>
                      </m:sup>
                    </m:sSubSup>
                    <m:r>
                      <a:rPr lang="en-US" altLang="ja-JP" i="1">
                        <a:latin typeface="Cambria Math" panose="02040503050406030204" charset="0"/>
                        <a:ea typeface="Meiryo" panose="020B0604030504040204" charset="-128"/>
                        <a:cs typeface="Cambria Math" panose="02040503050406030204" charset="0"/>
                        <a:sym typeface="+mn-ea"/>
                      </a:rPr>
                      <m:t>, </m:t>
                    </m:r>
                    <m:sSubSup>
                      <m:sSubSupPr>
                        <m:ctrlPr>
                          <a:rPr lang="en-US" altLang="ja-JP" i="1">
                            <a:latin typeface="Cambria Math" panose="02040503050406030204" charset="0"/>
                            <a:ea typeface="Meiryo" panose="020B0604030504040204" charset="-128"/>
                            <a:cs typeface="Cambria Math" panose="02040503050406030204" charset="0"/>
                            <a:sym typeface="+mn-ea"/>
                          </a:rPr>
                        </m:ctrlPr>
                      </m:sSubSupPr>
                      <m:e>
                        <m:r>
                          <a:rPr lang="en-US" altLang="ja-JP" i="1">
                            <a:latin typeface="Cambria Math" panose="02040503050406030204" charset="0"/>
                            <a:ea typeface="Meiryo" panose="020B0604030504040204" charset="-128"/>
                            <a:cs typeface="Cambria Math" panose="02040503050406030204" charset="0"/>
                            <a:sym typeface="+mn-ea"/>
                          </a:rPr>
                          <m:t>𝐿</m:t>
                        </m:r>
                      </m:e>
                      <m:sub>
                        <m:r>
                          <a:rPr lang="en-US" altLang="ja-JP" i="1">
                            <a:latin typeface="Cambria Math" panose="02040503050406030204" charset="0"/>
                            <a:ea typeface="Meiryo" panose="020B0604030504040204" charset="-128"/>
                            <a:cs typeface="Cambria Math" panose="02040503050406030204" charset="0"/>
                            <a:sym typeface="+mn-ea"/>
                          </a:rPr>
                          <m:t>0</m:t>
                        </m:r>
                      </m:sub>
                      <m:sup>
                        <m:r>
                          <a:rPr lang="en-US" altLang="ja-JP" i="1">
                            <a:latin typeface="Cambria Math" panose="02040503050406030204" charset="0"/>
                            <a:ea typeface="Meiryo" panose="020B0604030504040204" charset="-128"/>
                            <a:cs typeface="Cambria Math" panose="02040503050406030204" charset="0"/>
                            <a:sym typeface="+mn-ea"/>
                          </a:rPr>
                          <m:t>𝑜𝑢𝑡</m:t>
                        </m:r>
                      </m:sup>
                    </m:sSubSup>
                    <m:r>
                      <a:rPr lang="en-US" altLang="ja-JP" i="1">
                        <a:latin typeface="Cambria Math" panose="02040503050406030204" charset="0"/>
                        <a:ea typeface="Meiryo" panose="020B0604030504040204" charset="-128"/>
                        <a:cs typeface="Cambria Math" panose="02040503050406030204" charset="0"/>
                        <a:sym typeface="+mn-ea"/>
                      </a:rPr>
                      <m:t>)</m:t>
                    </m:r>
                    <m:r>
                      <a:rPr lang="en-US" altLang="ja-JP" i="1">
                        <a:latin typeface="Cambria Math" panose="02040503050406030204" charset="0"/>
                        <a:ea typeface="Meiryo" panose="020B0604030504040204" charset="-128"/>
                        <a:cs typeface="Cambria Math" panose="02040503050406030204" charset="0"/>
                        <a:sym typeface="+mn-ea"/>
                      </a:rPr>
                      <m:t> </m:t>
                    </m:r>
                  </m:oMath>
                </a14:m>
                <a:endParaRPr lang="en-US" altLang="ja-JP">
                  <a:latin typeface="Meiryo" panose="020B0604030504040204" charset="-128"/>
                  <a:ea typeface="Meiryo" panose="020B0604030504040204" charset="-128"/>
                  <a:sym typeface="+mn-ea"/>
                </a:endParaRPr>
              </a:p>
            </p:txBody>
          </p:sp>
        </mc:Choice>
        <mc:Fallback>
          <p:sp>
            <p:nvSpPr>
              <p:cNvPr id="9" name="Text Box 8"/>
              <p:cNvSpPr txBox="1">
                <a:spLocks noRot="1" noChangeAspect="1" noMove="1" noResize="1" noEditPoints="1" noAdjustHandles="1" noChangeArrowheads="1" noChangeShapeType="1" noTextEdit="1"/>
              </p:cNvSpPr>
              <p:nvPr/>
            </p:nvSpPr>
            <p:spPr>
              <a:xfrm>
                <a:off x="4615180" y="4747260"/>
                <a:ext cx="7402195" cy="1725930"/>
              </a:xfrm>
              <a:prstGeom prst="rect">
                <a:avLst/>
              </a:prstGeom>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2" name="Text Box 1"/>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rPr>
              <a:t>Search space</a:t>
            </a:r>
            <a:endParaRPr lang="en-US" sz="2800" b="1">
              <a:latin typeface="Meiryo Bold" panose="020B0604030504040204" charset="-128"/>
              <a:ea typeface="Meiryo Bold" panose="020B0604030504040204" charset="-128"/>
            </a:endParaRPr>
          </a:p>
        </p:txBody>
      </p:sp>
      <p:pic>
        <p:nvPicPr>
          <p:cNvPr id="3" name="Picture 2"/>
          <p:cNvPicPr>
            <a:picLocks noChangeAspect="1"/>
          </p:cNvPicPr>
          <p:nvPr/>
        </p:nvPicPr>
        <p:blipFill>
          <a:blip r:embed="rId1"/>
          <a:srcRect l="3302" t="3503" r="4032" b="3503"/>
          <a:stretch>
            <a:fillRect/>
          </a:stretch>
        </p:blipFill>
        <p:spPr>
          <a:xfrm>
            <a:off x="132715" y="856615"/>
            <a:ext cx="5174615" cy="4895215"/>
          </a:xfrm>
          <a:prstGeom prst="rect">
            <a:avLst/>
          </a:prstGeom>
        </p:spPr>
      </p:pic>
      <p:sp>
        <p:nvSpPr>
          <p:cNvPr id="9" name="Text Box 8"/>
          <p:cNvSpPr txBox="1"/>
          <p:nvPr/>
        </p:nvSpPr>
        <p:spPr>
          <a:xfrm>
            <a:off x="5307330" y="1033145"/>
            <a:ext cx="6742430" cy="2515235"/>
          </a:xfrm>
          <a:prstGeom prst="rect">
            <a:avLst/>
          </a:prstGeom>
          <a:noFill/>
          <a:ln>
            <a:solidFill>
              <a:schemeClr val="accent2">
                <a:lumMod val="75000"/>
              </a:schemeClr>
            </a:solidFill>
          </a:ln>
        </p:spPr>
        <p:txBody>
          <a:bodyPr wrap="square" rtlCol="0">
            <a:spAutoFit/>
          </a:bodyPr>
          <a:p>
            <a:pPr marL="285750" lvl="0" indent="-285750" fontAlgn="auto">
              <a:lnSpc>
                <a:spcPct val="125000"/>
              </a:lnSpc>
              <a:buFont typeface="Arial" panose="020B0604020202090204" pitchFamily="34" charset="0"/>
              <a:buChar char="•"/>
            </a:pPr>
            <a:r>
              <a:rPr lang="en-US">
                <a:latin typeface="Meiryo" panose="020B0604030504040204" charset="-128"/>
                <a:ea typeface="Meiryo" panose="020B0604030504040204" charset="-128"/>
                <a:sym typeface="+mn-ea"/>
              </a:rPr>
              <a:t>NN</a:t>
            </a:r>
            <a:r>
              <a:rPr lang="ja-JP" altLang="en-US">
                <a:latin typeface="Meiryo" panose="020B0604030504040204" charset="-128"/>
                <a:ea typeface="Meiryo" panose="020B0604030504040204" charset="-128"/>
                <a:sym typeface="+mn-ea"/>
              </a:rPr>
              <a:t>全体ではなく、繰り返し現れる</a:t>
            </a:r>
            <a:r>
              <a:rPr lang="en-US" altLang="ja-JP">
                <a:latin typeface="Meiryo" panose="020B0604030504040204" charset="-128"/>
                <a:ea typeface="Meiryo" panose="020B0604030504040204" charset="-128"/>
                <a:sym typeface="+mn-ea"/>
              </a:rPr>
              <a:t>Cell(</a:t>
            </a:r>
            <a:r>
              <a:rPr lang="ja-JP" altLang="en-US">
                <a:latin typeface="Meiryo" panose="020B0604030504040204" charset="-128"/>
                <a:ea typeface="Meiryo" panose="020B0604030504040204" charset="-128"/>
                <a:sym typeface="+mn-ea"/>
              </a:rPr>
              <a:t>または</a:t>
            </a:r>
            <a:r>
              <a:rPr lang="en-US" altLang="ja-JP">
                <a:latin typeface="Meiryo" panose="020B0604030504040204" charset="-128"/>
                <a:ea typeface="Meiryo" panose="020B0604030504040204" charset="-128"/>
                <a:sym typeface="+mn-ea"/>
              </a:rPr>
              <a:t>Block)</a:t>
            </a:r>
            <a:r>
              <a:rPr lang="ja-JP" altLang="en-US">
                <a:latin typeface="Meiryo" panose="020B0604030504040204" charset="-128"/>
                <a:ea typeface="Meiryo" panose="020B0604030504040204" charset="-128"/>
                <a:sym typeface="+mn-ea"/>
              </a:rPr>
              <a:t>と呼ばれる単位構造を最適化し、それを積み重ねて全体の</a:t>
            </a:r>
            <a:r>
              <a:rPr lang="en-US" altLang="ja-JP">
                <a:latin typeface="Meiryo" panose="020B0604030504040204" charset="-128"/>
                <a:ea typeface="Meiryo" panose="020B0604030504040204" charset="-128"/>
                <a:sym typeface="+mn-ea"/>
              </a:rPr>
              <a:t>NN</a:t>
            </a:r>
            <a:r>
              <a:rPr lang="ja-JP" altLang="en-US">
                <a:latin typeface="Meiryo" panose="020B0604030504040204" charset="-128"/>
                <a:ea typeface="Meiryo" panose="020B0604030504040204" charset="-128"/>
                <a:sym typeface="+mn-ea"/>
              </a:rPr>
              <a:t>を構成するアプローチ。</a:t>
            </a:r>
            <a:r>
              <a:rPr lang="en-US" altLang="ja-JP">
                <a:latin typeface="Meiryo" panose="020B0604030504040204" charset="-128"/>
                <a:ea typeface="Meiryo" panose="020B0604030504040204" charset="-128"/>
                <a:sym typeface="+mn-ea"/>
              </a:rPr>
              <a:t>(Zoph et al. 2018, Zhong et al. 2018a)</a:t>
            </a:r>
            <a:endParaRPr lang="en-US" altLang="ja-JP">
              <a:latin typeface="Meiryo" panose="020B0604030504040204" charset="-128"/>
              <a:ea typeface="Meiryo" panose="020B0604030504040204" charset="-128"/>
              <a:sym typeface="+mn-ea"/>
            </a:endParaRPr>
          </a:p>
          <a:p>
            <a:pPr marL="285750" lvl="0" indent="-285750" fontAlgn="auto">
              <a:lnSpc>
                <a:spcPct val="125000"/>
              </a:lnSpc>
              <a:buFont typeface="Arial" panose="020B0604020202090204" pitchFamily="34" charset="0"/>
              <a:buChar char="•"/>
            </a:pPr>
            <a:r>
              <a:rPr lang="en-US" altLang="ja-JP">
                <a:latin typeface="Meiryo" panose="020B0604030504040204" charset="-128"/>
                <a:ea typeface="Meiryo" panose="020B0604030504040204" charset="-128"/>
                <a:sym typeface="+mn-ea"/>
              </a:rPr>
              <a:t>Zoph et al. 2018</a:t>
            </a:r>
            <a:r>
              <a:rPr lang="ja-JP" altLang="en-US">
                <a:latin typeface="Meiryo" panose="020B0604030504040204" charset="-128"/>
                <a:ea typeface="Meiryo" panose="020B0604030504040204" charset="-128"/>
                <a:sym typeface="+mn-ea"/>
              </a:rPr>
              <a:t>は </a:t>
            </a:r>
            <a:r>
              <a:rPr lang="en-US" altLang="ja-JP">
                <a:latin typeface="Meiryo" panose="020B0604030504040204" charset="-128"/>
                <a:ea typeface="Meiryo" panose="020B0604030504040204" charset="-128"/>
                <a:sym typeface="+mn-ea"/>
              </a:rPr>
              <a:t>Normal Cell </a:t>
            </a:r>
            <a:r>
              <a:rPr lang="ja-JP" altLang="en-US">
                <a:latin typeface="Meiryo" panose="020B0604030504040204" charset="-128"/>
                <a:ea typeface="Meiryo" panose="020B0604030504040204" charset="-128"/>
                <a:sym typeface="+mn-ea"/>
              </a:rPr>
              <a:t>と</a:t>
            </a:r>
            <a:r>
              <a:rPr lang="en-US" altLang="ja-JP">
                <a:latin typeface="Meiryo" panose="020B0604030504040204" charset="-128"/>
                <a:ea typeface="Meiryo" panose="020B0604030504040204" charset="-128"/>
                <a:sym typeface="+mn-ea"/>
              </a:rPr>
              <a:t>Reduction Cell </a:t>
            </a:r>
            <a:r>
              <a:rPr lang="ja-JP" altLang="en-US">
                <a:latin typeface="Meiryo" panose="020B0604030504040204" charset="-128"/>
                <a:ea typeface="Meiryo" panose="020B0604030504040204" charset="-128"/>
                <a:sym typeface="+mn-ea"/>
              </a:rPr>
              <a:t>という</a:t>
            </a:r>
            <a:r>
              <a:rPr lang="en-US" altLang="ja-JP">
                <a:latin typeface="Meiryo" panose="020B0604030504040204" charset="-128"/>
                <a:ea typeface="Meiryo" panose="020B0604030504040204" charset="-128"/>
                <a:sym typeface="+mn-ea"/>
              </a:rPr>
              <a:t>2</a:t>
            </a:r>
            <a:r>
              <a:rPr lang="ja-JP" altLang="en-US">
                <a:latin typeface="Meiryo" panose="020B0604030504040204" charset="-128"/>
                <a:ea typeface="Meiryo" panose="020B0604030504040204" charset="-128"/>
                <a:sym typeface="+mn-ea"/>
              </a:rPr>
              <a:t>種類の </a:t>
            </a:r>
            <a:r>
              <a:rPr lang="en-US" altLang="ja-JP">
                <a:latin typeface="Meiryo" panose="020B0604030504040204" charset="-128"/>
                <a:ea typeface="Meiryo" panose="020B0604030504040204" charset="-128"/>
                <a:sym typeface="+mn-ea"/>
              </a:rPr>
              <a:t>Cell </a:t>
            </a:r>
            <a:r>
              <a:rPr lang="ja-JP" altLang="en-US">
                <a:latin typeface="Meiryo" panose="020B0604030504040204" charset="-128"/>
                <a:ea typeface="Meiryo" panose="020B0604030504040204" charset="-128"/>
                <a:sym typeface="+mn-ea"/>
              </a:rPr>
              <a:t>を最適化した。</a:t>
            </a:r>
            <a:r>
              <a:rPr lang="en-US" altLang="ja-JP">
                <a:latin typeface="Meiryo" panose="020B0604030504040204" charset="-128"/>
                <a:ea typeface="Meiryo" panose="020B0604030504040204" charset="-128"/>
                <a:sym typeface="+mn-ea"/>
              </a:rPr>
              <a:t>Normal Cell </a:t>
            </a:r>
            <a:r>
              <a:rPr lang="ja-JP" altLang="en-US">
                <a:latin typeface="Meiryo" panose="020B0604030504040204" charset="-128"/>
                <a:ea typeface="Meiryo" panose="020B0604030504040204" charset="-128"/>
                <a:sym typeface="+mn-ea"/>
              </a:rPr>
              <a:t>はインプットの次元を保持し、</a:t>
            </a:r>
            <a:r>
              <a:rPr lang="en-US" altLang="ja-JP">
                <a:latin typeface="Meiryo" panose="020B0604030504040204" charset="-128"/>
                <a:ea typeface="Meiryo" panose="020B0604030504040204" charset="-128"/>
                <a:sym typeface="+mn-ea"/>
              </a:rPr>
              <a:t>Reduction Cell </a:t>
            </a:r>
            <a:r>
              <a:rPr lang="ja-JP" altLang="en-US">
                <a:latin typeface="Meiryo" panose="020B0604030504040204" charset="-128"/>
                <a:ea typeface="Meiryo" panose="020B0604030504040204" charset="-128"/>
                <a:sym typeface="+mn-ea"/>
              </a:rPr>
              <a:t>は次元を削減する。</a:t>
            </a:r>
            <a:endParaRPr lang="ja-JP" altLang="en-US">
              <a:latin typeface="Meiryo" panose="020B0604030504040204" charset="-128"/>
              <a:ea typeface="Meiryo" panose="020B0604030504040204" charset="-128"/>
              <a:sym typeface="+mn-ea"/>
            </a:endParaRPr>
          </a:p>
        </p:txBody>
      </p:sp>
      <p:sp>
        <p:nvSpPr>
          <p:cNvPr id="8" name="Text Box 7"/>
          <p:cNvSpPr txBox="1"/>
          <p:nvPr/>
        </p:nvSpPr>
        <p:spPr>
          <a:xfrm>
            <a:off x="132715" y="5751830"/>
            <a:ext cx="5174615" cy="783590"/>
          </a:xfrm>
          <a:prstGeom prst="rect">
            <a:avLst/>
          </a:prstGeom>
          <a:noFill/>
        </p:spPr>
        <p:txBody>
          <a:bodyPr wrap="square" rtlCol="0">
            <a:spAutoFit/>
          </a:bodyPr>
          <a:p>
            <a:pPr lvl="0" indent="0" fontAlgn="auto">
              <a:lnSpc>
                <a:spcPct val="125000"/>
              </a:lnSpc>
              <a:buFont typeface="Arial" panose="020B0604020202090204" pitchFamily="34" charset="0"/>
              <a:buNone/>
            </a:pPr>
            <a:r>
              <a:rPr lang="en-US" altLang="ja-JP">
                <a:latin typeface="Meiryo" panose="020B0604030504040204" charset="-128"/>
                <a:ea typeface="Meiryo" panose="020B0604030504040204" charset="-128"/>
                <a:sym typeface="+mn-ea"/>
              </a:rPr>
              <a:t>Normal Cell (</a:t>
            </a:r>
            <a:r>
              <a:rPr lang="ja-JP" altLang="en-US">
                <a:latin typeface="Meiryo" panose="020B0604030504040204" charset="-128"/>
                <a:ea typeface="Meiryo" panose="020B0604030504040204" charset="-128"/>
                <a:sym typeface="+mn-ea"/>
              </a:rPr>
              <a:t>左上</a:t>
            </a:r>
            <a:r>
              <a:rPr lang="en-US" altLang="ja-JP">
                <a:latin typeface="Meiryo" panose="020B0604030504040204" charset="-128"/>
                <a:ea typeface="Meiryo" panose="020B0604030504040204" charset="-128"/>
                <a:sym typeface="+mn-ea"/>
              </a:rPr>
              <a:t>)</a:t>
            </a:r>
            <a:r>
              <a:rPr lang="ja-JP" altLang="en-US">
                <a:latin typeface="Meiryo" panose="020B0604030504040204" charset="-128"/>
                <a:ea typeface="Meiryo" panose="020B0604030504040204" charset="-128"/>
                <a:sym typeface="+mn-ea"/>
              </a:rPr>
              <a:t>、</a:t>
            </a:r>
            <a:r>
              <a:rPr lang="en-US" altLang="ja-JP">
                <a:latin typeface="Meiryo" panose="020B0604030504040204" charset="-128"/>
                <a:ea typeface="Meiryo" panose="020B0604030504040204" charset="-128"/>
                <a:sym typeface="+mn-ea"/>
              </a:rPr>
              <a:t>Reduction Cell (</a:t>
            </a:r>
            <a:r>
              <a:rPr lang="ja-JP" altLang="en-US">
                <a:latin typeface="Meiryo" panose="020B0604030504040204" charset="-128"/>
                <a:ea typeface="Meiryo" panose="020B0604030504040204" charset="-128"/>
                <a:sym typeface="+mn-ea"/>
              </a:rPr>
              <a:t>左下</a:t>
            </a:r>
            <a:r>
              <a:rPr lang="en-US" altLang="ja-JP">
                <a:latin typeface="Meiryo" panose="020B0604030504040204" charset="-128"/>
                <a:ea typeface="Meiryo" panose="020B0604030504040204" charset="-128"/>
                <a:sym typeface="+mn-ea"/>
              </a:rPr>
              <a:t>)</a:t>
            </a:r>
            <a:endParaRPr lang="en-US" altLang="ja-JP">
              <a:latin typeface="Meiryo" panose="020B0604030504040204" charset="-128"/>
              <a:ea typeface="Meiryo" panose="020B0604030504040204" charset="-128"/>
              <a:sym typeface="+mn-ea"/>
            </a:endParaRPr>
          </a:p>
          <a:p>
            <a:pPr lvl="0" indent="0" fontAlgn="auto">
              <a:lnSpc>
                <a:spcPct val="125000"/>
              </a:lnSpc>
              <a:buFont typeface="Arial" panose="020B0604020202090204" pitchFamily="34" charset="0"/>
              <a:buNone/>
            </a:pPr>
            <a:r>
              <a:rPr lang="en-US" altLang="ja-JP">
                <a:latin typeface="Meiryo" panose="020B0604030504040204" charset="-128"/>
                <a:ea typeface="Meiryo" panose="020B0604030504040204" charset="-128"/>
                <a:sym typeface="+mn-ea"/>
              </a:rPr>
              <a:t>CellからなるNN (</a:t>
            </a:r>
            <a:r>
              <a:rPr lang="ja-JP" altLang="en-US">
                <a:latin typeface="Meiryo" panose="020B0604030504040204" charset="-128"/>
                <a:ea typeface="Meiryo" panose="020B0604030504040204" charset="-128"/>
                <a:sym typeface="+mn-ea"/>
              </a:rPr>
              <a:t>右</a:t>
            </a:r>
            <a:r>
              <a:rPr lang="en-US" altLang="ja-JP">
                <a:latin typeface="Meiryo" panose="020B0604030504040204" charset="-128"/>
                <a:ea typeface="Meiryo" panose="020B0604030504040204" charset="-128"/>
                <a:sym typeface="+mn-ea"/>
              </a:rPr>
              <a:t>)</a:t>
            </a:r>
            <a:endParaRPr lang="en-US" altLang="ja-JP">
              <a:latin typeface="Meiryo" panose="020B0604030504040204" charset="-128"/>
              <a:ea typeface="Meiryo" panose="020B0604030504040204" charset="-128"/>
              <a:sym typeface="+mn-ea"/>
            </a:endParaRPr>
          </a:p>
        </p:txBody>
      </p:sp>
      <p:sp>
        <p:nvSpPr>
          <p:cNvPr id="10" name="Text Box 9"/>
          <p:cNvSpPr txBox="1"/>
          <p:nvPr/>
        </p:nvSpPr>
        <p:spPr>
          <a:xfrm>
            <a:off x="5307330" y="3754755"/>
            <a:ext cx="6742430" cy="2284095"/>
          </a:xfrm>
          <a:prstGeom prst="rect">
            <a:avLst/>
          </a:prstGeom>
          <a:noFill/>
        </p:spPr>
        <p:txBody>
          <a:bodyPr wrap="square" rtlCol="0" anchor="t">
            <a:spAutoFit/>
          </a:bodyPr>
          <a:p>
            <a:pPr fontAlgn="auto">
              <a:lnSpc>
                <a:spcPct val="125000"/>
              </a:lnSpc>
            </a:pPr>
            <a:r>
              <a:rPr lang="en-US" sz="2000" b="1">
                <a:latin typeface="Meiryo Bold" panose="020B0604030504040204" charset="-128"/>
                <a:ea typeface="Meiryo Bold" panose="020B0604030504040204" charset="-128"/>
                <a:cs typeface="Meiryo Bold" panose="020B0604030504040204" charset="-128"/>
              </a:rPr>
              <a:t>Cell</a:t>
            </a:r>
            <a:r>
              <a:rPr lang="ja-JP" altLang="en-US" sz="2000" b="1">
                <a:latin typeface="Meiryo Bold" panose="020B0604030504040204" charset="-128"/>
                <a:ea typeface="Meiryo Bold" panose="020B0604030504040204" charset="-128"/>
                <a:cs typeface="Meiryo Bold" panose="020B0604030504040204" charset="-128"/>
              </a:rPr>
              <a:t>を用いた手法のメリット</a:t>
            </a:r>
            <a:endParaRPr lang="ja-JP" altLang="en-US">
              <a:latin typeface="Meiryo Regular" panose="020B0604030504040204" charset="-128"/>
              <a:ea typeface="Meiryo Regular" panose="020B0604030504040204" charset="-128"/>
              <a:cs typeface="Meiryo Regular" panose="020B0604030504040204" charset="-128"/>
            </a:endParaRPr>
          </a:p>
          <a:p>
            <a:pPr marL="285750" indent="-285750" fontAlgn="auto">
              <a:lnSpc>
                <a:spcPct val="125000"/>
              </a:lnSpc>
              <a:buFont typeface="Arial" panose="020B0604020202090204" pitchFamily="34" charset="0"/>
              <a:buChar char="•"/>
            </a:pPr>
            <a:r>
              <a:rPr lang="ja-JP" altLang="en-US" sz="2000" b="1">
                <a:latin typeface="Meiryo Bold" panose="020B0604030504040204" charset="-128"/>
                <a:ea typeface="Meiryo Bold" panose="020B0604030504040204" charset="-128"/>
                <a:cs typeface="Meiryo Regular" panose="020B0604030504040204" charset="-128"/>
              </a:rPr>
              <a:t>探索空間のサイズが大幅に削減できる</a:t>
            </a:r>
            <a:endParaRPr lang="ja-JP" altLang="en-US">
              <a:latin typeface="Meiryo Regular" panose="020B0604030504040204" charset="-128"/>
              <a:ea typeface="Meiryo Regular" panose="020B0604030504040204" charset="-128"/>
              <a:cs typeface="Meiryo Regular" panose="020B0604030504040204" charset="-128"/>
            </a:endParaRPr>
          </a:p>
          <a:p>
            <a:pPr lvl="1" indent="0" fontAlgn="auto">
              <a:lnSpc>
                <a:spcPct val="125000"/>
              </a:lnSpc>
              <a:buFont typeface="Arial" panose="020B0604020202090204" pitchFamily="34" charset="0"/>
              <a:buNone/>
            </a:pPr>
            <a:r>
              <a:rPr lang="en-US" altLang="ja-JP">
                <a:latin typeface="Meiryo Regular" panose="020B0604030504040204" charset="-128"/>
                <a:ea typeface="Meiryo Regular" panose="020B0604030504040204" charset="-128"/>
                <a:cs typeface="Meiryo Regular" panose="020B0604030504040204" charset="-128"/>
              </a:rPr>
              <a:t>7</a:t>
            </a:r>
            <a:r>
              <a:rPr lang="ja-JP" altLang="en-US">
                <a:latin typeface="Meiryo Regular" panose="020B0604030504040204" charset="-128"/>
                <a:ea typeface="Meiryo Regular" panose="020B0604030504040204" charset="-128"/>
                <a:cs typeface="Meiryo Regular" panose="020B0604030504040204" charset="-128"/>
              </a:rPr>
              <a:t>倍以上高速になる割りに、パフォーマンスが良い。</a:t>
            </a:r>
            <a:endParaRPr lang="ja-JP" altLang="en-US">
              <a:latin typeface="Meiryo Regular" panose="020B0604030504040204" charset="-128"/>
              <a:ea typeface="Meiryo Regular" panose="020B0604030504040204" charset="-128"/>
              <a:cs typeface="Meiryo Regular" panose="020B0604030504040204" charset="-128"/>
            </a:endParaRPr>
          </a:p>
          <a:p>
            <a:pPr marL="285750" lvl="0" indent="-285750" fontAlgn="auto">
              <a:lnSpc>
                <a:spcPct val="125000"/>
              </a:lnSpc>
              <a:buFont typeface="Arial" panose="020B0604020202090204" pitchFamily="34" charset="0"/>
              <a:buChar char="•"/>
            </a:pPr>
            <a:r>
              <a:rPr lang="ja-JP" altLang="en-US" sz="2000" b="1">
                <a:latin typeface="Meiryo Bold" panose="020B0604030504040204" charset="-128"/>
                <a:ea typeface="Meiryo Bold" panose="020B0604030504040204" charset="-128"/>
                <a:cs typeface="Meiryo Regular" panose="020B0604030504040204" charset="-128"/>
              </a:rPr>
              <a:t>他のデータセットに対するモデルの適合が簡単</a:t>
            </a:r>
            <a:endParaRPr lang="ja-JP" altLang="en-US" sz="2000" b="1">
              <a:latin typeface="Meiryo Bold" panose="020B0604030504040204" charset="-128"/>
              <a:ea typeface="Meiryo Bold" panose="020B0604030504040204" charset="-128"/>
              <a:cs typeface="Meiryo Regular" panose="020B0604030504040204" charset="-128"/>
            </a:endParaRPr>
          </a:p>
          <a:p>
            <a:pPr lvl="1" indent="0" fontAlgn="auto">
              <a:lnSpc>
                <a:spcPct val="125000"/>
              </a:lnSpc>
              <a:buFont typeface="Arial" panose="020B0604020202090204" pitchFamily="34" charset="0"/>
              <a:buNone/>
            </a:pPr>
            <a:r>
              <a:rPr lang="en-US" altLang="ja-JP">
                <a:latin typeface="Meiryo" panose="020B0604030504040204" charset="-128"/>
                <a:ea typeface="Meiryo" panose="020B0604030504040204" charset="-128"/>
                <a:cs typeface="Meiryo" panose="020B0604030504040204" charset="-128"/>
              </a:rPr>
              <a:t>NN</a:t>
            </a:r>
            <a:r>
              <a:rPr lang="ja-JP" altLang="en-US">
                <a:latin typeface="Meiryo" panose="020B0604030504040204" charset="-128"/>
                <a:ea typeface="Meiryo" panose="020B0604030504040204" charset="-128"/>
                <a:cs typeface="Meiryo" panose="020B0604030504040204" charset="-128"/>
              </a:rPr>
              <a:t>のセル数、フィルタ数を変えることで、他のデータセットに簡単に転用することができる。</a:t>
            </a:r>
            <a:endParaRPr lang="ja-JP" altLang="en-US">
              <a:latin typeface="Meiryo" panose="020B0604030504040204" charset="-128"/>
              <a:ea typeface="Meiryo" panose="020B0604030504040204" charset="-128"/>
              <a:cs typeface="Meiryo" panose="020B060403050404020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11" name="Text Box 10"/>
          <p:cNvSpPr txBox="1"/>
          <p:nvPr/>
        </p:nvSpPr>
        <p:spPr>
          <a:xfrm>
            <a:off x="144780" y="3818890"/>
            <a:ext cx="7018020" cy="2784475"/>
          </a:xfrm>
          <a:prstGeom prst="rect">
            <a:avLst/>
          </a:prstGeom>
          <a:noFill/>
        </p:spPr>
        <p:txBody>
          <a:bodyPr wrap="square" rtlCol="0" anchor="t">
            <a:spAutoFit/>
          </a:bodyPr>
          <a:p>
            <a:pPr marL="285750" indent="-285750" fontAlgn="auto">
              <a:lnSpc>
                <a:spcPct val="125000"/>
              </a:lnSpc>
              <a:buFont typeface="Arial" panose="020B0604020202090204" pitchFamily="34" charset="0"/>
              <a:buChar char="•"/>
            </a:pPr>
            <a:r>
              <a:rPr lang="en-US" altLang="ja-JP" sz="2000">
                <a:latin typeface="Meiryo Regular" panose="020B0604030504040204" charset="-128"/>
                <a:ea typeface="Meiryo Regular" panose="020B0604030504040204" charset="-128"/>
                <a:cs typeface="Meiryo Regular" panose="020B0604030504040204" charset="-128"/>
              </a:rPr>
              <a:t>Cell</a:t>
            </a:r>
            <a:r>
              <a:rPr lang="ja-JP" altLang="en-US" sz="2000">
                <a:latin typeface="Meiryo Regular" panose="020B0604030504040204" charset="-128"/>
                <a:ea typeface="Meiryo Regular" panose="020B0604030504040204" charset="-128"/>
                <a:cs typeface="Meiryo Regular" panose="020B0604030504040204" charset="-128"/>
              </a:rPr>
              <a:t>ベースの探索では「いくつの</a:t>
            </a:r>
            <a:r>
              <a:rPr lang="en-US" altLang="ja-JP" sz="2000">
                <a:latin typeface="Meiryo Regular" panose="020B0604030504040204" charset="-128"/>
                <a:ea typeface="Meiryo Regular" panose="020B0604030504040204" charset="-128"/>
                <a:cs typeface="Meiryo Regular" panose="020B0604030504040204" charset="-128"/>
              </a:rPr>
              <a:t>Cell</a:t>
            </a:r>
            <a:r>
              <a:rPr lang="ja-JP" altLang="en-US" sz="2000">
                <a:latin typeface="Meiryo Regular" panose="020B0604030504040204" charset="-128"/>
                <a:ea typeface="Meiryo Regular" panose="020B0604030504040204" charset="-128"/>
                <a:cs typeface="Meiryo Regular" panose="020B0604030504040204" charset="-128"/>
              </a:rPr>
              <a:t>が、どのように繋がって全体の</a:t>
            </a:r>
            <a:r>
              <a:rPr lang="en-US" altLang="ja-JP" sz="2000">
                <a:latin typeface="Meiryo Regular" panose="020B0604030504040204" charset="-128"/>
                <a:ea typeface="Meiryo Regular" panose="020B0604030504040204" charset="-128"/>
                <a:cs typeface="Meiryo Regular" panose="020B0604030504040204" charset="-128"/>
              </a:rPr>
              <a:t>NN</a:t>
            </a:r>
            <a:r>
              <a:rPr lang="ja-JP" altLang="en-US" sz="2000">
                <a:latin typeface="Meiryo Regular" panose="020B0604030504040204" charset="-128"/>
                <a:ea typeface="Meiryo Regular" panose="020B0604030504040204" charset="-128"/>
                <a:cs typeface="Meiryo Regular" panose="020B0604030504040204" charset="-128"/>
              </a:rPr>
              <a:t>を構成するか」を決める必要がある</a:t>
            </a:r>
            <a:r>
              <a:rPr lang="en-US" altLang="ja-JP" sz="2000">
                <a:latin typeface="Meiryo Regular" panose="020B0604030504040204" charset="-128"/>
                <a:ea typeface="Meiryo Regular" panose="020B0604030504040204" charset="-128"/>
                <a:cs typeface="Meiryo Regular" panose="020B0604030504040204" charset="-128"/>
              </a:rPr>
              <a:t>(Meta-architecture)</a:t>
            </a:r>
            <a:r>
              <a:rPr lang="ja-JP" altLang="en-US" sz="2000">
                <a:latin typeface="Meiryo Regular" panose="020B0604030504040204" charset="-128"/>
                <a:ea typeface="Meiryo Regular" panose="020B0604030504040204" charset="-128"/>
                <a:cs typeface="Meiryo Regular" panose="020B0604030504040204" charset="-128"/>
              </a:rPr>
              <a:t>。</a:t>
            </a:r>
            <a:endParaRPr lang="ja-JP" altLang="en-US" sz="2000">
              <a:latin typeface="Meiryo Regular" panose="020B0604030504040204" charset="-128"/>
              <a:ea typeface="Meiryo Regular" panose="020B0604030504040204" charset="-128"/>
              <a:cs typeface="Meiryo Regular" panose="020B0604030504040204" charset="-128"/>
            </a:endParaRPr>
          </a:p>
          <a:p>
            <a:pPr marL="285750" indent="-285750" fontAlgn="auto">
              <a:lnSpc>
                <a:spcPct val="125000"/>
              </a:lnSpc>
              <a:buFont typeface="Arial" panose="020B0604020202090204" pitchFamily="34" charset="0"/>
              <a:buChar char="•"/>
            </a:pPr>
            <a:r>
              <a:rPr lang="ja-JP" altLang="en-US" sz="2000">
                <a:latin typeface="Meiryo Regular" panose="020B0604030504040204" charset="-128"/>
                <a:ea typeface="Meiryo Regular" panose="020B0604030504040204" charset="-128"/>
                <a:cs typeface="Meiryo Regular" panose="020B0604030504040204" charset="-128"/>
              </a:rPr>
              <a:t>基本的に</a:t>
            </a:r>
            <a:r>
              <a:rPr lang="en-US" altLang="ja-JP" sz="2000">
                <a:latin typeface="Meiryo Regular" panose="020B0604030504040204" charset="-128"/>
                <a:ea typeface="Meiryo Regular" panose="020B0604030504040204" charset="-128"/>
                <a:cs typeface="Meiryo Regular" panose="020B0604030504040204" charset="-128"/>
              </a:rPr>
              <a:t>NN</a:t>
            </a:r>
            <a:r>
              <a:rPr lang="ja-JP" altLang="en-US" sz="2000">
                <a:latin typeface="Meiryo Regular" panose="020B0604030504040204" charset="-128"/>
                <a:ea typeface="Meiryo Regular" panose="020B0604030504040204" charset="-128"/>
                <a:cs typeface="Meiryo Regular" panose="020B0604030504040204" charset="-128"/>
              </a:rPr>
              <a:t>内では</a:t>
            </a:r>
            <a:r>
              <a:rPr lang="en-US" altLang="ja-JP" sz="2000">
                <a:latin typeface="Meiryo Regular" panose="020B0604030504040204" charset="-128"/>
                <a:ea typeface="Meiryo Regular" panose="020B0604030504040204" charset="-128"/>
                <a:cs typeface="Meiryo Regular" panose="020B0604030504040204" charset="-128"/>
              </a:rPr>
              <a:t>Cell</a:t>
            </a:r>
            <a:r>
              <a:rPr lang="ja-JP" altLang="en-US" sz="2000">
                <a:latin typeface="Meiryo Regular" panose="020B0604030504040204" charset="-128"/>
                <a:ea typeface="Meiryo Regular" panose="020B0604030504040204" charset="-128"/>
                <a:cs typeface="Meiryo Regular" panose="020B0604030504040204" charset="-128"/>
              </a:rPr>
              <a:t>は自由に組み合わせることができる。</a:t>
            </a:r>
            <a:endParaRPr lang="ja-JP" altLang="en-US" sz="2000">
              <a:latin typeface="Meiryo Regular" panose="020B0604030504040204" charset="-128"/>
              <a:ea typeface="Meiryo Regular" panose="020B0604030504040204" charset="-128"/>
              <a:cs typeface="Meiryo Regular" panose="020B0604030504040204" charset="-128"/>
            </a:endParaRPr>
          </a:p>
          <a:p>
            <a:pPr marL="285750" indent="-285750" fontAlgn="auto">
              <a:lnSpc>
                <a:spcPct val="125000"/>
              </a:lnSpc>
              <a:buFont typeface="Arial" panose="020B0604020202090204" pitchFamily="34" charset="0"/>
              <a:buChar char="•"/>
            </a:pPr>
            <a:r>
              <a:rPr lang="en-US" altLang="ja-JP" sz="2000">
                <a:latin typeface="Meiryo Regular" panose="020B0604030504040204" charset="-128"/>
                <a:ea typeface="Meiryo Regular" panose="020B0604030504040204" charset="-128"/>
                <a:cs typeface="Meiryo Regular" panose="020B0604030504040204" charset="-128"/>
              </a:rPr>
              <a:t>Meta-architecture</a:t>
            </a:r>
            <a:r>
              <a:rPr lang="ja-JP" altLang="en-US" sz="2000">
                <a:latin typeface="Meiryo Regular" panose="020B0604030504040204" charset="-128"/>
                <a:ea typeface="Meiryo Regular" panose="020B0604030504040204" charset="-128"/>
                <a:cs typeface="Meiryo Regular" panose="020B0604030504040204" charset="-128"/>
              </a:rPr>
              <a:t>は</a:t>
            </a:r>
            <a:r>
              <a:rPr lang="en-US" altLang="ja-JP" sz="2000">
                <a:latin typeface="Meiryo Regular" panose="020B0604030504040204" charset="-128"/>
                <a:ea typeface="Meiryo Regular" panose="020B0604030504040204" charset="-128"/>
                <a:cs typeface="Meiryo Regular" panose="020B0604030504040204" charset="-128"/>
              </a:rPr>
              <a:t>NAS</a:t>
            </a:r>
            <a:r>
              <a:rPr lang="ja-JP" altLang="en-US" sz="2000">
                <a:latin typeface="Meiryo Regular" panose="020B0604030504040204" charset="-128"/>
                <a:ea typeface="Meiryo Regular" panose="020B0604030504040204" charset="-128"/>
                <a:cs typeface="Meiryo Regular" panose="020B0604030504040204" charset="-128"/>
              </a:rPr>
              <a:t>のパーツとして最適化を自動させることが理想的である。</a:t>
            </a:r>
            <a:endParaRPr lang="ja-JP" altLang="en-US" sz="2000">
              <a:latin typeface="Meiryo Regular" panose="020B0604030504040204" charset="-128"/>
              <a:ea typeface="Meiryo Regular" panose="020B0604030504040204" charset="-128"/>
              <a:cs typeface="Meiryo Regular" panose="020B0604030504040204" charset="-128"/>
            </a:endParaRPr>
          </a:p>
        </p:txBody>
      </p:sp>
      <p:sp>
        <p:nvSpPr>
          <p:cNvPr id="2" name="Text Box 1"/>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rPr>
              <a:t>Search space</a:t>
            </a:r>
            <a:endParaRPr lang="en-US" sz="2800" b="1">
              <a:latin typeface="Meiryo Bold" panose="020B0604030504040204" charset="-128"/>
              <a:ea typeface="Meiryo Bold" panose="020B0604030504040204" charset="-128"/>
            </a:endParaRPr>
          </a:p>
        </p:txBody>
      </p:sp>
      <p:sp>
        <p:nvSpPr>
          <p:cNvPr id="8" name="Text Box 7"/>
          <p:cNvSpPr txBox="1"/>
          <p:nvPr/>
        </p:nvSpPr>
        <p:spPr>
          <a:xfrm>
            <a:off x="7363460" y="4490085"/>
            <a:ext cx="4617720" cy="860425"/>
          </a:xfrm>
          <a:prstGeom prst="rect">
            <a:avLst/>
          </a:prstGeom>
          <a:noFill/>
        </p:spPr>
        <p:txBody>
          <a:bodyPr wrap="square" rtlCol="0">
            <a:spAutoFit/>
          </a:bodyPr>
          <a:p>
            <a:pPr lvl="0" indent="0" fontAlgn="auto">
              <a:lnSpc>
                <a:spcPct val="125000"/>
              </a:lnSpc>
              <a:buFont typeface="Arial" panose="020B0604020202090204" pitchFamily="34" charset="0"/>
              <a:buNone/>
            </a:pPr>
            <a:r>
              <a:rPr lang="en-US" altLang="ja-JP" sz="2000">
                <a:latin typeface="Meiryo" panose="020B0604030504040204" charset="-128"/>
                <a:ea typeface="Meiryo" panose="020B0604030504040204" charset="-128"/>
                <a:sym typeface="+mn-ea"/>
              </a:rPr>
              <a:t>※</a:t>
            </a:r>
            <a:r>
              <a:rPr lang="ja-JP" altLang="en-US" sz="2000">
                <a:latin typeface="Meiryo" panose="020B0604030504040204" charset="-128"/>
                <a:ea typeface="Meiryo" panose="020B0604030504040204" charset="-128"/>
                <a:sym typeface="+mn-ea"/>
              </a:rPr>
              <a:t>　多くの探索空間は固定長のベクトルとして記述することができる。</a:t>
            </a:r>
            <a:endParaRPr lang="ja-JP" altLang="en-US" sz="2000">
              <a:latin typeface="Meiryo" panose="020B0604030504040204" charset="-128"/>
              <a:ea typeface="Meiryo" panose="020B0604030504040204" charset="-128"/>
              <a:sym typeface="+mn-ea"/>
            </a:endParaRPr>
          </a:p>
        </p:txBody>
      </p:sp>
      <p:grpSp>
        <p:nvGrpSpPr>
          <p:cNvPr id="15" name="Group 14"/>
          <p:cNvGrpSpPr/>
          <p:nvPr/>
        </p:nvGrpSpPr>
        <p:grpSpPr>
          <a:xfrm>
            <a:off x="8422640" y="1415415"/>
            <a:ext cx="2919730" cy="2402840"/>
            <a:chOff x="12595" y="1444"/>
            <a:chExt cx="4598" cy="3784"/>
          </a:xfrm>
        </p:grpSpPr>
        <p:sp>
          <p:nvSpPr>
            <p:cNvPr id="12" name="Rectangle 11"/>
            <p:cNvSpPr/>
            <p:nvPr/>
          </p:nvSpPr>
          <p:spPr>
            <a:xfrm>
              <a:off x="12595" y="1444"/>
              <a:ext cx="4599" cy="3785"/>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p>
              <a:pPr algn="ctr" fontAlgn="auto">
                <a:lnSpc>
                  <a:spcPct val="115000"/>
                </a:lnSpc>
              </a:pPr>
              <a:r>
                <a:rPr lang="ja-JP" altLang="en-US" sz="2000">
                  <a:solidFill>
                    <a:schemeClr val="tx1"/>
                  </a:solidFill>
                  <a:latin typeface="Meiryo Regular" panose="020B0604030504040204" charset="-128"/>
                  <a:ea typeface="Meiryo Regular" panose="020B0604030504040204" charset="-128"/>
                  <a:sym typeface="+mn-ea"/>
                </a:rPr>
                <a:t>課題</a:t>
              </a:r>
              <a:endParaRPr lang="ja-JP" altLang="en-US" sz="2000">
                <a:solidFill>
                  <a:schemeClr val="tx1"/>
                </a:solidFill>
                <a:latin typeface="Meiryo Regular" panose="020B0604030504040204" charset="-128"/>
                <a:ea typeface="Meiryo Regular" panose="020B0604030504040204" charset="-128"/>
                <a:sym typeface="+mn-ea"/>
              </a:endParaRPr>
            </a:p>
          </p:txBody>
        </p:sp>
        <p:sp>
          <p:nvSpPr>
            <p:cNvPr id="3" name="Rectangle 2"/>
            <p:cNvSpPr/>
            <p:nvPr/>
          </p:nvSpPr>
          <p:spPr>
            <a:xfrm>
              <a:off x="13074" y="2332"/>
              <a:ext cx="3640" cy="991"/>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ja-JP" altLang="en-US" sz="2000">
                  <a:solidFill>
                    <a:schemeClr val="tx1"/>
                  </a:solidFill>
                  <a:latin typeface="Meiryo Regular" panose="020B0604030504040204" charset="-128"/>
                  <a:ea typeface="Meiryo Regular" panose="020B0604030504040204" charset="-128"/>
                  <a:sym typeface="+mn-ea"/>
                </a:rPr>
                <a:t>非連続性</a:t>
              </a:r>
              <a:endParaRPr lang="ja-JP" altLang="en-US" sz="2000">
                <a:solidFill>
                  <a:schemeClr val="tx1"/>
                </a:solidFill>
                <a:latin typeface="Meiryo Regular" panose="020B0604030504040204" charset="-128"/>
                <a:ea typeface="Meiryo Regular" panose="020B0604030504040204" charset="-128"/>
                <a:sym typeface="+mn-ea"/>
              </a:endParaRPr>
            </a:p>
          </p:txBody>
        </p:sp>
        <p:sp>
          <p:nvSpPr>
            <p:cNvPr id="9" name="Rectangle 8"/>
            <p:cNvSpPr/>
            <p:nvPr/>
          </p:nvSpPr>
          <p:spPr>
            <a:xfrm>
              <a:off x="13130" y="3726"/>
              <a:ext cx="3528" cy="991"/>
            </a:xfrm>
            <a:prstGeom prst="rect">
              <a:avLst/>
            </a:prstGeom>
            <a:solidFill>
              <a:schemeClr val="accent2">
                <a:lumMod val="60000"/>
                <a:lumOff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ja-JP" altLang="en-US" sz="2000">
                  <a:solidFill>
                    <a:schemeClr val="tx1"/>
                  </a:solidFill>
                  <a:latin typeface="Meiryo Regular" panose="020B0604030504040204" charset="-128"/>
                  <a:ea typeface="Meiryo Regular" panose="020B0604030504040204" charset="-128"/>
                  <a:sym typeface="+mn-ea"/>
                </a:rPr>
                <a:t>高次元</a:t>
              </a:r>
              <a:endParaRPr lang="ja-JP" altLang="en-US" sz="2000">
                <a:solidFill>
                  <a:schemeClr val="tx1"/>
                </a:solidFill>
                <a:latin typeface="Meiryo Regular" panose="020B0604030504040204" charset="-128"/>
                <a:ea typeface="Meiryo Regular" panose="020B0604030504040204" charset="-128"/>
                <a:sym typeface="+mn-ea"/>
              </a:endParaRPr>
            </a:p>
          </p:txBody>
        </p:sp>
      </p:grpSp>
      <p:pic>
        <p:nvPicPr>
          <p:cNvPr id="13" name="Picture 12"/>
          <p:cNvPicPr>
            <a:picLocks noChangeAspect="1"/>
          </p:cNvPicPr>
          <p:nvPr/>
        </p:nvPicPr>
        <p:blipFill>
          <a:blip r:embed="rId1"/>
          <a:srcRect l="3302" t="3503" r="4032" b="3503"/>
          <a:stretch>
            <a:fillRect/>
          </a:stretch>
        </p:blipFill>
        <p:spPr>
          <a:xfrm>
            <a:off x="3785235" y="805815"/>
            <a:ext cx="2893695" cy="2737485"/>
          </a:xfrm>
          <a:prstGeom prst="rect">
            <a:avLst/>
          </a:prstGeom>
        </p:spPr>
      </p:pic>
      <p:pic>
        <p:nvPicPr>
          <p:cNvPr id="14" name="Picture 13"/>
          <p:cNvPicPr>
            <a:picLocks noChangeAspect="1"/>
          </p:cNvPicPr>
          <p:nvPr/>
        </p:nvPicPr>
        <p:blipFill>
          <a:blip r:embed="rId2"/>
          <a:srcRect l="5457" t="1717" r="4773" b="2582"/>
          <a:stretch>
            <a:fillRect/>
          </a:stretch>
        </p:blipFill>
        <p:spPr>
          <a:xfrm>
            <a:off x="522605" y="803275"/>
            <a:ext cx="2710815" cy="27400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5" name="Text Box 4"/>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rPr>
              <a:t>Search strategy</a:t>
            </a:r>
            <a:endParaRPr lang="en-US" sz="2800" b="1">
              <a:latin typeface="Meiryo Bold" panose="020B0604030504040204" charset="-128"/>
              <a:ea typeface="Meiryo Bold" panose="020B0604030504040204" charset="-128"/>
            </a:endParaRPr>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8" name="Rectangle 7"/>
          <p:cNvSpPr/>
          <p:nvPr/>
        </p:nvSpPr>
        <p:spPr>
          <a:xfrm>
            <a:off x="53340" y="839470"/>
            <a:ext cx="12084685" cy="82296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nSpc>
                <a:spcPct val="125000"/>
              </a:lnSpc>
              <a:spcBef>
                <a:spcPts val="0"/>
              </a:spcBef>
              <a:spcAft>
                <a:spcPts val="0"/>
              </a:spcAft>
            </a:pPr>
            <a:r>
              <a:rPr sz="2000">
                <a:solidFill>
                  <a:schemeClr val="tx1"/>
                </a:solidFill>
                <a:latin typeface="Meiryo Regular" panose="020B0604030504040204" charset="-128"/>
                <a:ea typeface="Meiryo Regular" panose="020B0604030504040204" charset="-128"/>
                <a:cs typeface="Meiryo Regular" panose="020B0604030504040204" charset="-128"/>
                <a:sym typeface="+mn-ea"/>
              </a:rPr>
              <a:t>NNの空間を探索するには、ランダムサーチ、ベイズ最適化、進化的アルゴリズム、強化学習、勾配ベイズなど様々な手法が用いられる。</a:t>
            </a:r>
            <a:endParaRPr sz="2000">
              <a:solidFill>
                <a:schemeClr val="tx1"/>
              </a:solidFill>
              <a:latin typeface="Meiryo Regular" panose="020B0604030504040204" charset="-128"/>
              <a:ea typeface="Meiryo Regular" panose="020B0604030504040204" charset="-128"/>
              <a:cs typeface="Meiryo Regular" panose="020B0604030504040204" charset="-128"/>
              <a:sym typeface="+mn-ea"/>
            </a:endParaRPr>
          </a:p>
        </p:txBody>
      </p:sp>
      <p:sp>
        <p:nvSpPr>
          <p:cNvPr id="9" name="Text Box 8"/>
          <p:cNvSpPr txBox="1"/>
          <p:nvPr/>
        </p:nvSpPr>
        <p:spPr>
          <a:xfrm>
            <a:off x="53340" y="1662430"/>
            <a:ext cx="11870055" cy="783590"/>
          </a:xfrm>
          <a:prstGeom prst="rect">
            <a:avLst/>
          </a:prstGeom>
          <a:noFill/>
        </p:spPr>
        <p:txBody>
          <a:bodyPr wrap="square" rtlCol="0">
            <a:spAutoFit/>
          </a:bodyPr>
          <a:p>
            <a:pPr fontAlgn="auto">
              <a:lnSpc>
                <a:spcPct val="125000"/>
              </a:lnSpc>
            </a:pPr>
            <a:r>
              <a:rPr lang="en-US">
                <a:latin typeface="Meiryo Regular" panose="020B0604030504040204" charset="-128"/>
                <a:ea typeface="Meiryo Regular" panose="020B0604030504040204" charset="-128"/>
              </a:rPr>
              <a:t>※</a:t>
            </a:r>
            <a:r>
              <a:rPr lang="ja-JP" altLang="en-US">
                <a:latin typeface="Meiryo Regular" panose="020B0604030504040204" charset="-128"/>
                <a:ea typeface="Meiryo Regular" panose="020B0604030504040204" charset="-128"/>
              </a:rPr>
              <a:t>　</a:t>
            </a:r>
            <a:r>
              <a:rPr>
                <a:latin typeface="Meiryo Regular" panose="020B0604030504040204" charset="-128"/>
                <a:ea typeface="Meiryo Regular" panose="020B0604030504040204" charset="-128"/>
              </a:rPr>
              <a:t>古くは進化的アルゴがよく採用され、ベイズ最適化は2013年の発表以降、初期のNASに大きく貢献したが、膨大な計算コストがかかり、計算コストを低減するために、様々な研究が進められている。</a:t>
            </a:r>
            <a:endParaRPr>
              <a:latin typeface="Meiryo Regular" panose="020B0604030504040204" charset="-128"/>
              <a:ea typeface="Meiryo Regular" panose="020B0604030504040204" charset="-128"/>
            </a:endParaRPr>
          </a:p>
        </p:txBody>
      </p:sp>
      <p:sp>
        <p:nvSpPr>
          <p:cNvPr id="10" name="Rectangle 9"/>
          <p:cNvSpPr/>
          <p:nvPr/>
        </p:nvSpPr>
        <p:spPr>
          <a:xfrm>
            <a:off x="53340" y="2446020"/>
            <a:ext cx="2110105" cy="51752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ja-JP" altLang="en-US" sz="2000" b="1">
                <a:solidFill>
                  <a:schemeClr val="tx1"/>
                </a:solidFill>
                <a:latin typeface="Meiryo Bold" panose="020B0604030504040204" charset="-128"/>
                <a:ea typeface="Meiryo Bold" panose="020B0604030504040204" charset="-128"/>
                <a:sym typeface="+mn-ea"/>
              </a:rPr>
              <a:t>強化学習</a:t>
            </a:r>
            <a:endParaRPr lang="ja-JP" altLang="en-US" sz="2000" b="1">
              <a:solidFill>
                <a:schemeClr val="tx1"/>
              </a:solidFill>
              <a:latin typeface="Meiryo Bold" panose="020B0604030504040204" charset="-128"/>
              <a:ea typeface="Meiryo Bold" panose="020B0604030504040204" charset="-128"/>
              <a:sym typeface="+mn-ea"/>
            </a:endParaRPr>
          </a:p>
        </p:txBody>
      </p:sp>
      <p:sp>
        <p:nvSpPr>
          <p:cNvPr id="12" name="Text Box 11"/>
          <p:cNvSpPr txBox="1"/>
          <p:nvPr/>
        </p:nvSpPr>
        <p:spPr>
          <a:xfrm>
            <a:off x="53340" y="3013710"/>
            <a:ext cx="5345430" cy="3784600"/>
          </a:xfrm>
          <a:prstGeom prst="rect">
            <a:avLst/>
          </a:prstGeom>
          <a:noFill/>
          <a:ln>
            <a:solidFill>
              <a:schemeClr val="accent2">
                <a:lumMod val="75000"/>
              </a:schemeClr>
            </a:solidFill>
          </a:ln>
        </p:spPr>
        <p:txBody>
          <a:bodyPr wrap="square" rtlCol="0">
            <a:spAutoFit/>
          </a:bodyPr>
          <a:p>
            <a:pPr fontAlgn="auto">
              <a:lnSpc>
                <a:spcPct val="125000"/>
              </a:lnSpc>
            </a:pPr>
            <a:r>
              <a:rPr sz="2000" b="1">
                <a:latin typeface="Meiryo Bold" panose="020B0604030504040204" charset="-128"/>
                <a:ea typeface="Meiryo Bold" panose="020B0604030504040204" charset="-128"/>
              </a:rPr>
              <a:t>NASは、以下のようにして強化学習の枠組みで考える事ができ</a:t>
            </a:r>
            <a:r>
              <a:rPr lang="ja-JP" sz="2000" b="1">
                <a:latin typeface="Meiryo Bold" panose="020B0604030504040204" charset="-128"/>
                <a:ea typeface="Meiryo Bold" panose="020B0604030504040204" charset="-128"/>
              </a:rPr>
              <a:t>る。</a:t>
            </a:r>
            <a:endParaRPr lang="ja-JP" sz="2000" b="1">
              <a:latin typeface="Meiryo Bold" panose="020B0604030504040204" charset="-128"/>
              <a:ea typeface="Meiryo Bold" panose="020B0604030504040204" charset="-128"/>
            </a:endParaRPr>
          </a:p>
          <a:p>
            <a:pPr fontAlgn="auto">
              <a:lnSpc>
                <a:spcPct val="125000"/>
              </a:lnSpc>
            </a:pPr>
            <a:endParaRPr lang="ja-JP" sz="2000">
              <a:latin typeface="Meiryo" panose="020B0604030504040204" charset="-128"/>
              <a:ea typeface="Meiryo" panose="020B0604030504040204" charset="-128"/>
              <a:cs typeface="Meiryo" panose="020B0604030504040204" charset="-128"/>
            </a:endParaRPr>
          </a:p>
          <a:p>
            <a:pPr marL="457200" indent="-457200" fontAlgn="auto">
              <a:lnSpc>
                <a:spcPct val="125000"/>
              </a:lnSpc>
              <a:buFont typeface="Arial" panose="020B0604020202090204" pitchFamily="34" charset="0"/>
              <a:buChar char="•"/>
            </a:pPr>
            <a:r>
              <a:rPr lang="ja-JP">
                <a:latin typeface="Meiryo" panose="020B0604030504040204" charset="-128"/>
                <a:ea typeface="Meiryo" panose="020B0604030504040204" charset="-128"/>
                <a:cs typeface="Meiryo" panose="020B0604030504040204" charset="-128"/>
              </a:rPr>
              <a:t>エージェントの行動によってNNが生成される</a:t>
            </a:r>
            <a:endParaRPr lang="ja-JP">
              <a:latin typeface="Meiryo" panose="020B0604030504040204" charset="-128"/>
              <a:ea typeface="Meiryo" panose="020B0604030504040204" charset="-128"/>
              <a:cs typeface="Meiryo" panose="020B0604030504040204" charset="-128"/>
            </a:endParaRPr>
          </a:p>
          <a:p>
            <a:pPr marL="457200" indent="-457200" fontAlgn="auto">
              <a:lnSpc>
                <a:spcPct val="125000"/>
              </a:lnSpc>
              <a:buFont typeface="Arial" panose="020B0604020202090204" pitchFamily="34" charset="0"/>
              <a:buChar char="•"/>
            </a:pPr>
            <a:r>
              <a:rPr lang="ja-JP">
                <a:latin typeface="Meiryo" panose="020B0604030504040204" charset="-128"/>
                <a:ea typeface="Meiryo" panose="020B0604030504040204" charset="-128"/>
                <a:cs typeface="Meiryo" panose="020B0604030504040204" charset="-128"/>
              </a:rPr>
              <a:t>行動空間が探索空間と対応する</a:t>
            </a:r>
            <a:endParaRPr lang="ja-JP">
              <a:latin typeface="Meiryo" panose="020B0604030504040204" charset="-128"/>
              <a:ea typeface="Meiryo" panose="020B0604030504040204" charset="-128"/>
              <a:cs typeface="Meiryo" panose="020B0604030504040204" charset="-128"/>
            </a:endParaRPr>
          </a:p>
          <a:p>
            <a:pPr marL="457200" indent="-457200" fontAlgn="auto">
              <a:lnSpc>
                <a:spcPct val="125000"/>
              </a:lnSpc>
              <a:buFont typeface="Arial" panose="020B0604020202090204" pitchFamily="34" charset="0"/>
              <a:buChar char="•"/>
            </a:pPr>
            <a:r>
              <a:rPr lang="ja-JP">
                <a:latin typeface="Meiryo" panose="020B0604030504040204" charset="-128"/>
                <a:ea typeface="Meiryo" panose="020B0604030504040204" charset="-128"/>
                <a:cs typeface="Meiryo" panose="020B0604030504040204" charset="-128"/>
              </a:rPr>
              <a:t>未知のデータに対するNNのパフォーマンスを報酬にする</a:t>
            </a:r>
            <a:endParaRPr lang="ja-JP" altLang="en-US" sz="2000" b="1">
              <a:latin typeface="Meiryo Bold" panose="020B0604030504040204" charset="-128"/>
              <a:ea typeface="Meiryo Bold" panose="020B0604030504040204" charset="-128"/>
            </a:endParaRPr>
          </a:p>
          <a:p>
            <a:pPr indent="0" fontAlgn="auto">
              <a:lnSpc>
                <a:spcPct val="125000"/>
              </a:lnSpc>
              <a:buFont typeface="Arial" panose="020B0604020202090204" pitchFamily="34" charset="0"/>
              <a:buNone/>
            </a:pPr>
            <a:r>
              <a:rPr lang="ja-JP" altLang="en-US" sz="2000" b="1">
                <a:latin typeface="Meiryo Bold" panose="020B0604030504040204" charset="-128"/>
                <a:ea typeface="Meiryo Bold" panose="020B0604030504040204" charset="-128"/>
              </a:rPr>
              <a:t>　</a:t>
            </a:r>
            <a:endParaRPr lang="ja-JP" altLang="en-US" sz="2000" b="1">
              <a:latin typeface="Meiryo Bold" panose="020B0604030504040204" charset="-128"/>
              <a:ea typeface="Meiryo Bold" panose="020B0604030504040204" charset="-128"/>
            </a:endParaRPr>
          </a:p>
          <a:p>
            <a:pPr indent="0" fontAlgn="auto">
              <a:lnSpc>
                <a:spcPct val="125000"/>
              </a:lnSpc>
              <a:buFont typeface="Arial" panose="020B0604020202090204" pitchFamily="34" charset="0"/>
              <a:buNone/>
            </a:pPr>
            <a:r>
              <a:rPr lang="ja-JP" altLang="en-US" sz="2000" b="1">
                <a:latin typeface="Meiryo Bold" panose="020B0604030504040204" charset="-128"/>
                <a:ea typeface="Meiryo Bold" panose="020B0604030504040204" charset="-128"/>
              </a:rPr>
              <a:t>　</a:t>
            </a:r>
            <a:r>
              <a:rPr lang="en-US" altLang="ja-JP" sz="2000" b="1">
                <a:latin typeface="Meiryo Bold" panose="020B0604030504040204" charset="-128"/>
                <a:ea typeface="Meiryo Bold" panose="020B0604030504040204" charset="-128"/>
              </a:rPr>
              <a:t>→</a:t>
            </a:r>
            <a:r>
              <a:rPr lang="ja-JP" sz="2000" b="1">
                <a:latin typeface="Meiryo Bold" panose="020B0604030504040204" charset="-128"/>
                <a:ea typeface="Meiryo Bold" panose="020B0604030504040204" charset="-128"/>
              </a:rPr>
              <a:t>方策をどう定め、どう最適化するかは研究によって異なる。</a:t>
            </a:r>
            <a:endParaRPr lang="ja-JP" sz="2000" b="1">
              <a:latin typeface="Meiryo Bold" panose="020B0604030504040204" charset="-128"/>
              <a:ea typeface="Meiryo Bold" panose="020B0604030504040204" charset="-128"/>
            </a:endParaRPr>
          </a:p>
        </p:txBody>
      </p:sp>
      <p:sp>
        <p:nvSpPr>
          <p:cNvPr id="13" name="Text Box 12"/>
          <p:cNvSpPr txBox="1"/>
          <p:nvPr/>
        </p:nvSpPr>
        <p:spPr>
          <a:xfrm>
            <a:off x="5398770" y="3013710"/>
            <a:ext cx="6739890" cy="3784600"/>
          </a:xfrm>
          <a:prstGeom prst="rect">
            <a:avLst/>
          </a:prstGeom>
          <a:noFill/>
          <a:ln>
            <a:solidFill>
              <a:schemeClr val="accent2">
                <a:lumMod val="75000"/>
              </a:schemeClr>
            </a:solidFill>
          </a:ln>
        </p:spPr>
        <p:txBody>
          <a:bodyPr wrap="square" rtlCol="0">
            <a:spAutoFit/>
          </a:bodyPr>
          <a:p>
            <a:pPr fontAlgn="auto">
              <a:lnSpc>
                <a:spcPct val="125000"/>
              </a:lnSpc>
            </a:pPr>
            <a:r>
              <a:rPr sz="2000" b="1">
                <a:latin typeface="Meiryo Bold" panose="020B0604030504040204" charset="-128"/>
                <a:ea typeface="Meiryo Bold" panose="020B0604030504040204" charset="-128"/>
              </a:rPr>
              <a:t>これらのアプローチは、以下のような逐次決定過程とみなすこともで</a:t>
            </a:r>
            <a:r>
              <a:rPr lang="ja-JP" sz="2000" b="1">
                <a:latin typeface="Meiryo Bold" panose="020B0604030504040204" charset="-128"/>
                <a:ea typeface="Meiryo Bold" panose="020B0604030504040204" charset="-128"/>
              </a:rPr>
              <a:t>きる。</a:t>
            </a:r>
            <a:endParaRPr lang="ja-JP" sz="2000" b="1">
              <a:latin typeface="Meiryo Bold" panose="020B0604030504040204" charset="-128"/>
              <a:ea typeface="Meiryo Bold" panose="020B0604030504040204" charset="-128"/>
            </a:endParaRPr>
          </a:p>
          <a:p>
            <a:pPr fontAlgn="auto">
              <a:lnSpc>
                <a:spcPct val="125000"/>
              </a:lnSpc>
            </a:pPr>
            <a:endParaRPr sz="2000" b="1">
              <a:latin typeface="Meiryo Bold" panose="020B0604030504040204" charset="-128"/>
              <a:ea typeface="Meiryo Bold" panose="020B0604030504040204" charset="-128"/>
            </a:endParaRPr>
          </a:p>
          <a:p>
            <a:pPr marL="342900" indent="-342900" fontAlgn="auto">
              <a:lnSpc>
                <a:spcPct val="125000"/>
              </a:lnSpc>
              <a:buFont typeface="Arial" panose="020B0604020202090204" pitchFamily="34" charset="0"/>
              <a:buChar char="•"/>
            </a:pPr>
            <a:r>
              <a:rPr>
                <a:latin typeface="Meiryo" panose="020B0604030504040204" charset="-128"/>
                <a:ea typeface="Meiryo" panose="020B0604030504040204" charset="-128"/>
                <a:cs typeface="Meiryo" panose="020B0604030504040204" charset="-128"/>
              </a:rPr>
              <a:t>方策に基づいて行動を選択し、NNの構造を逐次的に生成する</a:t>
            </a:r>
            <a:endParaRPr>
              <a:latin typeface="Meiryo" panose="020B0604030504040204" charset="-128"/>
              <a:ea typeface="Meiryo" panose="020B0604030504040204" charset="-128"/>
              <a:cs typeface="Meiryo" panose="020B0604030504040204" charset="-128"/>
            </a:endParaRPr>
          </a:p>
          <a:p>
            <a:pPr marL="342900" indent="-342900" fontAlgn="auto">
              <a:lnSpc>
                <a:spcPct val="125000"/>
              </a:lnSpc>
              <a:buFont typeface="Arial" panose="020B0604020202090204" pitchFamily="34" charset="0"/>
              <a:buChar char="•"/>
            </a:pPr>
            <a:r>
              <a:rPr>
                <a:latin typeface="Meiryo" panose="020B0604030504040204" charset="-128"/>
                <a:ea typeface="Meiryo" panose="020B0604030504040204" charset="-128"/>
                <a:cs typeface="Meiryo" panose="020B0604030504040204" charset="-128"/>
              </a:rPr>
              <a:t>環境の"状態"はこれまで選ばれた行動のサマリを含んでいる</a:t>
            </a:r>
            <a:endParaRPr>
              <a:latin typeface="Meiryo" panose="020B0604030504040204" charset="-128"/>
              <a:ea typeface="Meiryo" panose="020B0604030504040204" charset="-128"/>
              <a:cs typeface="Meiryo" panose="020B0604030504040204" charset="-128"/>
            </a:endParaRPr>
          </a:p>
          <a:p>
            <a:pPr marL="342900" indent="-342900" fontAlgn="auto">
              <a:lnSpc>
                <a:spcPct val="125000"/>
              </a:lnSpc>
              <a:buFont typeface="Arial" panose="020B0604020202090204" pitchFamily="34" charset="0"/>
              <a:buChar char="•"/>
            </a:pPr>
            <a:r>
              <a:rPr>
                <a:latin typeface="Meiryo" panose="020B0604030504040204" charset="-128"/>
                <a:ea typeface="Meiryo" panose="020B0604030504040204" charset="-128"/>
                <a:cs typeface="Meiryo" panose="020B0604030504040204" charset="-128"/>
              </a:rPr>
              <a:t>報酬は最後の行動の後に発生する</a:t>
            </a:r>
            <a:endParaRPr sz="2000" b="1">
              <a:latin typeface="Meiryo Bold" panose="020B0604030504040204" charset="-128"/>
              <a:ea typeface="Meiryo Bold" panose="020B0604030504040204" charset="-128"/>
            </a:endParaRPr>
          </a:p>
          <a:p>
            <a:pPr fontAlgn="auto">
              <a:lnSpc>
                <a:spcPct val="125000"/>
              </a:lnSpc>
            </a:pPr>
            <a:r>
              <a:rPr lang="ja-JP" sz="2000" b="1">
                <a:latin typeface="Meiryo Bold" panose="020B0604030504040204" charset="-128"/>
                <a:ea typeface="Meiryo Bold" panose="020B0604030504040204" charset="-128"/>
              </a:rPr>
              <a:t>　</a:t>
            </a:r>
            <a:endParaRPr lang="ja-JP" sz="2000" b="1">
              <a:latin typeface="Meiryo Bold" panose="020B0604030504040204" charset="-128"/>
              <a:ea typeface="Meiryo Bold" panose="020B0604030504040204" charset="-128"/>
            </a:endParaRPr>
          </a:p>
          <a:p>
            <a:pPr fontAlgn="auto">
              <a:lnSpc>
                <a:spcPct val="125000"/>
              </a:lnSpc>
            </a:pPr>
            <a:r>
              <a:rPr lang="en-US" altLang="ja-JP" sz="2000" b="1">
                <a:latin typeface="Meiryo Bold" panose="020B0604030504040204" charset="-128"/>
                <a:ea typeface="Meiryo Bold" panose="020B0604030504040204" charset="-128"/>
              </a:rPr>
              <a:t>→</a:t>
            </a:r>
            <a:r>
              <a:rPr sz="2000" b="1">
                <a:latin typeface="Meiryo Bold" panose="020B0604030504040204" charset="-128"/>
                <a:ea typeface="Meiryo Bold" panose="020B0604030504040204" charset="-128"/>
              </a:rPr>
              <a:t>つまり、statelessな多腕バンディット問題に落とし込めることを意味してい</a:t>
            </a:r>
            <a:r>
              <a:rPr lang="ja-JP" sz="2000" b="1">
                <a:latin typeface="Meiryo Bold" panose="020B0604030504040204" charset="-128"/>
                <a:ea typeface="Meiryo Bold" panose="020B0604030504040204" charset="-128"/>
              </a:rPr>
              <a:t>る</a:t>
            </a:r>
            <a:r>
              <a:rPr sz="2000" b="1">
                <a:latin typeface="Meiryo Bold" panose="020B0604030504040204" charset="-128"/>
                <a:ea typeface="Meiryo Bold" panose="020B0604030504040204" charset="-128"/>
              </a:rPr>
              <a:t>。</a:t>
            </a:r>
            <a:endParaRPr lang="ja-JP" altLang="en-US" sz="1600">
              <a:latin typeface="Meiryo" panose="020B0604030504040204" charset="-128"/>
              <a:ea typeface="Meiryo" panose="020B0604030504040204" charset="-128"/>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5" name="Text Box 4"/>
          <p:cNvSpPr txBox="1"/>
          <p:nvPr/>
        </p:nvSpPr>
        <p:spPr>
          <a:xfrm>
            <a:off x="635" y="99060"/>
            <a:ext cx="11581130" cy="521970"/>
          </a:xfrm>
          <a:prstGeom prst="rect">
            <a:avLst/>
          </a:prstGeom>
          <a:noFill/>
        </p:spPr>
        <p:txBody>
          <a:bodyPr wrap="square" rtlCol="0">
            <a:spAutoFit/>
          </a:bodyPr>
          <a:p>
            <a:r>
              <a:rPr lang="ja-JP" sz="2800" b="1">
                <a:latin typeface="Meiryo Bold" panose="020B0604030504040204" charset="-128"/>
                <a:ea typeface="Meiryo Bold" panose="020B0604030504040204" charset="-128"/>
                <a:sym typeface="+mn-ea"/>
              </a:rPr>
              <a:t>参考：</a:t>
            </a:r>
            <a:r>
              <a:rPr sz="2800" b="1">
                <a:latin typeface="Meiryo Bold" panose="020B0604030504040204" charset="-128"/>
                <a:ea typeface="Meiryo Bold" panose="020B0604030504040204" charset="-128"/>
                <a:sym typeface="+mn-ea"/>
              </a:rPr>
              <a:t>多腕バンディット問題</a:t>
            </a:r>
            <a:r>
              <a:rPr lang="en-US" sz="2800" b="1">
                <a:latin typeface="Meiryo Bold" panose="020B0604030504040204" charset="-128"/>
                <a:ea typeface="Meiryo Bold" panose="020B0604030504040204" charset="-128"/>
                <a:sym typeface="+mn-ea"/>
              </a:rPr>
              <a:t>(multi-armed bandit problem)</a:t>
            </a:r>
            <a:endParaRPr lang="en-US" sz="2800" b="1">
              <a:latin typeface="Meiryo Bold" panose="020B0604030504040204" charset="-128"/>
              <a:ea typeface="Meiryo Bold" panose="020B0604030504040204" charset="-128"/>
              <a:sym typeface="+mn-ea"/>
            </a:endParaRPr>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11" name="Text Box 10"/>
          <p:cNvSpPr txBox="1"/>
          <p:nvPr/>
        </p:nvSpPr>
        <p:spPr>
          <a:xfrm>
            <a:off x="128270" y="859155"/>
            <a:ext cx="11951335" cy="475615"/>
          </a:xfrm>
          <a:prstGeom prst="rect">
            <a:avLst/>
          </a:prstGeom>
          <a:noFill/>
        </p:spPr>
        <p:txBody>
          <a:bodyPr wrap="square" rtlCol="0" anchor="t">
            <a:spAutoFit/>
          </a:bodyPr>
          <a:p>
            <a:pPr indent="0" fontAlgn="auto">
              <a:lnSpc>
                <a:spcPct val="125000"/>
              </a:lnSpc>
              <a:buFont typeface="Arial" panose="020B0604020202090204" pitchFamily="34" charset="0"/>
              <a:buNone/>
            </a:pPr>
            <a:r>
              <a:rPr sz="2000">
                <a:latin typeface="Meiryo Regular" panose="020B0604030504040204" charset="-128"/>
                <a:ea typeface="Meiryo Regular" panose="020B0604030504040204" charset="-128"/>
                <a:cs typeface="Meiryo Regular" panose="020B0604030504040204" charset="-128"/>
              </a:rPr>
              <a:t>スロットマシンが複数台あった時にどのマシンが一番報酬が多いのかを探る方法</a:t>
            </a:r>
            <a:endParaRPr sz="2000">
              <a:latin typeface="Meiryo Regular" panose="020B0604030504040204" charset="-128"/>
              <a:ea typeface="Meiryo Regular" panose="020B0604030504040204" charset="-128"/>
              <a:cs typeface="Meiryo Regular" panose="020B0604030504040204" charset="-128"/>
            </a:endParaRPr>
          </a:p>
        </p:txBody>
      </p:sp>
      <p:pic>
        <p:nvPicPr>
          <p:cNvPr id="3" name="Picture 2"/>
          <p:cNvPicPr>
            <a:picLocks noChangeAspect="1"/>
          </p:cNvPicPr>
          <p:nvPr/>
        </p:nvPicPr>
        <p:blipFill>
          <a:blip r:embed="rId1"/>
          <a:stretch>
            <a:fillRect/>
          </a:stretch>
        </p:blipFill>
        <p:spPr>
          <a:xfrm>
            <a:off x="1306195" y="1430655"/>
            <a:ext cx="5791200" cy="2190750"/>
          </a:xfrm>
          <a:prstGeom prst="rect">
            <a:avLst/>
          </a:prstGeom>
        </p:spPr>
      </p:pic>
      <p:sp>
        <p:nvSpPr>
          <p:cNvPr id="8" name="Text Box 7"/>
          <p:cNvSpPr txBox="1"/>
          <p:nvPr/>
        </p:nvSpPr>
        <p:spPr>
          <a:xfrm>
            <a:off x="128270" y="3667760"/>
            <a:ext cx="6452235" cy="3053715"/>
          </a:xfrm>
          <a:prstGeom prst="rect">
            <a:avLst/>
          </a:prstGeom>
          <a:noFill/>
        </p:spPr>
        <p:txBody>
          <a:bodyPr wrap="square" rtlCol="0" anchor="t">
            <a:spAutoFit/>
          </a:bodyPr>
          <a:p>
            <a:pPr indent="0" fontAlgn="auto">
              <a:lnSpc>
                <a:spcPct val="125000"/>
              </a:lnSpc>
              <a:buFont typeface="Arial" panose="020B0604020202090204" pitchFamily="34" charset="0"/>
              <a:buNone/>
            </a:pPr>
            <a:r>
              <a:rPr lang="ja-JP" sz="2000">
                <a:latin typeface="Meiryo Regular" panose="020B0604030504040204" charset="-128"/>
                <a:ea typeface="Meiryo Regular" panose="020B0604030504040204" charset="-128"/>
                <a:cs typeface="Meiryo Regular" panose="020B0604030504040204" charset="-128"/>
              </a:rPr>
              <a:t>例：表示コンテンツの最適化</a:t>
            </a:r>
            <a:endParaRPr lang="ja-JP" sz="2000">
              <a:latin typeface="Meiryo Regular" panose="020B0604030504040204" charset="-128"/>
              <a:ea typeface="Meiryo Regular" panose="020B0604030504040204" charset="-128"/>
              <a:cs typeface="Meiryo Regular" panose="020B0604030504040204" charset="-128"/>
            </a:endParaRPr>
          </a:p>
          <a:p>
            <a:pPr indent="0" fontAlgn="auto">
              <a:lnSpc>
                <a:spcPct val="125000"/>
              </a:lnSpc>
              <a:buFont typeface="Arial" panose="020B0604020202090204" pitchFamily="34" charset="0"/>
              <a:buNone/>
            </a:pPr>
            <a:endParaRPr lang="ja-JP" sz="2000">
              <a:latin typeface="Meiryo Regular" panose="020B0604030504040204" charset="-128"/>
              <a:ea typeface="Meiryo Regular" panose="020B0604030504040204" charset="-128"/>
              <a:cs typeface="Meiryo Regular" panose="020B0604030504040204" charset="-128"/>
            </a:endParaRPr>
          </a:p>
          <a:p>
            <a:pPr indent="0" fontAlgn="auto">
              <a:lnSpc>
                <a:spcPct val="125000"/>
              </a:lnSpc>
              <a:buFont typeface="Arial" panose="020B0604020202090204" pitchFamily="34" charset="0"/>
              <a:buNone/>
            </a:pPr>
            <a:endParaRPr lang="ja-JP" sz="2000">
              <a:latin typeface="Meiryo Regular" panose="020B0604030504040204" charset="-128"/>
              <a:ea typeface="Meiryo Regular" panose="020B0604030504040204" charset="-128"/>
              <a:cs typeface="Meiryo Regular" panose="020B0604030504040204" charset="-128"/>
            </a:endParaRPr>
          </a:p>
          <a:p>
            <a:pPr indent="0" fontAlgn="auto">
              <a:lnSpc>
                <a:spcPct val="125000"/>
              </a:lnSpc>
              <a:buFont typeface="Arial" panose="020B0604020202090204" pitchFamily="34" charset="0"/>
              <a:buNone/>
            </a:pPr>
            <a:endParaRPr lang="ja-JP" sz="2000">
              <a:latin typeface="Meiryo Regular" panose="020B0604030504040204" charset="-128"/>
              <a:ea typeface="Meiryo Regular" panose="020B0604030504040204" charset="-128"/>
              <a:cs typeface="Meiryo Regular" panose="020B0604030504040204" charset="-128"/>
            </a:endParaRPr>
          </a:p>
          <a:p>
            <a:pPr indent="0" fontAlgn="auto">
              <a:lnSpc>
                <a:spcPct val="125000"/>
              </a:lnSpc>
              <a:buFont typeface="Arial" panose="020B0604020202090204" pitchFamily="34" charset="0"/>
              <a:buNone/>
            </a:pPr>
            <a:endParaRPr lang="ja-JP" sz="2000">
              <a:latin typeface="Meiryo Regular" panose="020B0604030504040204" charset="-128"/>
              <a:ea typeface="Meiryo Regular" panose="020B0604030504040204" charset="-128"/>
              <a:cs typeface="Meiryo Regular" panose="020B0604030504040204" charset="-128"/>
            </a:endParaRPr>
          </a:p>
          <a:p>
            <a:pPr indent="0" fontAlgn="auto">
              <a:lnSpc>
                <a:spcPct val="125000"/>
              </a:lnSpc>
              <a:buFont typeface="Arial" panose="020B0604020202090204" pitchFamily="34" charset="0"/>
              <a:buNone/>
            </a:pPr>
            <a:r>
              <a:rPr lang="ja-JP">
                <a:latin typeface="Meiryo Regular" panose="020B0604030504040204" charset="-128"/>
                <a:ea typeface="Meiryo Regular" panose="020B0604030504040204" charset="-128"/>
                <a:cs typeface="Meiryo Regular" panose="020B0604030504040204" charset="-128"/>
              </a:rPr>
              <a:t>コンテンツを腕、クリック率を報酬、クエリなどをコンテキストとみなして、報酬が最大となるように腕を選択している。</a:t>
            </a:r>
            <a:endParaRPr lang="ja-JP">
              <a:latin typeface="Meiryo Regular" panose="020B0604030504040204" charset="-128"/>
              <a:ea typeface="Meiryo Regular" panose="020B0604030504040204" charset="-128"/>
              <a:cs typeface="Meiryo Regular" panose="020B0604030504040204" charset="-128"/>
            </a:endParaRPr>
          </a:p>
          <a:p>
            <a:pPr indent="0" fontAlgn="auto">
              <a:lnSpc>
                <a:spcPct val="125000"/>
              </a:lnSpc>
              <a:buFont typeface="Arial" panose="020B0604020202090204" pitchFamily="34" charset="0"/>
              <a:buNone/>
            </a:pPr>
            <a:r>
              <a:rPr lang="ja-JP">
                <a:latin typeface="Meiryo Regular" panose="020B0604030504040204" charset="-128"/>
                <a:ea typeface="Meiryo Regular" panose="020B0604030504040204" charset="-128"/>
                <a:cs typeface="Meiryo Regular" panose="020B0604030504040204" charset="-128"/>
              </a:rPr>
              <a:t>https://techlife.cookpad.com/entry/2014/10/29/10203</a:t>
            </a:r>
            <a:endParaRPr lang="ja-JP">
              <a:latin typeface="Meiryo Regular" panose="020B0604030504040204" charset="-128"/>
              <a:ea typeface="Meiryo Regular" panose="020B0604030504040204" charset="-128"/>
              <a:cs typeface="Meiryo Regular" panose="020B0604030504040204" charset="-128"/>
            </a:endParaRPr>
          </a:p>
        </p:txBody>
      </p:sp>
      <p:pic>
        <p:nvPicPr>
          <p:cNvPr id="13" name="Picture 12"/>
          <p:cNvPicPr>
            <a:picLocks noChangeAspect="1"/>
          </p:cNvPicPr>
          <p:nvPr/>
        </p:nvPicPr>
        <p:blipFill>
          <a:blip r:embed="rId2"/>
          <a:stretch>
            <a:fillRect/>
          </a:stretch>
        </p:blipFill>
        <p:spPr>
          <a:xfrm>
            <a:off x="7974965" y="1430655"/>
            <a:ext cx="2921635" cy="5182235"/>
          </a:xfrm>
          <a:prstGeom prst="rect">
            <a:avLst/>
          </a:prstGeom>
        </p:spPr>
      </p:pic>
      <p:pic>
        <p:nvPicPr>
          <p:cNvPr id="14" name="Picture 13"/>
          <p:cNvPicPr>
            <a:picLocks noChangeAspect="1"/>
          </p:cNvPicPr>
          <p:nvPr/>
        </p:nvPicPr>
        <p:blipFill>
          <a:blip r:embed="rId3"/>
          <a:srcRect t="9566" b="9566"/>
          <a:stretch>
            <a:fillRect/>
          </a:stretch>
        </p:blipFill>
        <p:spPr>
          <a:xfrm>
            <a:off x="128270" y="4079240"/>
            <a:ext cx="3691255" cy="15671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2" name="Text Box 1"/>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rPr>
              <a:t>Search strategy</a:t>
            </a:r>
            <a:endParaRPr lang="en-US" sz="2800" b="1">
              <a:latin typeface="Meiryo Bold" panose="020B0604030504040204" charset="-128"/>
              <a:ea typeface="Meiryo Bold" panose="020B0604030504040204" charset="-128"/>
            </a:endParaRPr>
          </a:p>
        </p:txBody>
      </p:sp>
      <p:sp>
        <p:nvSpPr>
          <p:cNvPr id="10" name="Rectangle 9"/>
          <p:cNvSpPr/>
          <p:nvPr/>
        </p:nvSpPr>
        <p:spPr>
          <a:xfrm>
            <a:off x="106680" y="890270"/>
            <a:ext cx="6308090" cy="51752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ja-JP" altLang="en-US" sz="2000" b="1">
                <a:solidFill>
                  <a:schemeClr val="tx1"/>
                </a:solidFill>
                <a:latin typeface="Meiryo Bold" panose="020B0604030504040204" charset="-128"/>
                <a:ea typeface="Meiryo Bold" panose="020B0604030504040204" charset="-128"/>
                <a:cs typeface="Meiryo Bold" panose="020B0604030504040204" charset="-128"/>
                <a:sym typeface="+mn-ea"/>
              </a:rPr>
              <a:t>進化的アルゴリズム</a:t>
            </a:r>
            <a:r>
              <a:rPr lang="en-US" altLang="ja-JP" sz="2000" b="1">
                <a:solidFill>
                  <a:schemeClr val="tx1"/>
                </a:solidFill>
                <a:latin typeface="Meiryo Bold" panose="020B0604030504040204" charset="-128"/>
                <a:ea typeface="Meiryo Bold" panose="020B0604030504040204" charset="-128"/>
                <a:cs typeface="Meiryo Bold" panose="020B0604030504040204" charset="-128"/>
                <a:sym typeface="+mn-ea"/>
              </a:rPr>
              <a:t>(EA: evolutionary algorithms)</a:t>
            </a:r>
            <a:endParaRPr lang="en-US" altLang="ja-JP" sz="2000" b="1">
              <a:solidFill>
                <a:schemeClr val="tx1"/>
              </a:solidFill>
              <a:latin typeface="Meiryo Bold" panose="020B0604030504040204" charset="-128"/>
              <a:ea typeface="Meiryo Bold" panose="020B0604030504040204" charset="-128"/>
              <a:cs typeface="Meiryo Bold" panose="020B0604030504040204" charset="-128"/>
              <a:sym typeface="+mn-ea"/>
            </a:endParaRPr>
          </a:p>
        </p:txBody>
      </p:sp>
      <p:sp>
        <p:nvSpPr>
          <p:cNvPr id="9" name="Text Box 8"/>
          <p:cNvSpPr txBox="1"/>
          <p:nvPr/>
        </p:nvSpPr>
        <p:spPr>
          <a:xfrm>
            <a:off x="635" y="1407795"/>
            <a:ext cx="12190730" cy="1129665"/>
          </a:xfrm>
          <a:prstGeom prst="rect">
            <a:avLst/>
          </a:prstGeom>
          <a:noFill/>
        </p:spPr>
        <p:txBody>
          <a:bodyPr wrap="square" rtlCol="0">
            <a:spAutoFit/>
          </a:bodyPr>
          <a:p>
            <a:pPr marL="285750" indent="-285750" fontAlgn="auto">
              <a:lnSpc>
                <a:spcPct val="125000"/>
              </a:lnSpc>
              <a:buFont typeface="Arial" panose="020B0604020202090204" pitchFamily="34" charset="0"/>
              <a:buChar char="•"/>
            </a:pPr>
            <a:r>
              <a:rPr>
                <a:solidFill>
                  <a:schemeClr val="tx1">
                    <a:lumMod val="50000"/>
                    <a:lumOff val="50000"/>
                  </a:schemeClr>
                </a:solidFill>
                <a:latin typeface="Meiryo Regular" panose="020B0604030504040204" charset="-128"/>
                <a:ea typeface="Meiryo Regular" panose="020B0604030504040204" charset="-128"/>
              </a:rPr>
              <a:t>EAを初めてNNの設計に用いたのはMiller et al., 1989、</a:t>
            </a:r>
            <a:r>
              <a:rPr lang="ja-JP">
                <a:solidFill>
                  <a:schemeClr val="tx1">
                    <a:lumMod val="50000"/>
                    <a:lumOff val="50000"/>
                  </a:schemeClr>
                </a:solidFill>
                <a:latin typeface="Meiryo Regular" panose="020B0604030504040204" charset="-128"/>
                <a:ea typeface="Meiryo Regular" panose="020B0604030504040204" charset="-128"/>
              </a:rPr>
              <a:t>遺伝的アルゴリズム</a:t>
            </a:r>
            <a:r>
              <a:rPr lang="en-US" altLang="ja-JP">
                <a:solidFill>
                  <a:schemeClr val="tx1">
                    <a:lumMod val="50000"/>
                    <a:lumOff val="50000"/>
                  </a:schemeClr>
                </a:solidFill>
                <a:latin typeface="Meiryo Regular" panose="020B0604030504040204" charset="-128"/>
                <a:ea typeface="Meiryo Regular" panose="020B0604030504040204" charset="-128"/>
              </a:rPr>
              <a:t>(GA)</a:t>
            </a:r>
            <a:r>
              <a:rPr>
                <a:solidFill>
                  <a:schemeClr val="tx1">
                    <a:lumMod val="50000"/>
                    <a:lumOff val="50000"/>
                  </a:schemeClr>
                </a:solidFill>
                <a:latin typeface="Meiryo Regular" panose="020B0604030504040204" charset="-128"/>
                <a:ea typeface="Meiryo Regular" panose="020B0604030504040204" charset="-128"/>
              </a:rPr>
              <a:t>を用いて構造を決定し、誤差逆伝播法によって重みを最適化してい</a:t>
            </a:r>
            <a:r>
              <a:rPr lang="ja-JP">
                <a:solidFill>
                  <a:schemeClr val="tx1">
                    <a:lumMod val="50000"/>
                    <a:lumOff val="50000"/>
                  </a:schemeClr>
                </a:solidFill>
                <a:latin typeface="Meiryo Regular" panose="020B0604030504040204" charset="-128"/>
                <a:ea typeface="Meiryo Regular" panose="020B0604030504040204" charset="-128"/>
              </a:rPr>
              <a:t>た。</a:t>
            </a:r>
            <a:endParaRPr lang="ja-JP">
              <a:solidFill>
                <a:schemeClr val="tx1">
                  <a:lumMod val="50000"/>
                  <a:lumOff val="50000"/>
                </a:schemeClr>
              </a:solidFill>
              <a:latin typeface="Meiryo Regular" panose="020B0604030504040204" charset="-128"/>
              <a:ea typeface="Meiryo Regular" panose="020B0604030504040204" charset="-128"/>
            </a:endParaRPr>
          </a:p>
          <a:p>
            <a:pPr marL="285750" indent="-285750" fontAlgn="auto">
              <a:lnSpc>
                <a:spcPct val="125000"/>
              </a:lnSpc>
              <a:buFont typeface="Arial" panose="020B0604020202090204" pitchFamily="34" charset="0"/>
              <a:buChar char="•"/>
            </a:pPr>
            <a:r>
              <a:rPr lang="ja-JP">
                <a:solidFill>
                  <a:schemeClr val="tx1">
                    <a:lumMod val="50000"/>
                    <a:lumOff val="50000"/>
                  </a:schemeClr>
                </a:solidFill>
                <a:latin typeface="Meiryo Regular" panose="020B0604030504040204" charset="-128"/>
                <a:ea typeface="Meiryo Regular" panose="020B0604030504040204" charset="-128"/>
              </a:rPr>
              <a:t>現代のEA手法では、重みは勾配ベースで最適化し、NNの構造はEAで最適化するというものが主流である。</a:t>
            </a:r>
            <a:endParaRPr lang="ja-JP">
              <a:solidFill>
                <a:schemeClr val="tx1">
                  <a:lumMod val="50000"/>
                  <a:lumOff val="50000"/>
                </a:schemeClr>
              </a:solidFill>
              <a:latin typeface="Meiryo Regular" panose="020B0604030504040204" charset="-128"/>
              <a:ea typeface="Meiryo Regular" panose="020B0604030504040204" charset="-128"/>
            </a:endParaRPr>
          </a:p>
        </p:txBody>
      </p:sp>
      <p:sp>
        <p:nvSpPr>
          <p:cNvPr id="12" name="Text Box 11"/>
          <p:cNvSpPr txBox="1"/>
          <p:nvPr/>
        </p:nvSpPr>
        <p:spPr>
          <a:xfrm>
            <a:off x="53340" y="2537460"/>
            <a:ext cx="12085320" cy="860425"/>
          </a:xfrm>
          <a:prstGeom prst="rect">
            <a:avLst/>
          </a:prstGeom>
          <a:solidFill>
            <a:schemeClr val="accent2">
              <a:lumMod val="20000"/>
              <a:lumOff val="80000"/>
            </a:schemeClr>
          </a:solidFill>
          <a:ln>
            <a:solidFill>
              <a:schemeClr val="accent2">
                <a:lumMod val="20000"/>
                <a:lumOff val="80000"/>
              </a:schemeClr>
            </a:solidFill>
          </a:ln>
        </p:spPr>
        <p:txBody>
          <a:bodyPr wrap="square" rtlCol="0">
            <a:spAutoFit/>
          </a:bodyPr>
          <a:p>
            <a:pPr fontAlgn="auto">
              <a:lnSpc>
                <a:spcPct val="125000"/>
              </a:lnSpc>
            </a:pPr>
            <a:r>
              <a:rPr sz="2000" b="1">
                <a:latin typeface="Meiryo Bold" panose="020B0604030504040204" charset="-128"/>
                <a:ea typeface="Meiryo Bold" panose="020B0604030504040204" charset="-128"/>
              </a:rPr>
              <a:t>EAはモデルの母集団を進化させ、全てのevolution stepにおいて最低1つのモデルが母集団から</a:t>
            </a:r>
            <a:r>
              <a:rPr lang="en-US" sz="2000" b="1">
                <a:latin typeface="Meiryo Bold" panose="020B0604030504040204" charset="-128"/>
                <a:ea typeface="Meiryo Bold" panose="020B0604030504040204" charset="-128"/>
              </a:rPr>
              <a:t>p</a:t>
            </a:r>
            <a:r>
              <a:rPr sz="2000" b="1">
                <a:latin typeface="Meiryo Bold" panose="020B0604030504040204" charset="-128"/>
                <a:ea typeface="Meiryo Bold" panose="020B0604030504040204" charset="-128"/>
              </a:rPr>
              <a:t>arent</a:t>
            </a:r>
            <a:r>
              <a:rPr lang="en-US" sz="2000" b="1">
                <a:latin typeface="Meiryo Bold" panose="020B0604030504040204" charset="-128"/>
                <a:ea typeface="Meiryo Bold" panose="020B0604030504040204" charset="-128"/>
              </a:rPr>
              <a:t>s</a:t>
            </a:r>
            <a:r>
              <a:rPr sz="2000" b="1">
                <a:latin typeface="Meiryo Bold" panose="020B0604030504040204" charset="-128"/>
                <a:ea typeface="Meiryo Bold" panose="020B0604030504040204" charset="-128"/>
              </a:rPr>
              <a:t> としてサンプルされ</a:t>
            </a:r>
            <a:r>
              <a:rPr lang="ja-JP" sz="2000" b="1">
                <a:latin typeface="Meiryo Bold" panose="020B0604030504040204" charset="-128"/>
                <a:ea typeface="Meiryo Bold" panose="020B0604030504040204" charset="-128"/>
              </a:rPr>
              <a:t>る</a:t>
            </a:r>
            <a:r>
              <a:rPr sz="2000" b="1">
                <a:latin typeface="Meiryo Bold" panose="020B0604030504040204" charset="-128"/>
                <a:ea typeface="Meiryo Bold" panose="020B0604030504040204" charset="-128"/>
              </a:rPr>
              <a:t>。そして変異</a:t>
            </a:r>
            <a:r>
              <a:rPr lang="en-US" sz="2000" b="1">
                <a:latin typeface="Meiryo Bold" panose="020B0604030504040204" charset="-128"/>
                <a:ea typeface="Meiryo Bold" panose="020B0604030504040204" charset="-128"/>
              </a:rPr>
              <a:t>(</a:t>
            </a:r>
            <a:r>
              <a:rPr sz="2000" b="1">
                <a:latin typeface="Meiryo Bold" panose="020B0604030504040204" charset="-128"/>
                <a:ea typeface="Meiryo Bold" panose="020B0604030504040204" charset="-128"/>
              </a:rPr>
              <a:t>mutations</a:t>
            </a:r>
            <a:r>
              <a:rPr lang="en-US" sz="2000" b="1">
                <a:latin typeface="Meiryo Bold" panose="020B0604030504040204" charset="-128"/>
                <a:ea typeface="Meiryo Bold" panose="020B0604030504040204" charset="-128"/>
              </a:rPr>
              <a:t>)</a:t>
            </a:r>
            <a:r>
              <a:rPr sz="2000" b="1">
                <a:latin typeface="Meiryo Bold" panose="020B0604030504040204" charset="-128"/>
                <a:ea typeface="Meiryo Bold" panose="020B0604030504040204" charset="-128"/>
              </a:rPr>
              <a:t>を起こし新しい</a:t>
            </a:r>
            <a:r>
              <a:rPr lang="en-US" sz="2000" b="1">
                <a:latin typeface="Meiryo Bold" panose="020B0604030504040204" charset="-128"/>
                <a:ea typeface="Meiryo Bold" panose="020B0604030504040204" charset="-128"/>
              </a:rPr>
              <a:t>offsprings</a:t>
            </a:r>
            <a:r>
              <a:rPr sz="2000" b="1">
                <a:latin typeface="Meiryo Bold" panose="020B0604030504040204" charset="-128"/>
                <a:ea typeface="Meiryo Bold" panose="020B0604030504040204" charset="-128"/>
              </a:rPr>
              <a:t>を生成</a:t>
            </a:r>
            <a:r>
              <a:rPr lang="ja-JP" sz="2000" b="1">
                <a:latin typeface="Meiryo Bold" panose="020B0604030504040204" charset="-128"/>
                <a:ea typeface="Meiryo Bold" panose="020B0604030504040204" charset="-128"/>
              </a:rPr>
              <a:t>している</a:t>
            </a:r>
            <a:r>
              <a:rPr sz="2000" b="1">
                <a:latin typeface="Meiryo Bold" panose="020B0604030504040204" charset="-128"/>
                <a:ea typeface="Meiryo Bold" panose="020B0604030504040204" charset="-128"/>
              </a:rPr>
              <a:t>。</a:t>
            </a:r>
            <a:endParaRPr sz="2000" b="1">
              <a:latin typeface="Meiryo Bold" panose="020B0604030504040204" charset="-128"/>
              <a:ea typeface="Meiryo Bold" panose="020B0604030504040204" charset="-128"/>
            </a:endParaRPr>
          </a:p>
        </p:txBody>
      </p:sp>
      <p:sp>
        <p:nvSpPr>
          <p:cNvPr id="3" name="Text Box 2"/>
          <p:cNvSpPr txBox="1"/>
          <p:nvPr/>
        </p:nvSpPr>
        <p:spPr>
          <a:xfrm>
            <a:off x="14605" y="3470910"/>
            <a:ext cx="6216650" cy="2938145"/>
          </a:xfrm>
          <a:prstGeom prst="rect">
            <a:avLst/>
          </a:prstGeom>
          <a:noFill/>
          <a:ln>
            <a:solidFill>
              <a:schemeClr val="accent2">
                <a:lumMod val="75000"/>
              </a:schemeClr>
            </a:solidFill>
            <a:prstDash val="dashDot"/>
          </a:ln>
        </p:spPr>
        <p:txBody>
          <a:bodyPr wrap="square" rtlCol="0">
            <a:spAutoFit/>
          </a:bodyPr>
          <a:p>
            <a:pPr fontAlgn="auto">
              <a:lnSpc>
                <a:spcPct val="125000"/>
              </a:lnSpc>
            </a:pPr>
            <a:r>
              <a:rPr sz="2000" b="1">
                <a:latin typeface="Meiryo Bold" panose="020B0604030504040204" charset="-128"/>
                <a:ea typeface="Meiryo Bold" panose="020B0604030504040204" charset="-128"/>
              </a:rPr>
              <a:t>NASの文脈において</a:t>
            </a:r>
            <a:r>
              <a:rPr sz="2000" b="1">
                <a:latin typeface="Meiryo Bold" panose="020B0604030504040204" charset="-128"/>
                <a:ea typeface="Meiryo Bold" panose="020B0604030504040204" charset="-128"/>
                <a:sym typeface="+mn-ea"/>
              </a:rPr>
              <a:t>mutations</a:t>
            </a:r>
            <a:r>
              <a:rPr sz="2000" b="1">
                <a:latin typeface="Meiryo Bold" panose="020B0604030504040204" charset="-128"/>
                <a:ea typeface="Meiryo Bold" panose="020B0604030504040204" charset="-128"/>
              </a:rPr>
              <a:t>とは、</a:t>
            </a:r>
            <a:endParaRPr lang="ja-JP" sz="2000">
              <a:latin typeface="Meiryo" panose="020B0604030504040204" charset="-128"/>
              <a:ea typeface="Meiryo" panose="020B0604030504040204" charset="-128"/>
              <a:cs typeface="Meiryo" panose="020B0604030504040204" charset="-128"/>
            </a:endParaRPr>
          </a:p>
          <a:p>
            <a:pPr marL="457200" indent="-457200" fontAlgn="auto">
              <a:lnSpc>
                <a:spcPct val="125000"/>
              </a:lnSpc>
              <a:buFont typeface="Arial" panose="020B0604020202090204" pitchFamily="34" charset="0"/>
              <a:buChar char="•"/>
            </a:pPr>
            <a:r>
              <a:rPr lang="ja-JP">
                <a:latin typeface="Meiryo" panose="020B0604030504040204" charset="-128"/>
                <a:ea typeface="Meiryo" panose="020B0604030504040204" charset="-128"/>
                <a:cs typeface="Meiryo" panose="020B0604030504040204" charset="-128"/>
              </a:rPr>
              <a:t>レイヤの追加/除去</a:t>
            </a:r>
            <a:endParaRPr lang="ja-JP">
              <a:latin typeface="Meiryo" panose="020B0604030504040204" charset="-128"/>
              <a:ea typeface="Meiryo" panose="020B0604030504040204" charset="-128"/>
              <a:cs typeface="Meiryo" panose="020B0604030504040204" charset="-128"/>
            </a:endParaRPr>
          </a:p>
          <a:p>
            <a:pPr marL="457200" indent="-457200" fontAlgn="auto">
              <a:lnSpc>
                <a:spcPct val="125000"/>
              </a:lnSpc>
              <a:buFont typeface="Arial" panose="020B0604020202090204" pitchFamily="34" charset="0"/>
              <a:buChar char="•"/>
            </a:pPr>
            <a:r>
              <a:rPr lang="ja-JP">
                <a:latin typeface="Meiryo" panose="020B0604030504040204" charset="-128"/>
                <a:ea typeface="Meiryo" panose="020B0604030504040204" charset="-128"/>
                <a:cs typeface="Meiryo" panose="020B0604030504040204" charset="-128"/>
              </a:rPr>
              <a:t>レイヤのハイパーパラメータの変更</a:t>
            </a:r>
            <a:endParaRPr lang="ja-JP">
              <a:latin typeface="Meiryo" panose="020B0604030504040204" charset="-128"/>
              <a:ea typeface="Meiryo" panose="020B0604030504040204" charset="-128"/>
              <a:cs typeface="Meiryo" panose="020B0604030504040204" charset="-128"/>
            </a:endParaRPr>
          </a:p>
          <a:p>
            <a:pPr marL="457200" indent="-457200" fontAlgn="auto">
              <a:lnSpc>
                <a:spcPct val="125000"/>
              </a:lnSpc>
              <a:buFont typeface="Arial" panose="020B0604020202090204" pitchFamily="34" charset="0"/>
              <a:buChar char="•"/>
            </a:pPr>
            <a:r>
              <a:rPr lang="ja-JP">
                <a:latin typeface="Meiryo" panose="020B0604030504040204" charset="-128"/>
                <a:ea typeface="Meiryo" panose="020B0604030504040204" charset="-128"/>
                <a:cs typeface="Meiryo" panose="020B0604030504040204" charset="-128"/>
              </a:rPr>
              <a:t>skip connectionの追加</a:t>
            </a:r>
            <a:endParaRPr lang="ja-JP">
              <a:latin typeface="Meiryo" panose="020B0604030504040204" charset="-128"/>
              <a:ea typeface="Meiryo" panose="020B0604030504040204" charset="-128"/>
              <a:cs typeface="Meiryo" panose="020B0604030504040204" charset="-128"/>
            </a:endParaRPr>
          </a:p>
          <a:p>
            <a:pPr marL="457200" indent="-457200" fontAlgn="auto">
              <a:lnSpc>
                <a:spcPct val="125000"/>
              </a:lnSpc>
              <a:buFont typeface="Arial" panose="020B0604020202090204" pitchFamily="34" charset="0"/>
              <a:buChar char="•"/>
            </a:pPr>
            <a:r>
              <a:rPr lang="ja-JP">
                <a:latin typeface="Meiryo" panose="020B0604030504040204" charset="-128"/>
                <a:ea typeface="Meiryo" panose="020B0604030504040204" charset="-128"/>
                <a:cs typeface="Meiryo" panose="020B0604030504040204" charset="-128"/>
              </a:rPr>
              <a:t>学習のハイパーパラメータの変更</a:t>
            </a:r>
            <a:endParaRPr lang="ja-JP" altLang="en-US" sz="2000" b="1">
              <a:latin typeface="Meiryo Bold" panose="020B0604030504040204" charset="-128"/>
              <a:ea typeface="Meiryo Bold" panose="020B0604030504040204" charset="-128"/>
            </a:endParaRPr>
          </a:p>
          <a:p>
            <a:pPr indent="0" fontAlgn="auto">
              <a:lnSpc>
                <a:spcPct val="125000"/>
              </a:lnSpc>
              <a:buFont typeface="Arial" panose="020B0604020202090204" pitchFamily="34" charset="0"/>
              <a:buNone/>
            </a:pPr>
            <a:r>
              <a:rPr sz="2000" b="1">
                <a:latin typeface="Meiryo Bold" panose="020B0604030504040204" charset="-128"/>
                <a:ea typeface="Meiryo Bold" panose="020B0604030504040204" charset="-128"/>
              </a:rPr>
              <a:t>といったローカルな操作の変化のことを指</a:t>
            </a:r>
            <a:r>
              <a:rPr lang="ja-JP" sz="2000" b="1">
                <a:latin typeface="Meiryo Bold" panose="020B0604030504040204" charset="-128"/>
                <a:ea typeface="Meiryo Bold" panose="020B0604030504040204" charset="-128"/>
              </a:rPr>
              <a:t>している。</a:t>
            </a:r>
            <a:endParaRPr lang="ja-JP" sz="2000" b="1">
              <a:latin typeface="Meiryo Bold" panose="020B0604030504040204" charset="-128"/>
              <a:ea typeface="Meiryo Bold" panose="020B0604030504040204" charset="-128"/>
            </a:endParaRPr>
          </a:p>
          <a:p>
            <a:pPr indent="0" fontAlgn="auto">
              <a:lnSpc>
                <a:spcPct val="125000"/>
              </a:lnSpc>
              <a:buFont typeface="Arial" panose="020B0604020202090204" pitchFamily="34" charset="0"/>
              <a:buNone/>
            </a:pPr>
            <a:r>
              <a:rPr lang="en-US" altLang="ja-JP">
                <a:latin typeface="Meiryo" panose="020B0604030504040204" charset="-128"/>
                <a:ea typeface="Meiryo" panose="020B0604030504040204" charset="-128"/>
                <a:cs typeface="Meiryo" panose="020B0604030504040204" charset="-128"/>
              </a:rPr>
              <a:t>→offspring</a:t>
            </a:r>
            <a:r>
              <a:rPr lang="ja-JP">
                <a:latin typeface="Meiryo" panose="020B0604030504040204" charset="-128"/>
                <a:ea typeface="Meiryo" panose="020B0604030504040204" charset="-128"/>
                <a:cs typeface="Meiryo" panose="020B0604030504040204" charset="-128"/>
              </a:rPr>
              <a:t>の学習後、そのvalidationデータにおけるパフォーマンスが評価され、母集団に追加される。</a:t>
            </a:r>
            <a:endParaRPr lang="ja-JP">
              <a:latin typeface="Meiryo" panose="020B0604030504040204" charset="-128"/>
              <a:ea typeface="Meiryo" panose="020B0604030504040204" charset="-128"/>
              <a:cs typeface="Meiryo" panose="020B0604030504040204" charset="-128"/>
            </a:endParaRPr>
          </a:p>
        </p:txBody>
      </p:sp>
      <p:sp>
        <p:nvSpPr>
          <p:cNvPr id="8" name="Text Box 7"/>
          <p:cNvSpPr txBox="1"/>
          <p:nvPr/>
        </p:nvSpPr>
        <p:spPr>
          <a:xfrm>
            <a:off x="6322695" y="3470910"/>
            <a:ext cx="5262245" cy="1899285"/>
          </a:xfrm>
          <a:prstGeom prst="rect">
            <a:avLst/>
          </a:prstGeom>
          <a:noFill/>
          <a:ln>
            <a:solidFill>
              <a:schemeClr val="accent2">
                <a:lumMod val="75000"/>
              </a:schemeClr>
            </a:solidFill>
            <a:prstDash val="dashDot"/>
          </a:ln>
        </p:spPr>
        <p:txBody>
          <a:bodyPr wrap="square" rtlCol="0">
            <a:spAutoFit/>
          </a:bodyPr>
          <a:p>
            <a:pPr fontAlgn="auto">
              <a:lnSpc>
                <a:spcPct val="125000"/>
              </a:lnSpc>
            </a:pPr>
            <a:r>
              <a:rPr sz="2000" b="1">
                <a:latin typeface="Meiryo Bold" panose="020B0604030504040204" charset="-128"/>
                <a:ea typeface="Meiryo Bold" panose="020B0604030504040204" charset="-128"/>
              </a:rPr>
              <a:t>EAの各手法は、</a:t>
            </a:r>
            <a:endParaRPr lang="ja-JP" sz="2000">
              <a:latin typeface="Meiryo" panose="020B0604030504040204" charset="-128"/>
              <a:ea typeface="Meiryo" panose="020B0604030504040204" charset="-128"/>
              <a:cs typeface="Meiryo" panose="020B0604030504040204" charset="-128"/>
            </a:endParaRPr>
          </a:p>
          <a:p>
            <a:pPr marL="457200" indent="-457200" fontAlgn="auto">
              <a:lnSpc>
                <a:spcPct val="125000"/>
              </a:lnSpc>
              <a:buFont typeface="Arial" panose="020B0604020202090204" pitchFamily="34" charset="0"/>
              <a:buChar char="•"/>
            </a:pPr>
            <a:r>
              <a:rPr lang="ja-JP">
                <a:latin typeface="Meiryo" panose="020B0604030504040204" charset="-128"/>
                <a:ea typeface="Meiryo" panose="020B0604030504040204" charset="-128"/>
                <a:cs typeface="Meiryo" panose="020B0604030504040204" charset="-128"/>
              </a:rPr>
              <a:t>Parent networkをどうサンプルするか</a:t>
            </a:r>
            <a:endParaRPr lang="ja-JP">
              <a:latin typeface="Meiryo" panose="020B0604030504040204" charset="-128"/>
              <a:ea typeface="Meiryo" panose="020B0604030504040204" charset="-128"/>
              <a:cs typeface="Meiryo" panose="020B0604030504040204" charset="-128"/>
            </a:endParaRPr>
          </a:p>
          <a:p>
            <a:pPr marL="457200" indent="-457200" fontAlgn="auto">
              <a:lnSpc>
                <a:spcPct val="125000"/>
              </a:lnSpc>
              <a:buFont typeface="Arial" panose="020B0604020202090204" pitchFamily="34" charset="0"/>
              <a:buChar char="•"/>
            </a:pPr>
            <a:r>
              <a:rPr lang="ja-JP">
                <a:latin typeface="Meiryo" panose="020B0604030504040204" charset="-128"/>
                <a:ea typeface="Meiryo" panose="020B0604030504040204" charset="-128"/>
                <a:cs typeface="Meiryo" panose="020B0604030504040204" charset="-128"/>
              </a:rPr>
              <a:t>母集団をどう更新するか</a:t>
            </a:r>
            <a:endParaRPr lang="ja-JP">
              <a:latin typeface="Meiryo" panose="020B0604030504040204" charset="-128"/>
              <a:ea typeface="Meiryo" panose="020B0604030504040204" charset="-128"/>
              <a:cs typeface="Meiryo" panose="020B0604030504040204" charset="-128"/>
            </a:endParaRPr>
          </a:p>
          <a:p>
            <a:pPr marL="457200" indent="-457200" fontAlgn="auto">
              <a:lnSpc>
                <a:spcPct val="125000"/>
              </a:lnSpc>
              <a:buFont typeface="Arial" panose="020B0604020202090204" pitchFamily="34" charset="0"/>
              <a:buChar char="•"/>
            </a:pPr>
            <a:r>
              <a:rPr lang="ja-JP">
                <a:latin typeface="Meiryo" panose="020B0604030504040204" charset="-128"/>
                <a:ea typeface="Meiryo" panose="020B0604030504040204" charset="-128"/>
                <a:cs typeface="Meiryo" panose="020B0604030504040204" charset="-128"/>
              </a:rPr>
              <a:t>Child networkをどう生成するか</a:t>
            </a:r>
            <a:endParaRPr lang="ja-JP">
              <a:latin typeface="Meiryo" panose="020B0604030504040204" charset="-128"/>
              <a:ea typeface="Meiryo" panose="020B0604030504040204" charset="-128"/>
              <a:cs typeface="Meiryo" panose="020B0604030504040204" charset="-128"/>
            </a:endParaRPr>
          </a:p>
          <a:p>
            <a:pPr indent="0" fontAlgn="auto">
              <a:lnSpc>
                <a:spcPct val="125000"/>
              </a:lnSpc>
              <a:buFont typeface="Arial" panose="020B0604020202090204" pitchFamily="34" charset="0"/>
              <a:buNone/>
            </a:pPr>
            <a:r>
              <a:rPr sz="2000" b="1">
                <a:latin typeface="Meiryo Bold" panose="020B0604030504040204" charset="-128"/>
                <a:ea typeface="Meiryo Bold" panose="020B0604030504040204" charset="-128"/>
              </a:rPr>
              <a:t>という点で違いがあ</a:t>
            </a:r>
            <a:r>
              <a:rPr lang="ja-JP" sz="2000" b="1">
                <a:latin typeface="Meiryo Bold" panose="020B0604030504040204" charset="-128"/>
                <a:ea typeface="Meiryo Bold" panose="020B0604030504040204" charset="-128"/>
              </a:rPr>
              <a:t>る。</a:t>
            </a:r>
            <a:endParaRPr lang="ja-JP">
              <a:latin typeface="Meiryo" panose="020B0604030504040204" charset="-128"/>
              <a:ea typeface="Meiryo" panose="020B0604030504040204" charset="-128"/>
              <a:cs typeface="Meiryo" panose="020B0604030504040204" charset="-128"/>
            </a:endParaRPr>
          </a:p>
        </p:txBody>
      </p:sp>
      <p:sp>
        <p:nvSpPr>
          <p:cNvPr id="13" name="Text Box 12"/>
          <p:cNvSpPr txBox="1"/>
          <p:nvPr/>
        </p:nvSpPr>
        <p:spPr>
          <a:xfrm>
            <a:off x="6322695" y="5399405"/>
            <a:ext cx="5815965" cy="1322070"/>
          </a:xfrm>
          <a:prstGeom prst="rect">
            <a:avLst/>
          </a:prstGeom>
          <a:noFill/>
        </p:spPr>
        <p:txBody>
          <a:bodyPr wrap="square" rtlCol="0">
            <a:spAutoFit/>
          </a:bodyPr>
          <a:p>
            <a:pPr indent="0" fontAlgn="auto">
              <a:lnSpc>
                <a:spcPct val="125000"/>
              </a:lnSpc>
              <a:buFont typeface="Arial" panose="020B0604020202090204" pitchFamily="34" charset="0"/>
              <a:buNone/>
            </a:pPr>
            <a:r>
              <a:rPr sz="1600">
                <a:solidFill>
                  <a:schemeClr val="tx1">
                    <a:lumMod val="50000"/>
                    <a:lumOff val="50000"/>
                  </a:schemeClr>
                </a:solidFill>
                <a:latin typeface="Meiryo Regular" panose="020B0604030504040204" charset="-128"/>
                <a:ea typeface="Meiryo Regular" panose="020B0604030504040204" charset="-128"/>
              </a:rPr>
              <a:t>Real et al.</a:t>
            </a:r>
            <a:r>
              <a:rPr lang="en-US" sz="1600">
                <a:solidFill>
                  <a:schemeClr val="tx1">
                    <a:lumMod val="50000"/>
                    <a:lumOff val="50000"/>
                  </a:schemeClr>
                </a:solidFill>
                <a:latin typeface="Meiryo Regular" panose="020B0604030504040204" charset="-128"/>
                <a:ea typeface="Meiryo Regular" panose="020B0604030504040204" charset="-128"/>
              </a:rPr>
              <a:t>, </a:t>
            </a:r>
            <a:r>
              <a:rPr sz="1600">
                <a:solidFill>
                  <a:schemeClr val="tx1">
                    <a:lumMod val="50000"/>
                    <a:lumOff val="50000"/>
                  </a:schemeClr>
                </a:solidFill>
                <a:latin typeface="Meiryo Regular" panose="020B0604030504040204" charset="-128"/>
                <a:ea typeface="Meiryo Regular" panose="020B0604030504040204" charset="-128"/>
              </a:rPr>
              <a:t>2019では強化学習、EA、ランダムサーチの比較を行い、RLとEAは最終的なtest accuracyは同程度だったが、</a:t>
            </a:r>
            <a:r>
              <a:rPr sz="1600" u="sng">
                <a:solidFill>
                  <a:schemeClr val="tx1">
                    <a:lumMod val="50000"/>
                    <a:lumOff val="50000"/>
                  </a:schemeClr>
                </a:solidFill>
                <a:latin typeface="Meiryo Regular" panose="020B0604030504040204" charset="-128"/>
                <a:ea typeface="Meiryo Regular" panose="020B0604030504040204" charset="-128"/>
              </a:rPr>
              <a:t>E</a:t>
            </a:r>
            <a:r>
              <a:rPr sz="1600">
                <a:solidFill>
                  <a:schemeClr val="tx1">
                    <a:lumMod val="50000"/>
                    <a:lumOff val="50000"/>
                  </a:schemeClr>
                </a:solidFill>
                <a:latin typeface="Meiryo Regular" panose="020B0604030504040204" charset="-128"/>
                <a:ea typeface="Meiryo Regular" panose="020B0604030504040204" charset="-128"/>
              </a:rPr>
              <a:t>Aの方がパフォーマンスが良く、小さいモデルを見つけた</a:t>
            </a:r>
            <a:r>
              <a:rPr lang="ja-JP" sz="1600">
                <a:solidFill>
                  <a:schemeClr val="tx1">
                    <a:lumMod val="50000"/>
                    <a:lumOff val="50000"/>
                  </a:schemeClr>
                </a:solidFill>
                <a:latin typeface="Meiryo Regular" panose="020B0604030504040204" charset="-128"/>
                <a:ea typeface="Meiryo Regular" panose="020B0604030504040204" charset="-128"/>
              </a:rPr>
              <a:t>、RLとEA両方ともRSより良い性能でしたが、差は小さかった。</a:t>
            </a:r>
            <a:endParaRPr lang="ja-JP" sz="1600">
              <a:solidFill>
                <a:schemeClr val="tx1">
                  <a:lumMod val="50000"/>
                  <a:lumOff val="50000"/>
                </a:schemeClr>
              </a:solidFill>
              <a:latin typeface="Meiryo Regular" panose="020B0604030504040204" charset="-128"/>
              <a:ea typeface="Meiryo Regular" panose="020B0604030504040204"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2" name="Rectangle 1"/>
          <p:cNvSpPr/>
          <p:nvPr/>
        </p:nvSpPr>
        <p:spPr>
          <a:xfrm>
            <a:off x="106680" y="890270"/>
            <a:ext cx="6308090" cy="51752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sz="2000" b="1">
                <a:solidFill>
                  <a:schemeClr val="tx1"/>
                </a:solidFill>
                <a:latin typeface="Meiryo Bold" panose="020B0604030504040204" charset="-128"/>
                <a:ea typeface="Meiryo Bold" panose="020B0604030504040204" charset="-128"/>
                <a:sym typeface="+mn-ea"/>
              </a:rPr>
              <a:t>DARTS</a:t>
            </a:r>
            <a:r>
              <a:rPr lang="en-US" sz="2000" b="1">
                <a:solidFill>
                  <a:schemeClr val="tx1"/>
                </a:solidFill>
                <a:latin typeface="Meiryo Bold" panose="020B0604030504040204" charset="-128"/>
                <a:ea typeface="Meiryo Bold" panose="020B0604030504040204" charset="-128"/>
                <a:sym typeface="+mn-ea"/>
              </a:rPr>
              <a:t>(Differentiable Architecture Search)</a:t>
            </a:r>
            <a:endParaRPr lang="en-US" sz="2000" b="1">
              <a:solidFill>
                <a:schemeClr val="tx1"/>
              </a:solidFill>
              <a:latin typeface="Meiryo Bold" panose="020B0604030504040204" charset="-128"/>
              <a:ea typeface="Meiryo Bold" panose="020B0604030504040204" charset="-128"/>
              <a:sym typeface="+mn-ea"/>
            </a:endParaRPr>
          </a:p>
        </p:txBody>
      </p:sp>
      <p:sp>
        <p:nvSpPr>
          <p:cNvPr id="9" name="Text Box 8"/>
          <p:cNvSpPr txBox="1"/>
          <p:nvPr/>
        </p:nvSpPr>
        <p:spPr>
          <a:xfrm>
            <a:off x="106045" y="2185035"/>
            <a:ext cx="11972290" cy="860425"/>
          </a:xfrm>
          <a:prstGeom prst="rect">
            <a:avLst/>
          </a:prstGeom>
          <a:solidFill>
            <a:schemeClr val="accent2">
              <a:lumMod val="20000"/>
              <a:lumOff val="80000"/>
            </a:schemeClr>
          </a:solidFill>
        </p:spPr>
        <p:txBody>
          <a:bodyPr wrap="square" rtlCol="0">
            <a:spAutoFit/>
          </a:bodyPr>
          <a:p>
            <a:pPr indent="0" fontAlgn="auto">
              <a:lnSpc>
                <a:spcPct val="125000"/>
              </a:lnSpc>
              <a:buFont typeface="Arial" panose="020B0604020202090204" pitchFamily="34" charset="0"/>
              <a:buNone/>
            </a:pPr>
            <a:r>
              <a:rPr lang="ja-JP" sz="2000" b="1">
                <a:solidFill>
                  <a:schemeClr val="tx1"/>
                </a:solidFill>
                <a:latin typeface="Meiryo Bold" panose="020B0604030504040204" charset="-128"/>
                <a:ea typeface="Meiryo Bold" panose="020B0604030504040204" charset="-128"/>
                <a:cs typeface="Meiryo Bold" panose="020B0604030504040204" charset="-128"/>
              </a:rPr>
              <a:t>離散空間探索を連続的な空間探索に緩和する(continuous relaxation)ことで、対象となる</a:t>
            </a:r>
            <a:r>
              <a:rPr lang="en-US" altLang="ja-JP" sz="2000" b="1">
                <a:solidFill>
                  <a:schemeClr val="tx1"/>
                </a:solidFill>
                <a:latin typeface="Meiryo Bold" panose="020B0604030504040204" charset="-128"/>
                <a:ea typeface="Meiryo Bold" panose="020B0604030504040204" charset="-128"/>
                <a:cs typeface="Meiryo Bold" panose="020B0604030504040204" charset="-128"/>
              </a:rPr>
              <a:t>NN</a:t>
            </a:r>
            <a:r>
              <a:rPr lang="ja-JP" sz="2000" b="1">
                <a:solidFill>
                  <a:schemeClr val="tx1"/>
                </a:solidFill>
                <a:latin typeface="Meiryo Bold" panose="020B0604030504040204" charset="-128"/>
                <a:ea typeface="Meiryo Bold" panose="020B0604030504040204" charset="-128"/>
                <a:cs typeface="Meiryo Bold" panose="020B0604030504040204" charset="-128"/>
              </a:rPr>
              <a:t>のAccuracyを損なわずに探索時間を短縮する方法。Liu et al.</a:t>
            </a:r>
            <a:r>
              <a:rPr lang="en-US" altLang="ja-JP" sz="2000" b="1">
                <a:solidFill>
                  <a:schemeClr val="tx1"/>
                </a:solidFill>
                <a:latin typeface="Meiryo Bold" panose="020B0604030504040204" charset="-128"/>
                <a:ea typeface="Meiryo Bold" panose="020B0604030504040204" charset="-128"/>
                <a:cs typeface="Meiryo Bold" panose="020B0604030504040204" charset="-128"/>
              </a:rPr>
              <a:t>, </a:t>
            </a:r>
            <a:r>
              <a:rPr lang="ja-JP" sz="2000" b="1">
                <a:solidFill>
                  <a:schemeClr val="tx1"/>
                </a:solidFill>
                <a:latin typeface="Meiryo Bold" panose="020B0604030504040204" charset="-128"/>
                <a:ea typeface="Meiryo Bold" panose="020B0604030504040204" charset="-128"/>
                <a:cs typeface="Meiryo Bold" panose="020B0604030504040204" charset="-128"/>
              </a:rPr>
              <a:t>2019</a:t>
            </a:r>
            <a:endParaRPr lang="ja-JP" sz="2000" b="1">
              <a:solidFill>
                <a:schemeClr val="tx1"/>
              </a:solidFill>
              <a:latin typeface="Meiryo Bold" panose="020B0604030504040204" charset="-128"/>
              <a:ea typeface="Meiryo Bold" panose="020B0604030504040204" charset="-128"/>
              <a:cs typeface="Meiryo Bold" panose="020B0604030504040204" charset="-128"/>
            </a:endParaRPr>
          </a:p>
        </p:txBody>
      </p:sp>
      <mc:AlternateContent xmlns:mc="http://schemas.openxmlformats.org/markup-compatibility/2006">
        <mc:Choice xmlns:a14="http://schemas.microsoft.com/office/drawing/2010/main" Requires="a14">
          <p:sp>
            <p:nvSpPr>
              <p:cNvPr id="3" name="Text Box 2"/>
              <p:cNvSpPr txBox="1"/>
              <p:nvPr/>
            </p:nvSpPr>
            <p:spPr>
              <a:xfrm>
                <a:off x="107315" y="3045460"/>
                <a:ext cx="11971020" cy="3241675"/>
              </a:xfrm>
              <a:prstGeom prst="rect">
                <a:avLst/>
              </a:prstGeom>
              <a:noFill/>
              <a:ln>
                <a:solidFill>
                  <a:schemeClr val="accent2">
                    <a:lumMod val="75000"/>
                  </a:schemeClr>
                </a:solidFill>
                <a:prstDash val="dashDot"/>
              </a:ln>
            </p:spPr>
            <p:txBody>
              <a:bodyPr wrap="square" rtlCol="0">
                <a:spAutoFit/>
              </a:bodyPr>
              <a:p>
                <a:pPr marL="285750" indent="-285750" fontAlgn="auto">
                  <a:lnSpc>
                    <a:spcPct val="125000"/>
                  </a:lnSpc>
                  <a:buFont typeface="Arial" panose="020B0604020202090204" pitchFamily="34" charset="0"/>
                  <a:buChar char="•"/>
                </a:pPr>
                <a:r>
                  <a:rPr lang="ja-JP">
                    <a:latin typeface="Meiryo" panose="020B0604030504040204" charset="-128"/>
                    <a:ea typeface="Meiryo" panose="020B0604030504040204" charset="-128"/>
                    <a:cs typeface="Meiryo" panose="020B0604030504040204" charset="-128"/>
                  </a:rPr>
                  <a:t>特定のレイヤで行われる操作</a:t>
                </a:r>
                <a14:m>
                  <m:oMath xmlns:m="http://schemas.openxmlformats.org/officeDocument/2006/math">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𝑜</m:t>
                        </m:r>
                      </m:e>
                      <m:sub>
                        <m:r>
                          <a:rPr lang="en-US" altLang="ja-JP" i="1">
                            <a:latin typeface="Cambria Math" panose="02040503050406030204" charset="0"/>
                            <a:ea typeface="Meiryo" panose="020B0604030504040204" charset="-128"/>
                            <a:cs typeface="Cambria Math" panose="02040503050406030204" charset="0"/>
                            <a:sym typeface="+mn-ea"/>
                          </a:rPr>
                          <m:t>𝑖</m:t>
                        </m:r>
                      </m:sub>
                    </m:sSub>
                  </m:oMath>
                </a14:m>
                <a:r>
                  <a:rPr lang="en-US" altLang="ja-JP">
                    <a:latin typeface="Meiryo" panose="020B0604030504040204" charset="-128"/>
                    <a:ea typeface="Meiryo" panose="020B0604030504040204" charset="-128"/>
                    <a:sym typeface="+mn-ea"/>
                  </a:rPr>
                  <a:t>を(畳み込みやプーリングに)変更するのではなく、操作の集合</a:t>
                </a:r>
                <a14:m>
                  <m:oMath xmlns:m="http://schemas.openxmlformats.org/officeDocument/2006/math">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m:t>
                        </m:r>
                        <m:r>
                          <a:rPr lang="en-US" altLang="ja-JP" i="1">
                            <a:latin typeface="Cambria Math" panose="02040503050406030204" charset="0"/>
                            <a:ea typeface="Meiryo" panose="020B0604030504040204" charset="-128"/>
                            <a:cs typeface="Cambria Math" panose="02040503050406030204" charset="0"/>
                            <a:sym typeface="+mn-ea"/>
                          </a:rPr>
                          <m:t>𝑜</m:t>
                        </m:r>
                      </m:e>
                      <m:sub>
                        <m:r>
                          <a:rPr lang="en-US" altLang="ja-JP" i="1">
                            <a:latin typeface="Cambria Math" panose="02040503050406030204" charset="0"/>
                            <a:ea typeface="Meiryo" panose="020B0604030504040204" charset="-128"/>
                            <a:cs typeface="Cambria Math" panose="02040503050406030204" charset="0"/>
                            <a:sym typeface="+mn-ea"/>
                          </a:rPr>
                          <m:t>1</m:t>
                        </m:r>
                      </m:sub>
                    </m:sSub>
                    <m:r>
                      <a:rPr lang="en-US" altLang="ja-JP" i="1">
                        <a:latin typeface="Cambria Math" panose="02040503050406030204" charset="0"/>
                        <a:ea typeface="Meiryo" panose="020B0604030504040204" charset="-128"/>
                        <a:cs typeface="Cambria Math" panose="02040503050406030204" charset="0"/>
                        <a:sym typeface="+mn-ea"/>
                      </a:rPr>
                      <m:t>, ..., </m:t>
                    </m:r>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𝑜</m:t>
                        </m:r>
                      </m:e>
                      <m:sub>
                        <m:r>
                          <a:rPr lang="en-US" altLang="ja-JP" i="1">
                            <a:latin typeface="Cambria Math" panose="02040503050406030204" charset="0"/>
                            <a:ea typeface="Meiryo" panose="020B0604030504040204" charset="-128"/>
                            <a:cs typeface="Cambria Math" panose="02040503050406030204" charset="0"/>
                            <a:sym typeface="+mn-ea"/>
                          </a:rPr>
                          <m:t>𝑚</m:t>
                        </m:r>
                      </m:sub>
                    </m:sSub>
                    <m:r>
                      <a:rPr lang="en-US" altLang="ja-JP" i="1">
                        <a:latin typeface="Cambria Math" panose="02040503050406030204" charset="0"/>
                        <a:ea typeface="Meiryo" panose="020B0604030504040204" charset="-128"/>
                        <a:cs typeface="Cambria Math" panose="02040503050406030204" charset="0"/>
                        <a:sym typeface="+mn-ea"/>
                      </a:rPr>
                      <m:t>}</m:t>
                    </m:r>
                  </m:oMath>
                </a14:m>
                <a:r>
                  <a:rPr lang="en-US" altLang="ja-JP">
                    <a:latin typeface="Meiryo" panose="020B0604030504040204" charset="-128"/>
                    <a:ea typeface="Meiryo" panose="020B0604030504040204" charset="-128"/>
                    <a:sym typeface="+mn-ea"/>
                  </a:rPr>
                  <a:t>の凸結合(convex combination)を計算し</a:t>
                </a:r>
                <a:r>
                  <a:rPr lang="ja-JP" altLang="en-US">
                    <a:latin typeface="Meiryo" panose="020B0604030504040204" charset="-128"/>
                    <a:ea typeface="Meiryo" panose="020B0604030504040204" charset="-128"/>
                    <a:sym typeface="+mn-ea"/>
                  </a:rPr>
                  <a:t>た。</a:t>
                </a:r>
                <a:endParaRPr lang="ja-JP" altLang="en-US">
                  <a:latin typeface="Meiryo" panose="020B0604030504040204" charset="-128"/>
                  <a:ea typeface="Meiryo" panose="020B0604030504040204" charset="-128"/>
                  <a:sym typeface="+mn-ea"/>
                </a:endParaRPr>
              </a:p>
              <a:p>
                <a:pPr marL="285750" indent="-285750" fontAlgn="auto">
                  <a:lnSpc>
                    <a:spcPct val="125000"/>
                  </a:lnSpc>
                  <a:buFont typeface="Arial" panose="020B0604020202090204" pitchFamily="34" charset="0"/>
                  <a:buChar char="•"/>
                </a:pPr>
                <a:r>
                  <a:rPr lang="ja-JP" altLang="en-US">
                    <a:latin typeface="Meiryo" panose="020B0604030504040204" charset="-128"/>
                    <a:ea typeface="Meiryo" panose="020B0604030504040204" charset="-128"/>
                    <a:sym typeface="+mn-ea"/>
                  </a:rPr>
                  <a:t>具体的には、レイヤへの入力</a:t>
                </a:r>
                <a:r>
                  <a:rPr lang="en-US" altLang="ja-JP">
                    <a:latin typeface="Meiryo" panose="020B0604030504040204" charset="-128"/>
                    <a:ea typeface="Meiryo" panose="020B0604030504040204" charset="-128"/>
                    <a:sym typeface="+mn-ea"/>
                  </a:rPr>
                  <a:t>x</a:t>
                </a:r>
                <a:r>
                  <a:rPr lang="ja-JP" altLang="en-US">
                    <a:latin typeface="Meiryo" panose="020B0604030504040204" charset="-128"/>
                    <a:ea typeface="Meiryo" panose="020B0604030504040204" charset="-128"/>
                    <a:sym typeface="+mn-ea"/>
                  </a:rPr>
                  <a:t>が与えられた時、出力yは凸結合を用いて以下のように表せる。</a:t>
                </a:r>
                <a:endParaRPr lang="ja-JP" altLang="en-US">
                  <a:latin typeface="Meiryo" panose="020B0604030504040204" charset="-128"/>
                  <a:ea typeface="Meiryo" panose="020B0604030504040204" charset="-128"/>
                  <a:sym typeface="+mn-ea"/>
                </a:endParaRPr>
              </a:p>
              <a:p>
                <a:pPr indent="0" fontAlgn="auto">
                  <a:lnSpc>
                    <a:spcPct val="125000"/>
                  </a:lnSpc>
                  <a:buFont typeface="Arial" panose="020B0604020202090204" pitchFamily="34" charset="0"/>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charset="0"/>
                          <a:ea typeface="Meiryo" panose="020B0604030504040204" charset="-128"/>
                          <a:cs typeface="Cambria Math" panose="02040503050406030204" charset="0"/>
                          <a:sym typeface="+mn-ea"/>
                        </a:rPr>
                        <m:t>𝑦</m:t>
                      </m:r>
                      <m:r>
                        <a:rPr lang="en-US" altLang="ja-JP" i="1">
                          <a:latin typeface="Cambria Math" panose="02040503050406030204" charset="0"/>
                          <a:ea typeface="Meiryo" panose="020B0604030504040204" charset="-128"/>
                          <a:cs typeface="Cambria Math" panose="02040503050406030204" charset="0"/>
                          <a:sym typeface="+mn-ea"/>
                        </a:rPr>
                        <m:t>=</m:t>
                      </m:r>
                      <m:nary>
                        <m:naryPr>
                          <m:chr m:val="∑"/>
                          <m:limLoc m:val="subSup"/>
                          <m:ctrlPr>
                            <a:rPr lang="en-US" altLang="ja-JP" i="1">
                              <a:latin typeface="Cambria Math" panose="02040503050406030204" charset="0"/>
                              <a:ea typeface="Meiryo" panose="020B0604030504040204" charset="-128"/>
                              <a:cs typeface="Cambria Math" panose="02040503050406030204" charset="0"/>
                              <a:sym typeface="+mn-ea"/>
                            </a:rPr>
                          </m:ctrlPr>
                        </m:naryPr>
                        <m:sub>
                          <m:r>
                            <a:rPr lang="en-US" altLang="ja-JP" i="1">
                              <a:latin typeface="Cambria Math" panose="02040503050406030204" charset="0"/>
                              <a:ea typeface="Meiryo" panose="020B0604030504040204" charset="-128"/>
                              <a:cs typeface="Cambria Math" panose="02040503050406030204" charset="0"/>
                              <a:sym typeface="+mn-ea"/>
                            </a:rPr>
                            <m:t>𝑖</m:t>
                          </m:r>
                          <m:r>
                            <a:rPr lang="en-US" altLang="ja-JP" i="1">
                              <a:latin typeface="Cambria Math" panose="02040503050406030204" charset="0"/>
                              <a:ea typeface="Meiryo" panose="020B0604030504040204" charset="-128"/>
                              <a:cs typeface="Cambria Math" panose="02040503050406030204" charset="0"/>
                              <a:sym typeface="+mn-ea"/>
                            </a:rPr>
                            <m:t>=</m:t>
                          </m:r>
                          <m:r>
                            <a:rPr lang="en-US" altLang="ja-JP" i="1">
                              <a:latin typeface="Cambria Math" panose="02040503050406030204" charset="0"/>
                              <a:ea typeface="Meiryo" panose="020B0604030504040204" charset="-128"/>
                              <a:cs typeface="Cambria Math" panose="02040503050406030204" charset="0"/>
                              <a:sym typeface="+mn-ea"/>
                            </a:rPr>
                            <m:t>1</m:t>
                          </m:r>
                        </m:sub>
                        <m:sup>
                          <m:r>
                            <a:rPr lang="en-US" altLang="ja-JP" i="1">
                              <a:latin typeface="Cambria Math" panose="02040503050406030204" charset="0"/>
                              <a:ea typeface="Meiryo" panose="020B0604030504040204" charset="-128"/>
                              <a:cs typeface="Cambria Math" panose="02040503050406030204" charset="0"/>
                              <a:sym typeface="+mn-ea"/>
                            </a:rPr>
                            <m:t>𝑚</m:t>
                          </m:r>
                        </m:sup>
                        <m:e>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λ</m:t>
                              </m:r>
                            </m:e>
                            <m:sub>
                              <m:r>
                                <a:rPr lang="en-US" altLang="ja-JP" i="1">
                                  <a:latin typeface="Cambria Math" panose="02040503050406030204" charset="0"/>
                                  <a:ea typeface="Meiryo" panose="020B0604030504040204" charset="-128"/>
                                  <a:cs typeface="Cambria Math" panose="02040503050406030204" charset="0"/>
                                  <a:sym typeface="+mn-ea"/>
                                </a:rPr>
                                <m:t>𝑖</m:t>
                              </m:r>
                            </m:sub>
                          </m:sSub>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𝑜</m:t>
                              </m:r>
                            </m:e>
                            <m:sub>
                              <m:r>
                                <a:rPr lang="en-US" altLang="ja-JP" i="1">
                                  <a:latin typeface="Cambria Math" panose="02040503050406030204" charset="0"/>
                                  <a:ea typeface="Meiryo" panose="020B0604030504040204" charset="-128"/>
                                  <a:cs typeface="Cambria Math" panose="02040503050406030204" charset="0"/>
                                  <a:sym typeface="+mn-ea"/>
                                </a:rPr>
                                <m:t>𝑖</m:t>
                              </m:r>
                            </m:sub>
                          </m:sSub>
                          <m:r>
                            <a:rPr lang="en-US" altLang="ja-JP" i="1">
                              <a:latin typeface="Cambria Math" panose="02040503050406030204" charset="0"/>
                              <a:ea typeface="Meiryo" panose="020B0604030504040204" charset="-128"/>
                              <a:cs typeface="Cambria Math" panose="02040503050406030204" charset="0"/>
                              <a:sym typeface="+mn-ea"/>
                            </a:rPr>
                            <m:t>(</m:t>
                          </m:r>
                          <m:r>
                            <a:rPr lang="en-US" altLang="ja-JP" i="1">
                              <a:latin typeface="Cambria Math" panose="02040503050406030204" charset="0"/>
                              <a:ea typeface="Meiryo" panose="020B0604030504040204" charset="-128"/>
                              <a:cs typeface="Cambria Math" panose="02040503050406030204" charset="0"/>
                              <a:sym typeface="+mn-ea"/>
                            </a:rPr>
                            <m:t>𝑥</m:t>
                          </m:r>
                          <m:r>
                            <a:rPr lang="en-US" altLang="ja-JP" i="1">
                              <a:latin typeface="Cambria Math" panose="02040503050406030204" charset="0"/>
                              <a:ea typeface="Meiryo" panose="020B0604030504040204" charset="-128"/>
                              <a:cs typeface="Cambria Math" panose="02040503050406030204" charset="0"/>
                              <a:sym typeface="+mn-ea"/>
                            </a:rPr>
                            <m:t>)</m:t>
                          </m:r>
                        </m:e>
                      </m:nary>
                      <m:r>
                        <a:rPr lang="en-US" altLang="ja-JP" i="1">
                          <a:latin typeface="Cambria Math" panose="02040503050406030204" charset="0"/>
                          <a:ea typeface="Meiryo" panose="020B0604030504040204" charset="-128"/>
                          <a:cs typeface="Cambria Math" panose="02040503050406030204" charset="0"/>
                          <a:sym typeface="+mn-ea"/>
                        </a:rPr>
                        <m:t>, </m:t>
                      </m:r>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λ </m:t>
                          </m:r>
                        </m:e>
                        <m:sub>
                          <m:r>
                            <a:rPr lang="en-US" altLang="ja-JP" i="1">
                              <a:latin typeface="Cambria Math" panose="02040503050406030204" charset="0"/>
                              <a:ea typeface="Meiryo" panose="020B0604030504040204" charset="-128"/>
                              <a:cs typeface="Cambria Math" panose="02040503050406030204" charset="0"/>
                              <a:sym typeface="+mn-ea"/>
                            </a:rPr>
                            <m:t>𝑖</m:t>
                          </m:r>
                        </m:sub>
                      </m:sSub>
                      <m:r>
                        <a:rPr lang="en-US" altLang="ja-JP" i="1">
                          <a:latin typeface="Cambria Math" panose="02040503050406030204" charset="0"/>
                          <a:ea typeface="Meiryo" panose="020B0604030504040204" charset="-128"/>
                          <a:cs typeface="Cambria Math" panose="02040503050406030204" charset="0"/>
                          <a:sym typeface="+mn-ea"/>
                        </a:rPr>
                        <m:t>≥</m:t>
                      </m:r>
                      <m:r>
                        <a:rPr lang="en-US" altLang="ja-JP" i="1">
                          <a:latin typeface="Cambria Math" panose="02040503050406030204" charset="0"/>
                          <a:ea typeface="Meiryo" panose="020B0604030504040204" charset="-128"/>
                          <a:cs typeface="Cambria Math" panose="02040503050406030204" charset="0"/>
                          <a:sym typeface="+mn-ea"/>
                        </a:rPr>
                        <m:t>0</m:t>
                      </m:r>
                      <m:r>
                        <a:rPr lang="en-US" altLang="ja-JP" i="1">
                          <a:latin typeface="Cambria Math" panose="02040503050406030204" charset="0"/>
                          <a:ea typeface="Meiryo" panose="020B0604030504040204" charset="-128"/>
                          <a:cs typeface="Cambria Math" panose="02040503050406030204" charset="0"/>
                          <a:sym typeface="+mn-ea"/>
                        </a:rPr>
                        <m:t>, </m:t>
                      </m:r>
                      <m:nary>
                        <m:naryPr>
                          <m:chr m:val="∑"/>
                          <m:limLoc m:val="subSup"/>
                          <m:ctrlPr>
                            <a:rPr lang="en-US" altLang="ja-JP" i="1">
                              <a:latin typeface="Cambria Math" panose="02040503050406030204" charset="0"/>
                              <a:ea typeface="Meiryo" panose="020B0604030504040204" charset="-128"/>
                              <a:cs typeface="Cambria Math" panose="02040503050406030204" charset="0"/>
                              <a:sym typeface="+mn-ea"/>
                            </a:rPr>
                          </m:ctrlPr>
                        </m:naryPr>
                        <m:sub>
                          <m:r>
                            <a:rPr lang="en-US" altLang="ja-JP" i="1">
                              <a:latin typeface="Cambria Math" panose="02040503050406030204" charset="0"/>
                              <a:ea typeface="Meiryo" panose="020B0604030504040204" charset="-128"/>
                              <a:cs typeface="Cambria Math" panose="02040503050406030204" charset="0"/>
                              <a:sym typeface="+mn-ea"/>
                            </a:rPr>
                            <m:t>𝑖</m:t>
                          </m:r>
                          <m:r>
                            <a:rPr lang="en-US" altLang="ja-JP" i="1">
                              <a:latin typeface="Cambria Math" panose="02040503050406030204" charset="0"/>
                              <a:ea typeface="Meiryo" panose="020B0604030504040204" charset="-128"/>
                              <a:cs typeface="Cambria Math" panose="02040503050406030204" charset="0"/>
                              <a:sym typeface="+mn-ea"/>
                            </a:rPr>
                            <m:t>=</m:t>
                          </m:r>
                          <m:r>
                            <a:rPr lang="en-US" altLang="ja-JP" i="1">
                              <a:latin typeface="Cambria Math" panose="02040503050406030204" charset="0"/>
                              <a:ea typeface="Meiryo" panose="020B0604030504040204" charset="-128"/>
                              <a:cs typeface="Cambria Math" panose="02040503050406030204" charset="0"/>
                              <a:sym typeface="+mn-ea"/>
                            </a:rPr>
                            <m:t>1</m:t>
                          </m:r>
                        </m:sub>
                        <m:sup>
                          <m:r>
                            <a:rPr lang="en-US" altLang="ja-JP" i="1">
                              <a:latin typeface="Cambria Math" panose="02040503050406030204" charset="0"/>
                              <a:ea typeface="Meiryo" panose="020B0604030504040204" charset="-128"/>
                              <a:cs typeface="Cambria Math" panose="02040503050406030204" charset="0"/>
                              <a:sym typeface="+mn-ea"/>
                            </a:rPr>
                            <m:t>𝑚</m:t>
                          </m:r>
                        </m:sup>
                        <m:e>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𝜆</m:t>
                              </m:r>
                            </m:e>
                            <m:sub>
                              <m:r>
                                <a:rPr lang="en-US" altLang="ja-JP" i="1">
                                  <a:latin typeface="Cambria Math" panose="02040503050406030204" charset="0"/>
                                  <a:ea typeface="Meiryo" panose="020B0604030504040204" charset="-128"/>
                                  <a:cs typeface="Cambria Math" panose="02040503050406030204" charset="0"/>
                                  <a:sym typeface="+mn-ea"/>
                                </a:rPr>
                                <m:t>𝑖</m:t>
                              </m:r>
                            </m:sub>
                          </m:sSub>
                          <m:r>
                            <a:rPr lang="en-US" altLang="ja-JP" i="1">
                              <a:latin typeface="Cambria Math" panose="02040503050406030204" charset="0"/>
                              <a:ea typeface="Meiryo" panose="020B0604030504040204" charset="-128"/>
                              <a:cs typeface="Cambria Math" panose="02040503050406030204" charset="0"/>
                              <a:sym typeface="+mn-ea"/>
                            </a:rPr>
                            <m:t>=</m:t>
                          </m:r>
                          <m:r>
                            <a:rPr lang="en-US" altLang="ja-JP" i="1">
                              <a:latin typeface="Cambria Math" panose="02040503050406030204" charset="0"/>
                              <a:ea typeface="Meiryo" panose="020B0604030504040204" charset="-128"/>
                              <a:cs typeface="Cambria Math" panose="02040503050406030204" charset="0"/>
                              <a:sym typeface="+mn-ea"/>
                            </a:rPr>
                            <m:t>1</m:t>
                          </m:r>
                        </m:e>
                      </m:nary>
                    </m:oMath>
                  </m:oMathPara>
                </a14:m>
                <a:endParaRPr lang="ja-JP">
                  <a:latin typeface="Meiryo" panose="020B0604030504040204" charset="-128"/>
                  <a:ea typeface="Meiryo" panose="020B0604030504040204" charset="-128"/>
                  <a:cs typeface="Meiryo" panose="020B0604030504040204" charset="-128"/>
                </a:endParaRPr>
              </a:p>
              <a:p>
                <a:pPr marL="285750" indent="-285750" fontAlgn="auto">
                  <a:lnSpc>
                    <a:spcPct val="125000"/>
                  </a:lnSpc>
                  <a:buFont typeface="Arial" panose="020B0604020202090204" pitchFamily="34" charset="0"/>
                  <a:buChar char="•"/>
                </a:pPr>
                <a14:m>
                  <m:oMath xmlns:m="http://schemas.openxmlformats.org/officeDocument/2006/math">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𝜆</m:t>
                        </m:r>
                      </m:e>
                      <m:sub>
                        <m:r>
                          <a:rPr lang="en-US" altLang="ja-JP" i="1">
                            <a:latin typeface="Cambria Math" panose="02040503050406030204" charset="0"/>
                            <a:ea typeface="Meiryo" panose="020B0604030504040204" charset="-128"/>
                            <a:cs typeface="Cambria Math" panose="02040503050406030204" charset="0"/>
                            <a:sym typeface="+mn-ea"/>
                          </a:rPr>
                          <m:t>𝑖</m:t>
                        </m:r>
                      </m:sub>
                    </m:sSub>
                  </m:oMath>
                </a14:m>
                <a:r>
                  <a:rPr lang="ja-JP" altLang="en-US" i="1">
                    <a:latin typeface="Cambria Math" panose="02040503050406030204" charset="0"/>
                    <a:ea typeface="Meiryo" panose="020B0604030504040204" charset="-128"/>
                    <a:cs typeface="Cambria Math" panose="02040503050406030204" charset="0"/>
                    <a:sym typeface="+mn-ea"/>
                  </a:rPr>
                  <a:t>は効果的に</a:t>
                </a:r>
                <a:r>
                  <a:rPr lang="en-US" altLang="ja-JP" i="1">
                    <a:latin typeface="Cambria Math" panose="02040503050406030204" charset="0"/>
                    <a:ea typeface="Meiryo" panose="020B0604030504040204" charset="-128"/>
                    <a:cs typeface="Cambria Math" panose="02040503050406030204" charset="0"/>
                    <a:sym typeface="+mn-ea"/>
                  </a:rPr>
                  <a:t>NN</a:t>
                </a:r>
                <a:r>
                  <a:rPr lang="ja-JP" altLang="en-US" i="1">
                    <a:latin typeface="Cambria Math" panose="02040503050406030204" charset="0"/>
                    <a:ea typeface="Meiryo" panose="020B0604030504040204" charset="-128"/>
                    <a:cs typeface="Cambria Math" panose="02040503050406030204" charset="0"/>
                    <a:sym typeface="+mn-ea"/>
                  </a:rPr>
                  <a:t>の構造をパラメトライズできていると言える。</a:t>
                </a:r>
                <a:endParaRPr lang="ja-JP" altLang="en-US" i="1">
                  <a:latin typeface="Cambria Math" panose="02040503050406030204" charset="0"/>
                  <a:ea typeface="Meiryo" panose="020B0604030504040204" charset="-128"/>
                  <a:cs typeface="Cambria Math" panose="02040503050406030204" charset="0"/>
                  <a:sym typeface="+mn-ea"/>
                </a:endParaRPr>
              </a:p>
              <a:p>
                <a:pPr marL="285750" indent="-285750" fontAlgn="auto">
                  <a:lnSpc>
                    <a:spcPct val="125000"/>
                  </a:lnSpc>
                  <a:buFont typeface="Arial" panose="020B0604020202090204" pitchFamily="34" charset="0"/>
                  <a:buChar char="•"/>
                </a:pPr>
                <a:r>
                  <a:rPr lang="ja-JP" altLang="en-US" i="1">
                    <a:latin typeface="Cambria Math" panose="02040503050406030204" charset="0"/>
                    <a:ea typeface="Meiryo" panose="020B0604030504040204" charset="-128"/>
                    <a:cs typeface="Cambria Math" panose="02040503050406030204" charset="0"/>
                    <a:sym typeface="+mn-ea"/>
                  </a:rPr>
                  <a:t>重みと構造の両方を交互に勾配降下法で最適化した。</a:t>
                </a:r>
                <a:endParaRPr lang="ja-JP" altLang="en-US" i="1">
                  <a:latin typeface="Cambria Math" panose="02040503050406030204" charset="0"/>
                  <a:ea typeface="Meiryo" panose="020B0604030504040204" charset="-128"/>
                  <a:cs typeface="Cambria Math" panose="02040503050406030204" charset="0"/>
                  <a:sym typeface="+mn-ea"/>
                </a:endParaRPr>
              </a:p>
              <a:p>
                <a:pPr marL="285750" indent="-285750" fontAlgn="auto">
                  <a:lnSpc>
                    <a:spcPct val="125000"/>
                  </a:lnSpc>
                  <a:buFont typeface="Arial" panose="020B0604020202090204" pitchFamily="34" charset="0"/>
                  <a:buChar char="•"/>
                </a:pPr>
                <a:r>
                  <a:rPr lang="ja-JP" altLang="en-US" i="1">
                    <a:latin typeface="Cambria Math" panose="02040503050406030204" charset="0"/>
                    <a:ea typeface="Meiryo" panose="020B0604030504040204" charset="-128"/>
                    <a:cs typeface="Cambria Math" panose="02040503050406030204" charset="0"/>
                    <a:sym typeface="+mn-ea"/>
                  </a:rPr>
                  <a:t>この時、重みの学習にはtrainデータを、構造の学習にはvalidデータを用いている。</a:t>
                </a:r>
                <a:endParaRPr lang="ja-JP" altLang="en-US" i="1">
                  <a:latin typeface="Cambria Math" panose="02040503050406030204" charset="0"/>
                  <a:ea typeface="Meiryo" panose="020B0604030504040204" charset="-128"/>
                  <a:cs typeface="Cambria Math" panose="02040503050406030204" charset="0"/>
                  <a:sym typeface="+mn-ea"/>
                </a:endParaRPr>
              </a:p>
              <a:p>
                <a:pPr indent="0" fontAlgn="auto">
                  <a:lnSpc>
                    <a:spcPct val="125000"/>
                  </a:lnSpc>
                  <a:buFont typeface="Arial" panose="020B0604020202090204" pitchFamily="34" charset="0"/>
                  <a:buNone/>
                </a:pPr>
                <a:r>
                  <a:rPr lang="ja-JP" altLang="en-US" i="1">
                    <a:latin typeface="Cambria Math" panose="02040503050406030204" charset="0"/>
                    <a:ea typeface="Meiryo" panose="020B0604030504040204" charset="-128"/>
                    <a:cs typeface="Cambria Math" panose="02040503050406030204" charset="0"/>
                    <a:sym typeface="+mn-ea"/>
                  </a:rPr>
                  <a:t>　(構造のパラメータにはとして凸結合を用いている。</a:t>
                </a:r>
                <a:r>
                  <a:rPr lang="en-US" altLang="ja-JP" i="1">
                    <a:latin typeface="Cambria Math" panose="02040503050406030204" charset="0"/>
                    <a:ea typeface="Meiryo" panose="020B0604030504040204" charset="-128"/>
                    <a:cs typeface="Cambria Math" panose="02040503050406030204" charset="0"/>
                    <a:sym typeface="+mn-ea"/>
                  </a:rPr>
                  <a:t>)</a:t>
                </a:r>
                <a:endParaRPr lang="ja-JP" altLang="en-US" i="1">
                  <a:latin typeface="Cambria Math" panose="02040503050406030204" charset="0"/>
                  <a:ea typeface="Meiryo" panose="020B0604030504040204" charset="-128"/>
                  <a:cs typeface="Cambria Math" panose="02040503050406030204" charset="0"/>
                  <a:sym typeface="+mn-ea"/>
                </a:endParaRPr>
              </a:p>
              <a:p>
                <a:pPr marL="285750" indent="-285750" fontAlgn="auto">
                  <a:lnSpc>
                    <a:spcPct val="125000"/>
                  </a:lnSpc>
                  <a:buFont typeface="Arial" panose="020B0604020202090204" pitchFamily="34" charset="0"/>
                  <a:buChar char="•"/>
                </a:pPr>
                <a:r>
                  <a:rPr lang="ja-JP" altLang="en-US" i="1">
                    <a:latin typeface="Cambria Math" panose="02040503050406030204" charset="0"/>
                    <a:ea typeface="Meiryo" panose="020B0604030504040204" charset="-128"/>
                    <a:cs typeface="Cambria Math" panose="02040503050406030204" charset="0"/>
                    <a:sym typeface="+mn-ea"/>
                  </a:rPr>
                  <a:t>最終的に、</a:t>
                </a:r>
                <a14:m>
                  <m:oMath xmlns:m="http://schemas.openxmlformats.org/officeDocument/2006/math">
                    <m:sSub>
                      <m:sSubPr>
                        <m:ctrlPr>
                          <a:rPr lang="en-US" altLang="ja-JP" i="1">
                            <a:latin typeface="Cambria Math" panose="02040503050406030204" charset="0"/>
                            <a:ea typeface="Meiryo" panose="020B0604030504040204" charset="-128"/>
                            <a:cs typeface="Cambria Math" panose="02040503050406030204" charset="0"/>
                            <a:sym typeface="+mn-ea"/>
                          </a:rPr>
                        </m:ctrlPr>
                      </m:sSubPr>
                      <m:e>
                        <m:r>
                          <a:rPr lang="en-US" altLang="ja-JP" i="1">
                            <a:latin typeface="Cambria Math" panose="02040503050406030204" charset="0"/>
                            <a:ea typeface="Meiryo" panose="020B0604030504040204" charset="-128"/>
                            <a:cs typeface="Cambria Math" panose="02040503050406030204" charset="0"/>
                            <a:sym typeface="+mn-ea"/>
                          </a:rPr>
                          <m:t>𝜆</m:t>
                        </m:r>
                      </m:e>
                      <m:sub>
                        <m:r>
                          <a:rPr lang="en-US" altLang="ja-JP" i="1">
                            <a:latin typeface="Cambria Math" panose="02040503050406030204" charset="0"/>
                            <a:ea typeface="Meiryo" panose="020B0604030504040204" charset="-128"/>
                            <a:cs typeface="Cambria Math" panose="02040503050406030204" charset="0"/>
                            <a:sym typeface="+mn-ea"/>
                          </a:rPr>
                          <m:t>𝑖</m:t>
                        </m:r>
                      </m:sub>
                    </m:sSub>
                  </m:oMath>
                </a14:m>
                <a:r>
                  <a:rPr lang="ja-JP" altLang="en-US" i="1">
                    <a:latin typeface="Cambria Math" panose="02040503050406030204" charset="0"/>
                    <a:ea typeface="Meiryo" panose="020B0604030504040204" charset="-128"/>
                    <a:cs typeface="Cambria Math" panose="02040503050406030204" charset="0"/>
                    <a:sym typeface="+mn-ea"/>
                  </a:rPr>
                  <a:t>が最大になる操作iが各レイヤで採用され、離散的な構造を得ることができる。</a:t>
                </a:r>
                <a:endParaRPr lang="ja-JP" altLang="en-US" i="1">
                  <a:latin typeface="Cambria Math" panose="02040503050406030204" charset="0"/>
                  <a:ea typeface="Meiryo" panose="020B0604030504040204" charset="-128"/>
                  <a:cs typeface="Cambria Math" panose="02040503050406030204" charset="0"/>
                  <a:sym typeface="+mn-ea"/>
                </a:endParaRPr>
              </a:p>
            </p:txBody>
          </p:sp>
        </mc:Choice>
        <mc:Fallback>
          <p:sp>
            <p:nvSpPr>
              <p:cNvPr id="3" name="Text Box 2"/>
              <p:cNvSpPr txBox="1">
                <a:spLocks noRot="1" noChangeAspect="1" noMove="1" noResize="1" noEditPoints="1" noAdjustHandles="1" noChangeArrowheads="1" noChangeShapeType="1" noTextEdit="1"/>
              </p:cNvSpPr>
              <p:nvPr/>
            </p:nvSpPr>
            <p:spPr>
              <a:xfrm>
                <a:off x="107315" y="3045460"/>
                <a:ext cx="11971020" cy="3241675"/>
              </a:xfrm>
              <a:prstGeom prst="rect">
                <a:avLst/>
              </a:prstGeom>
              <a:blipFill rotWithShape="1">
                <a:blip r:embed="rId1"/>
                <a:stretch>
                  <a:fillRect l="-53" t="-196" r="-53" b="-196"/>
                </a:stretch>
              </a:blipFill>
              <a:ln>
                <a:solidFill>
                  <a:schemeClr val="accent2">
                    <a:lumMod val="75000"/>
                  </a:schemeClr>
                </a:solidFill>
                <a:prstDash val="dashDot"/>
              </a:ln>
            </p:spPr>
            <p:txBody>
              <a:bodyPr/>
              <a:lstStyle/>
              <a:p>
                <a:r>
                  <a:rPr lang="en-US" altLang="en-US">
                    <a:noFill/>
                  </a:rPr>
                  <a:t> </a:t>
                </a:r>
              </a:p>
            </p:txBody>
          </p:sp>
        </mc:Fallback>
      </mc:AlternateContent>
      <p:sp>
        <p:nvSpPr>
          <p:cNvPr id="11" name="Text Box 10"/>
          <p:cNvSpPr txBox="1"/>
          <p:nvPr/>
        </p:nvSpPr>
        <p:spPr>
          <a:xfrm>
            <a:off x="635" y="1407795"/>
            <a:ext cx="12190730" cy="783590"/>
          </a:xfrm>
          <a:prstGeom prst="rect">
            <a:avLst/>
          </a:prstGeom>
          <a:noFill/>
        </p:spPr>
        <p:txBody>
          <a:bodyPr wrap="square" rtlCol="0">
            <a:spAutoFit/>
          </a:bodyPr>
          <a:p>
            <a:pPr marL="285750" indent="-285750" fontAlgn="auto">
              <a:lnSpc>
                <a:spcPct val="125000"/>
              </a:lnSpc>
              <a:buFont typeface="Arial" panose="020B0604020202090204" pitchFamily="34" charset="0"/>
              <a:buChar char="•"/>
            </a:pPr>
            <a:r>
              <a:rPr>
                <a:solidFill>
                  <a:schemeClr val="tx1">
                    <a:lumMod val="50000"/>
                    <a:lumOff val="50000"/>
                  </a:schemeClr>
                </a:solidFill>
                <a:latin typeface="Meiryo Regular" panose="020B0604030504040204" charset="-128"/>
                <a:ea typeface="Meiryo Regular" panose="020B0604030504040204" charset="-128"/>
              </a:rPr>
              <a:t>ベイズ最適化(BO)は最もポピュラーなハイパラ最適化手法の1つですが、あまりNASには使われてい</a:t>
            </a:r>
            <a:r>
              <a:rPr lang="ja-JP">
                <a:solidFill>
                  <a:schemeClr val="tx1">
                    <a:lumMod val="50000"/>
                    <a:lumOff val="50000"/>
                  </a:schemeClr>
                </a:solidFill>
                <a:latin typeface="Meiryo Regular" panose="020B0604030504040204" charset="-128"/>
                <a:ea typeface="Meiryo Regular" panose="020B0604030504040204" charset="-128"/>
              </a:rPr>
              <a:t>なかった。</a:t>
            </a:r>
            <a:endParaRPr lang="ja-JP">
              <a:solidFill>
                <a:schemeClr val="tx1">
                  <a:lumMod val="50000"/>
                  <a:lumOff val="50000"/>
                </a:schemeClr>
              </a:solidFill>
              <a:latin typeface="Meiryo Regular" panose="020B0604030504040204" charset="-128"/>
              <a:ea typeface="Meiryo Regular" panose="020B0604030504040204" charset="-128"/>
            </a:endParaRPr>
          </a:p>
          <a:p>
            <a:pPr marL="285750" indent="-285750" fontAlgn="auto">
              <a:lnSpc>
                <a:spcPct val="125000"/>
              </a:lnSpc>
              <a:buFont typeface="Arial" panose="020B0604020202090204" pitchFamily="34" charset="0"/>
              <a:buChar char="•"/>
            </a:pPr>
            <a:r>
              <a:rPr lang="ja-JP">
                <a:solidFill>
                  <a:schemeClr val="tx1">
                    <a:lumMod val="50000"/>
                    <a:lumOff val="50000"/>
                  </a:schemeClr>
                </a:solidFill>
                <a:latin typeface="Meiryo Regular" panose="020B0604030504040204" charset="-128"/>
                <a:ea typeface="Meiryo Regular" panose="020B0604030504040204" charset="-128"/>
              </a:rPr>
              <a:t>離散空間を採用する手法はいろいろ研究されていた。</a:t>
            </a:r>
            <a:endParaRPr lang="ja-JP">
              <a:solidFill>
                <a:schemeClr val="tx1">
                  <a:lumMod val="50000"/>
                  <a:lumOff val="50000"/>
                </a:schemeClr>
              </a:solidFill>
              <a:latin typeface="Meiryo Regular" panose="020B0604030504040204" charset="-128"/>
              <a:ea typeface="Meiryo Regular" panose="020B0604030504040204" charset="-128"/>
            </a:endParaRPr>
          </a:p>
        </p:txBody>
      </p:sp>
      <p:sp>
        <p:nvSpPr>
          <p:cNvPr id="14" name="Text Box 13"/>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rPr>
              <a:t>Search strategy</a:t>
            </a:r>
            <a:endParaRPr lang="en-US" sz="2800" b="1">
              <a:latin typeface="Meiryo Bold" panose="020B0604030504040204" charset="-128"/>
              <a:ea typeface="Meiryo Bold" panose="020B0604030504040204"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5" name="Text Box 4"/>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sym typeface="+mn-ea"/>
              </a:rPr>
              <a:t>Performance estimation strategy</a:t>
            </a:r>
            <a:endParaRPr lang="en-US" sz="2800" b="1">
              <a:latin typeface="Meiryo Bold" panose="020B0604030504040204" charset="-128"/>
              <a:ea typeface="Meiryo Bold" panose="020B0604030504040204" charset="-128"/>
            </a:endParaRPr>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11" name="Text Box 10"/>
          <p:cNvSpPr txBox="1"/>
          <p:nvPr/>
        </p:nvSpPr>
        <p:spPr>
          <a:xfrm>
            <a:off x="635" y="1069975"/>
            <a:ext cx="12190730" cy="2784475"/>
          </a:xfrm>
          <a:prstGeom prst="rect">
            <a:avLst/>
          </a:prstGeom>
          <a:noFill/>
        </p:spPr>
        <p:txBody>
          <a:bodyPr wrap="square" rtlCol="0">
            <a:spAutoFit/>
          </a:bodyPr>
          <a:p>
            <a:pPr marL="285750" indent="-285750" fontAlgn="auto">
              <a:lnSpc>
                <a:spcPct val="125000"/>
              </a:lnSpc>
              <a:buFont typeface="Arial" panose="020B0604020202090204" pitchFamily="34" charset="0"/>
              <a:buChar char="•"/>
            </a:pPr>
            <a:r>
              <a:rPr sz="2000">
                <a:solidFill>
                  <a:schemeClr val="tx1">
                    <a:lumMod val="50000"/>
                    <a:lumOff val="50000"/>
                  </a:schemeClr>
                </a:solidFill>
                <a:latin typeface="Meiryo Regular" panose="020B0604030504040204" charset="-128"/>
                <a:ea typeface="Meiryo Regular" panose="020B0604030504040204" charset="-128"/>
              </a:rPr>
              <a:t>前セクションで説明した探索戦略は、未知のデータに対するパフォーマンスを最大化する構造を選ぶことを目的としてい</a:t>
            </a:r>
            <a:r>
              <a:rPr lang="ja-JP" sz="2000">
                <a:solidFill>
                  <a:schemeClr val="tx1">
                    <a:lumMod val="50000"/>
                    <a:lumOff val="50000"/>
                  </a:schemeClr>
                </a:solidFill>
                <a:latin typeface="Meiryo Regular" panose="020B0604030504040204" charset="-128"/>
                <a:ea typeface="Meiryo Regular" panose="020B0604030504040204" charset="-128"/>
              </a:rPr>
              <a:t>る。</a:t>
            </a:r>
            <a:endParaRPr sz="2000">
              <a:solidFill>
                <a:schemeClr val="tx1">
                  <a:lumMod val="50000"/>
                  <a:lumOff val="50000"/>
                </a:schemeClr>
              </a:solidFill>
              <a:latin typeface="Meiryo Regular" panose="020B0604030504040204" charset="-128"/>
              <a:ea typeface="Meiryo Regular" panose="020B0604030504040204" charset="-128"/>
            </a:endParaRPr>
          </a:p>
          <a:p>
            <a:pPr marL="285750" indent="-285750" fontAlgn="auto">
              <a:lnSpc>
                <a:spcPct val="125000"/>
              </a:lnSpc>
              <a:buFont typeface="Arial" panose="020B0604020202090204" pitchFamily="34" charset="0"/>
              <a:buChar char="•"/>
            </a:pPr>
            <a:r>
              <a:rPr sz="2000">
                <a:solidFill>
                  <a:schemeClr val="tx1">
                    <a:lumMod val="50000"/>
                    <a:lumOff val="50000"/>
                  </a:schemeClr>
                </a:solidFill>
                <a:latin typeface="Meiryo Regular" panose="020B0604030504040204" charset="-128"/>
                <a:ea typeface="Meiryo Regular" panose="020B0604030504040204" charset="-128"/>
              </a:rPr>
              <a:t>当然、探索戦略が選んだNNの構造のパフォーマンスを評価する必要があ</a:t>
            </a:r>
            <a:r>
              <a:rPr lang="ja-JP" sz="2000">
                <a:solidFill>
                  <a:schemeClr val="tx1">
                    <a:lumMod val="50000"/>
                    <a:lumOff val="50000"/>
                  </a:schemeClr>
                </a:solidFill>
                <a:latin typeface="Meiryo Regular" panose="020B0604030504040204" charset="-128"/>
                <a:ea typeface="Meiryo Regular" panose="020B0604030504040204" charset="-128"/>
              </a:rPr>
              <a:t>る</a:t>
            </a:r>
            <a:r>
              <a:rPr sz="2000">
                <a:solidFill>
                  <a:schemeClr val="tx1">
                    <a:lumMod val="50000"/>
                    <a:lumOff val="50000"/>
                  </a:schemeClr>
                </a:solidFill>
                <a:latin typeface="Meiryo Regular" panose="020B0604030504040204" charset="-128"/>
                <a:ea typeface="Meiryo Regular" panose="020B0604030504040204" charset="-128"/>
              </a:rPr>
              <a:t>。</a:t>
            </a:r>
            <a:endParaRPr sz="2000">
              <a:solidFill>
                <a:schemeClr val="tx1">
                  <a:lumMod val="50000"/>
                  <a:lumOff val="50000"/>
                </a:schemeClr>
              </a:solidFill>
              <a:latin typeface="Meiryo Regular" panose="020B0604030504040204" charset="-128"/>
              <a:ea typeface="Meiryo Regular" panose="020B0604030504040204" charset="-128"/>
            </a:endParaRPr>
          </a:p>
          <a:p>
            <a:pPr marL="285750" indent="-285750" fontAlgn="auto">
              <a:lnSpc>
                <a:spcPct val="125000"/>
              </a:lnSpc>
              <a:buFont typeface="Arial" panose="020B0604020202090204" pitchFamily="34" charset="0"/>
              <a:buChar char="•"/>
            </a:pPr>
            <a:r>
              <a:rPr sz="2000">
                <a:solidFill>
                  <a:schemeClr val="tx1">
                    <a:lumMod val="50000"/>
                    <a:lumOff val="50000"/>
                  </a:schemeClr>
                </a:solidFill>
                <a:latin typeface="Meiryo Regular" panose="020B0604030504040204" charset="-128"/>
                <a:ea typeface="Meiryo Regular" panose="020B0604030504040204" charset="-128"/>
              </a:rPr>
              <a:t>最も簡単な方法は、(一般的な機械学習手法で用いられているように)trainデータとvalid</a:t>
            </a:r>
            <a:r>
              <a:rPr lang="en-US" sz="2000">
                <a:solidFill>
                  <a:schemeClr val="tx1">
                    <a:lumMod val="50000"/>
                    <a:lumOff val="50000"/>
                  </a:schemeClr>
                </a:solidFill>
                <a:latin typeface="Meiryo Regular" panose="020B0604030504040204" charset="-128"/>
                <a:ea typeface="Meiryo Regular" panose="020B0604030504040204" charset="-128"/>
              </a:rPr>
              <a:t>ation</a:t>
            </a:r>
            <a:r>
              <a:rPr sz="2000">
                <a:solidFill>
                  <a:schemeClr val="tx1">
                    <a:lumMod val="50000"/>
                    <a:lumOff val="50000"/>
                  </a:schemeClr>
                </a:solidFill>
                <a:latin typeface="Meiryo Regular" panose="020B0604030504040204" charset="-128"/>
                <a:ea typeface="Meiryo Regular" panose="020B0604030504040204" charset="-128"/>
              </a:rPr>
              <a:t>データを分割し、前者で学習&amp;後者で評価することで</a:t>
            </a:r>
            <a:r>
              <a:rPr lang="ja-JP" sz="2000">
                <a:solidFill>
                  <a:schemeClr val="tx1">
                    <a:lumMod val="50000"/>
                    <a:lumOff val="50000"/>
                  </a:schemeClr>
                </a:solidFill>
                <a:latin typeface="Meiryo Regular" panose="020B0604030504040204" charset="-128"/>
                <a:ea typeface="Meiryo Regular" panose="020B0604030504040204" charset="-128"/>
              </a:rPr>
              <a:t>ある</a:t>
            </a:r>
            <a:r>
              <a:rPr sz="2000">
                <a:solidFill>
                  <a:schemeClr val="tx1">
                    <a:lumMod val="50000"/>
                    <a:lumOff val="50000"/>
                  </a:schemeClr>
                </a:solidFill>
                <a:latin typeface="Meiryo Regular" panose="020B0604030504040204" charset="-128"/>
                <a:ea typeface="Meiryo Regular" panose="020B0604030504040204" charset="-128"/>
              </a:rPr>
              <a:t>。</a:t>
            </a:r>
            <a:endParaRPr sz="2000">
              <a:solidFill>
                <a:schemeClr val="tx1">
                  <a:lumMod val="50000"/>
                  <a:lumOff val="50000"/>
                </a:schemeClr>
              </a:solidFill>
              <a:latin typeface="Meiryo Regular" panose="020B0604030504040204" charset="-128"/>
              <a:ea typeface="Meiryo Regular" panose="020B0604030504040204" charset="-128"/>
            </a:endParaRPr>
          </a:p>
          <a:p>
            <a:pPr marL="285750" indent="-285750" fontAlgn="auto">
              <a:lnSpc>
                <a:spcPct val="125000"/>
              </a:lnSpc>
              <a:buFont typeface="Arial" panose="020B0604020202090204" pitchFamily="34" charset="0"/>
              <a:buChar char="•"/>
            </a:pPr>
            <a:r>
              <a:rPr sz="2000">
                <a:solidFill>
                  <a:schemeClr val="tx1">
                    <a:lumMod val="50000"/>
                    <a:lumOff val="50000"/>
                  </a:schemeClr>
                </a:solidFill>
                <a:latin typeface="Meiryo Regular" panose="020B0604030504040204" charset="-128"/>
                <a:ea typeface="Meiryo Regular" panose="020B0604030504040204" charset="-128"/>
              </a:rPr>
              <a:t>しかし、構造を頻繁にフルスクラッチで生成して評価するのは非常に計算コストがかか</a:t>
            </a:r>
            <a:r>
              <a:rPr lang="ja-JP" sz="2000">
                <a:solidFill>
                  <a:schemeClr val="tx1">
                    <a:lumMod val="50000"/>
                    <a:lumOff val="50000"/>
                  </a:schemeClr>
                </a:solidFill>
                <a:latin typeface="Meiryo Regular" panose="020B0604030504040204" charset="-128"/>
                <a:ea typeface="Meiryo Regular" panose="020B0604030504040204" charset="-128"/>
              </a:rPr>
              <a:t>る</a:t>
            </a:r>
            <a:r>
              <a:rPr sz="2000">
                <a:solidFill>
                  <a:schemeClr val="tx1">
                    <a:lumMod val="50000"/>
                    <a:lumOff val="50000"/>
                  </a:schemeClr>
                </a:solidFill>
                <a:latin typeface="Meiryo Regular" panose="020B0604030504040204" charset="-128"/>
                <a:ea typeface="Meiryo Regular" panose="020B0604030504040204" charset="-128"/>
              </a:rPr>
              <a:t>。</a:t>
            </a:r>
            <a:endParaRPr sz="2000">
              <a:solidFill>
                <a:schemeClr val="tx1">
                  <a:lumMod val="50000"/>
                  <a:lumOff val="50000"/>
                </a:schemeClr>
              </a:solidFill>
              <a:latin typeface="Meiryo Regular" panose="020B0604030504040204" charset="-128"/>
              <a:ea typeface="Meiryo Regular" panose="020B0604030504040204" charset="-128"/>
            </a:endParaRPr>
          </a:p>
          <a:p>
            <a:pPr marL="285750" indent="-285750" fontAlgn="auto">
              <a:lnSpc>
                <a:spcPct val="125000"/>
              </a:lnSpc>
              <a:buFont typeface="Arial" panose="020B0604020202090204" pitchFamily="34" charset="0"/>
              <a:buChar char="•"/>
            </a:pPr>
            <a:r>
              <a:rPr sz="2000">
                <a:solidFill>
                  <a:schemeClr val="tx1">
                    <a:lumMod val="50000"/>
                    <a:lumOff val="50000"/>
                  </a:schemeClr>
                </a:solidFill>
                <a:latin typeface="Meiryo Regular" panose="020B0604030504040204" charset="-128"/>
                <a:ea typeface="Meiryo Regular" panose="020B0604030504040204" charset="-128"/>
              </a:rPr>
              <a:t>そこで、様々な高速化手法が開発され</a:t>
            </a:r>
            <a:r>
              <a:rPr lang="ja-JP" sz="2000">
                <a:solidFill>
                  <a:schemeClr val="tx1">
                    <a:lumMod val="50000"/>
                    <a:lumOff val="50000"/>
                  </a:schemeClr>
                </a:solidFill>
                <a:latin typeface="Meiryo Regular" panose="020B0604030504040204" charset="-128"/>
                <a:ea typeface="Meiryo Regular" panose="020B0604030504040204" charset="-128"/>
              </a:rPr>
              <a:t>、大きく分けて</a:t>
            </a:r>
            <a:r>
              <a:rPr lang="en-US" altLang="ja-JP" sz="2000">
                <a:solidFill>
                  <a:schemeClr val="tx1">
                    <a:lumMod val="50000"/>
                    <a:lumOff val="50000"/>
                  </a:schemeClr>
                </a:solidFill>
                <a:latin typeface="Meiryo Regular" panose="020B0604030504040204" charset="-128"/>
                <a:ea typeface="Meiryo Regular" panose="020B0604030504040204" charset="-128"/>
              </a:rPr>
              <a:t>4</a:t>
            </a:r>
            <a:r>
              <a:rPr lang="ja-JP" altLang="en-US" sz="2000">
                <a:solidFill>
                  <a:schemeClr val="tx1">
                    <a:lumMod val="50000"/>
                    <a:lumOff val="50000"/>
                  </a:schemeClr>
                </a:solidFill>
                <a:latin typeface="Meiryo Regular" panose="020B0604030504040204" charset="-128"/>
                <a:ea typeface="Meiryo Regular" panose="020B0604030504040204" charset="-128"/>
              </a:rPr>
              <a:t>種類がある</a:t>
            </a:r>
            <a:r>
              <a:rPr sz="2000">
                <a:solidFill>
                  <a:schemeClr val="tx1">
                    <a:lumMod val="50000"/>
                    <a:lumOff val="50000"/>
                  </a:schemeClr>
                </a:solidFill>
                <a:latin typeface="Meiryo Regular" panose="020B0604030504040204" charset="-128"/>
                <a:ea typeface="Meiryo Regular" panose="020B0604030504040204" charset="-128"/>
              </a:rPr>
              <a:t>。</a:t>
            </a:r>
            <a:endParaRPr sz="2000">
              <a:solidFill>
                <a:schemeClr val="tx1">
                  <a:lumMod val="50000"/>
                  <a:lumOff val="50000"/>
                </a:schemeClr>
              </a:solidFill>
              <a:latin typeface="Meiryo Regular" panose="020B0604030504040204" charset="-128"/>
              <a:ea typeface="Meiryo Regular" panose="020B0604030504040204" charset="-128"/>
            </a:endParaRPr>
          </a:p>
        </p:txBody>
      </p:sp>
      <p:sp>
        <p:nvSpPr>
          <p:cNvPr id="12" name="Text Box 11"/>
          <p:cNvSpPr txBox="1"/>
          <p:nvPr/>
        </p:nvSpPr>
        <p:spPr>
          <a:xfrm>
            <a:off x="1096645" y="4303395"/>
            <a:ext cx="9999345" cy="1630045"/>
          </a:xfrm>
          <a:prstGeom prst="rect">
            <a:avLst/>
          </a:prstGeom>
          <a:solidFill>
            <a:schemeClr val="accent2">
              <a:lumMod val="20000"/>
              <a:lumOff val="80000"/>
            </a:schemeClr>
          </a:solidFill>
          <a:ln>
            <a:solidFill>
              <a:schemeClr val="accent2">
                <a:lumMod val="20000"/>
                <a:lumOff val="80000"/>
              </a:schemeClr>
            </a:solidFill>
          </a:ln>
        </p:spPr>
        <p:txBody>
          <a:bodyPr wrap="square" rtlCol="0">
            <a:spAutoFit/>
          </a:bodyPr>
          <a:p>
            <a:pPr marL="457200" indent="-457200" fontAlgn="auto">
              <a:lnSpc>
                <a:spcPct val="125000"/>
              </a:lnSpc>
              <a:buFont typeface="+mj-lt"/>
              <a:buAutoNum type="arabicPeriod"/>
            </a:pPr>
            <a:r>
              <a:rPr sz="2000" b="1">
                <a:latin typeface="Meiryo Bold" panose="020B0604030504040204" charset="-128"/>
                <a:ea typeface="Meiryo Bold" panose="020B0604030504040204" charset="-128"/>
              </a:rPr>
              <a:t>実際のパフォーマンスに対し忠実度(fidelity)の低い指標で推定する</a:t>
            </a:r>
            <a:r>
              <a:rPr lang="ja-JP" sz="2000" b="1">
                <a:latin typeface="Meiryo Bold" panose="020B0604030504040204" charset="-128"/>
                <a:ea typeface="Meiryo Bold" panose="020B0604030504040204" charset="-128"/>
              </a:rPr>
              <a:t>方法</a:t>
            </a:r>
            <a:endParaRPr lang="ja-JP" sz="2000" b="1">
              <a:latin typeface="Meiryo Bold" panose="020B0604030504040204" charset="-128"/>
              <a:ea typeface="Meiryo Bold" panose="020B0604030504040204" charset="-128"/>
            </a:endParaRPr>
          </a:p>
          <a:p>
            <a:pPr marL="457200" indent="-457200" fontAlgn="auto">
              <a:lnSpc>
                <a:spcPct val="125000"/>
              </a:lnSpc>
              <a:buFont typeface="+mj-lt"/>
              <a:buAutoNum type="arabicPeriod"/>
            </a:pPr>
            <a:r>
              <a:rPr lang="ja-JP" sz="2000" b="1">
                <a:latin typeface="Meiryo Bold" panose="020B0604030504040204" charset="-128"/>
                <a:ea typeface="Meiryo Bold" panose="020B0604030504040204" charset="-128"/>
              </a:rPr>
              <a:t>learning curve extrapolation(学習曲線外挿)</a:t>
            </a:r>
            <a:endParaRPr lang="ja-JP" sz="2000" b="1">
              <a:latin typeface="Meiryo Bold" panose="020B0604030504040204" charset="-128"/>
              <a:ea typeface="Meiryo Bold" panose="020B0604030504040204" charset="-128"/>
            </a:endParaRPr>
          </a:p>
          <a:p>
            <a:pPr marL="457200" indent="-457200" fontAlgn="auto">
              <a:lnSpc>
                <a:spcPct val="125000"/>
              </a:lnSpc>
              <a:buFont typeface="+mj-lt"/>
              <a:buAutoNum type="arabicPeriod"/>
            </a:pPr>
            <a:r>
              <a:rPr lang="ja-JP" sz="2000" b="1">
                <a:latin typeface="Meiryo Bold" panose="020B0604030504040204" charset="-128"/>
                <a:ea typeface="Meiryo Bold" panose="020B0604030504040204" charset="-128"/>
              </a:rPr>
              <a:t>Network Morphism</a:t>
            </a:r>
            <a:endParaRPr lang="ja-JP" sz="2000" b="1">
              <a:latin typeface="Meiryo Bold" panose="020B0604030504040204" charset="-128"/>
              <a:ea typeface="Meiryo Bold" panose="020B0604030504040204" charset="-128"/>
            </a:endParaRPr>
          </a:p>
          <a:p>
            <a:pPr marL="457200" indent="-457200" fontAlgn="auto">
              <a:lnSpc>
                <a:spcPct val="125000"/>
              </a:lnSpc>
              <a:buFont typeface="+mj-lt"/>
              <a:buAutoNum type="arabicPeriod"/>
            </a:pPr>
            <a:r>
              <a:rPr lang="ja-JP" sz="2000" b="1">
                <a:latin typeface="Meiryo Bold" panose="020B0604030504040204" charset="-128"/>
                <a:ea typeface="Meiryo Bold" panose="020B0604030504040204" charset="-128"/>
              </a:rPr>
              <a:t>One-Shot NAS</a:t>
            </a:r>
            <a:endParaRPr lang="ja-JP" sz="2000" b="1">
              <a:latin typeface="Meiryo Bold" panose="020B0604030504040204" charset="-128"/>
              <a:ea typeface="Meiryo Bold" panose="020B0604030504040204"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5" name="Text Box 4"/>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sym typeface="+mn-ea"/>
              </a:rPr>
              <a:t>Performance estimation strategy</a:t>
            </a:r>
            <a:endParaRPr lang="en-US" sz="2800" b="1">
              <a:latin typeface="Meiryo Bold" panose="020B0604030504040204" charset="-128"/>
              <a:ea typeface="Meiryo Bold" panose="020B0604030504040204" charset="-128"/>
            </a:endParaRPr>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11" name="Text Box 10"/>
          <p:cNvSpPr txBox="1"/>
          <p:nvPr/>
        </p:nvSpPr>
        <p:spPr>
          <a:xfrm>
            <a:off x="106680" y="1407795"/>
            <a:ext cx="11864340" cy="2014855"/>
          </a:xfrm>
          <a:prstGeom prst="rect">
            <a:avLst/>
          </a:prstGeom>
          <a:noFill/>
        </p:spPr>
        <p:txBody>
          <a:bodyPr wrap="square" rtlCol="0">
            <a:spAutoFit/>
          </a:bodyPr>
          <a:p>
            <a:pPr indent="0" fontAlgn="auto">
              <a:lnSpc>
                <a:spcPct val="125000"/>
              </a:lnSpc>
              <a:buFont typeface="Arial" panose="020B0604020202090204" pitchFamily="34" charset="0"/>
              <a:buNone/>
            </a:pPr>
            <a:r>
              <a:rPr lang="en-US" sz="2000" b="1">
                <a:solidFill>
                  <a:schemeClr val="tx1"/>
                </a:solidFill>
                <a:latin typeface="Meiryo Bold" panose="020B0604030504040204" charset="-128"/>
                <a:ea typeface="Meiryo Bold" panose="020B0604030504040204" charset="-128"/>
                <a:cs typeface="Meiryo Bold" panose="020B0604030504040204" charset="-128"/>
              </a:rPr>
              <a:t>f</a:t>
            </a:r>
            <a:r>
              <a:rPr sz="2000" b="1">
                <a:solidFill>
                  <a:schemeClr val="tx1"/>
                </a:solidFill>
                <a:latin typeface="Meiryo Bold" panose="020B0604030504040204" charset="-128"/>
                <a:ea typeface="Meiryo Bold" panose="020B0604030504040204" charset="-128"/>
                <a:cs typeface="Meiryo Bold" panose="020B0604030504040204" charset="-128"/>
              </a:rPr>
              <a:t>idelityの低い例として、以下のようなものがあ</a:t>
            </a:r>
            <a:r>
              <a:rPr lang="ja-JP" sz="2000" b="1">
                <a:solidFill>
                  <a:schemeClr val="tx1"/>
                </a:solidFill>
                <a:latin typeface="Meiryo Bold" panose="020B0604030504040204" charset="-128"/>
                <a:ea typeface="Meiryo Bold" panose="020B0604030504040204" charset="-128"/>
                <a:cs typeface="Meiryo Bold" panose="020B0604030504040204" charset="-128"/>
              </a:rPr>
              <a:t>る。</a:t>
            </a:r>
            <a:endParaRPr lang="ja-JP" sz="2000" b="1">
              <a:solidFill>
                <a:schemeClr val="tx1"/>
              </a:solidFill>
              <a:latin typeface="Meiryo Bold" panose="020B0604030504040204" charset="-128"/>
              <a:ea typeface="Meiryo Bold" panose="020B0604030504040204" charset="-128"/>
              <a:cs typeface="Meiryo Bold" panose="020B0604030504040204" charset="-128"/>
            </a:endParaRPr>
          </a:p>
          <a:p>
            <a:pPr marL="342900" indent="-342900" fontAlgn="auto">
              <a:lnSpc>
                <a:spcPct val="125000"/>
              </a:lnSpc>
              <a:buFont typeface="Arial" panose="020B0604020202090204" pitchFamily="34" charset="0"/>
              <a:buChar char="•"/>
            </a:pPr>
            <a:r>
              <a:rPr lang="ja-JP" sz="2000">
                <a:solidFill>
                  <a:schemeClr val="tx1"/>
                </a:solidFill>
                <a:latin typeface="Meiryo Regular" panose="020B0604030504040204" charset="-128"/>
                <a:ea typeface="Meiryo Regular" panose="020B0604030504040204" charset="-128"/>
              </a:rPr>
              <a:t>短い学習時間で学習する(Zoph et al., 2018; Zela et al., 2018)</a:t>
            </a:r>
            <a:endParaRPr lang="ja-JP" sz="2000">
              <a:solidFill>
                <a:schemeClr val="tx1"/>
              </a:solidFill>
              <a:latin typeface="Meiryo Regular" panose="020B0604030504040204" charset="-128"/>
              <a:ea typeface="Meiryo Regular" panose="020B0604030504040204" charset="-128"/>
            </a:endParaRPr>
          </a:p>
          <a:p>
            <a:pPr marL="342900" indent="-342900" fontAlgn="auto">
              <a:lnSpc>
                <a:spcPct val="125000"/>
              </a:lnSpc>
              <a:buFont typeface="Arial" panose="020B0604020202090204" pitchFamily="34" charset="0"/>
              <a:buChar char="•"/>
            </a:pPr>
            <a:r>
              <a:rPr lang="ja-JP" sz="2000">
                <a:solidFill>
                  <a:schemeClr val="tx1"/>
                </a:solidFill>
                <a:latin typeface="Meiryo Regular" panose="020B0604030504040204" charset="-128"/>
                <a:ea typeface="Meiryo Regular" panose="020B0604030504040204" charset="-128"/>
              </a:rPr>
              <a:t>データのサブセットしか使わない(Klein et al., 2017)</a:t>
            </a:r>
            <a:endParaRPr lang="ja-JP" sz="2000">
              <a:solidFill>
                <a:schemeClr val="tx1"/>
              </a:solidFill>
              <a:latin typeface="Meiryo Regular" panose="020B0604030504040204" charset="-128"/>
              <a:ea typeface="Meiryo Regular" panose="020B0604030504040204" charset="-128"/>
            </a:endParaRPr>
          </a:p>
          <a:p>
            <a:pPr marL="342900" indent="-342900" fontAlgn="auto">
              <a:lnSpc>
                <a:spcPct val="125000"/>
              </a:lnSpc>
              <a:buFont typeface="Arial" panose="020B0604020202090204" pitchFamily="34" charset="0"/>
              <a:buChar char="•"/>
            </a:pPr>
            <a:r>
              <a:rPr lang="ja-JP" sz="2000">
                <a:solidFill>
                  <a:schemeClr val="tx1"/>
                </a:solidFill>
                <a:latin typeface="Meiryo Regular" panose="020B0604030504040204" charset="-128"/>
                <a:ea typeface="Meiryo Regular" panose="020B0604030504040204" charset="-128"/>
              </a:rPr>
              <a:t>低解像度の画像を使う(Chrabaszcz et al., 2017)</a:t>
            </a:r>
            <a:endParaRPr lang="ja-JP" sz="2000">
              <a:solidFill>
                <a:schemeClr val="tx1"/>
              </a:solidFill>
              <a:latin typeface="Meiryo Regular" panose="020B0604030504040204" charset="-128"/>
              <a:ea typeface="Meiryo Regular" panose="020B0604030504040204" charset="-128"/>
            </a:endParaRPr>
          </a:p>
          <a:p>
            <a:pPr marL="342900" indent="-342900" fontAlgn="auto">
              <a:lnSpc>
                <a:spcPct val="125000"/>
              </a:lnSpc>
              <a:buFont typeface="Arial" panose="020B0604020202090204" pitchFamily="34" charset="0"/>
              <a:buChar char="•"/>
            </a:pPr>
            <a:r>
              <a:rPr lang="ja-JP" sz="2000">
                <a:solidFill>
                  <a:schemeClr val="tx1"/>
                </a:solidFill>
                <a:latin typeface="Meiryo Regular" panose="020B0604030504040204" charset="-128"/>
                <a:ea typeface="Meiryo Regular" panose="020B0604030504040204" charset="-128"/>
              </a:rPr>
              <a:t>レイヤ毎のフィルタやCellを減らす(Zoph et al., 2018; Real et al., 2019)</a:t>
            </a:r>
            <a:endParaRPr lang="ja-JP" sz="2000">
              <a:solidFill>
                <a:schemeClr val="tx1"/>
              </a:solidFill>
              <a:latin typeface="Meiryo Regular" panose="020B0604030504040204" charset="-128"/>
              <a:ea typeface="Meiryo Regular" panose="020B0604030504040204" charset="-128"/>
            </a:endParaRPr>
          </a:p>
        </p:txBody>
      </p:sp>
      <p:sp>
        <p:nvSpPr>
          <p:cNvPr id="2" name="Rectangle 1"/>
          <p:cNvSpPr/>
          <p:nvPr/>
        </p:nvSpPr>
        <p:spPr>
          <a:xfrm>
            <a:off x="106680" y="890270"/>
            <a:ext cx="8445500" cy="51752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sz="2000" b="1">
                <a:solidFill>
                  <a:schemeClr val="tx1"/>
                </a:solidFill>
                <a:latin typeface="Meiryo Bold" panose="020B0604030504040204" charset="-128"/>
                <a:ea typeface="Meiryo Bold" panose="020B0604030504040204" charset="-128"/>
                <a:cs typeface="Meiryo Bold" panose="020B0604030504040204" charset="-128"/>
                <a:sym typeface="+mn-ea"/>
              </a:rPr>
              <a:t>実際のパフォーマンスに対し忠実度(fidelity)の低い指標で推定する方法</a:t>
            </a:r>
            <a:endParaRPr sz="2000" b="1">
              <a:solidFill>
                <a:schemeClr val="tx1"/>
              </a:solidFill>
              <a:latin typeface="Meiryo Bold" panose="020B0604030504040204" charset="-128"/>
              <a:ea typeface="Meiryo Bold" panose="020B0604030504040204" charset="-128"/>
              <a:cs typeface="Meiryo Bold" panose="020B0604030504040204" charset="-128"/>
              <a:sym typeface="+mn-ea"/>
            </a:endParaRPr>
          </a:p>
        </p:txBody>
      </p:sp>
      <p:sp>
        <p:nvSpPr>
          <p:cNvPr id="6" name="Text Box 5"/>
          <p:cNvSpPr txBox="1"/>
          <p:nvPr/>
        </p:nvSpPr>
        <p:spPr>
          <a:xfrm>
            <a:off x="106680" y="3567430"/>
            <a:ext cx="11971020" cy="1476375"/>
          </a:xfrm>
          <a:prstGeom prst="rect">
            <a:avLst/>
          </a:prstGeom>
          <a:noFill/>
          <a:ln>
            <a:solidFill>
              <a:schemeClr val="accent2">
                <a:lumMod val="75000"/>
              </a:schemeClr>
            </a:solidFill>
            <a:prstDash val="dashDot"/>
          </a:ln>
        </p:spPr>
        <p:txBody>
          <a:bodyPr wrap="square" rtlCol="0">
            <a:spAutoFit/>
          </a:bodyPr>
          <a:p>
            <a:pPr marL="285750" indent="-285750" fontAlgn="auto">
              <a:lnSpc>
                <a:spcPct val="125000"/>
              </a:lnSpc>
              <a:buFont typeface="Arial" panose="020B0604020202090204" pitchFamily="34" charset="0"/>
              <a:buChar char="•"/>
            </a:pPr>
            <a:r>
              <a:rPr>
                <a:ea typeface="Meiryo" panose="020B0604030504040204" charset="-128"/>
              </a:rPr>
              <a:t>低fidelityで近似することで計算コストを抑えることができ</a:t>
            </a:r>
            <a:r>
              <a:rPr lang="ja-JP">
                <a:ea typeface="Meiryo" panose="020B0604030504040204" charset="-128"/>
              </a:rPr>
              <a:t>る</a:t>
            </a:r>
            <a:r>
              <a:rPr>
                <a:ea typeface="Meiryo" panose="020B0604030504040204" charset="-128"/>
              </a:rPr>
              <a:t>。</a:t>
            </a:r>
            <a:endParaRPr>
              <a:ea typeface="Meiryo" panose="020B0604030504040204" charset="-128"/>
            </a:endParaRPr>
          </a:p>
          <a:p>
            <a:pPr marL="285750" indent="-285750" fontAlgn="auto">
              <a:lnSpc>
                <a:spcPct val="125000"/>
              </a:lnSpc>
              <a:buFont typeface="Arial" panose="020B0604020202090204" pitchFamily="34" charset="0"/>
              <a:buChar char="•"/>
            </a:pPr>
            <a:r>
              <a:rPr>
                <a:ea typeface="Meiryo" panose="020B0604030504040204" charset="-128"/>
              </a:rPr>
              <a:t>一般的には性能が低くなる方向にバイアスがかか</a:t>
            </a:r>
            <a:r>
              <a:rPr lang="ja-JP">
                <a:ea typeface="Meiryo" panose="020B0604030504040204" charset="-128"/>
              </a:rPr>
              <a:t>る</a:t>
            </a:r>
            <a:r>
              <a:rPr>
                <a:ea typeface="Meiryo" panose="020B0604030504040204" charset="-128"/>
              </a:rPr>
              <a:t>が、探索戦略が各構造の順位に依るならば問題では</a:t>
            </a:r>
            <a:r>
              <a:rPr lang="ja-JP">
                <a:ea typeface="Meiryo" panose="020B0604030504040204" charset="-128"/>
              </a:rPr>
              <a:t>ない</a:t>
            </a:r>
            <a:r>
              <a:rPr>
                <a:ea typeface="Meiryo" panose="020B0604030504040204" charset="-128"/>
              </a:rPr>
              <a:t>。</a:t>
            </a:r>
            <a:endParaRPr>
              <a:ea typeface="Meiryo" panose="020B0604030504040204" charset="-128"/>
            </a:endParaRPr>
          </a:p>
          <a:p>
            <a:pPr marL="285750" indent="-285750" fontAlgn="auto">
              <a:lnSpc>
                <a:spcPct val="125000"/>
              </a:lnSpc>
              <a:buFont typeface="Arial" panose="020B0604020202090204" pitchFamily="34" charset="0"/>
              <a:buChar char="•"/>
            </a:pPr>
            <a:r>
              <a:rPr>
                <a:ea typeface="Meiryo" panose="020B0604030504040204" charset="-128"/>
              </a:rPr>
              <a:t>しかし最近の研究では、あまりにfidelityが低く、かつ実際の評価との差が大きい場合、相対順位も変わってしまうことが示されて</a:t>
            </a:r>
            <a:r>
              <a:rPr lang="ja-JP">
                <a:ea typeface="Meiryo" panose="020B0604030504040204" charset="-128"/>
              </a:rPr>
              <a:t>いる</a:t>
            </a:r>
            <a:r>
              <a:rPr>
                <a:ea typeface="Meiryo" panose="020B0604030504040204" charset="-128"/>
              </a:rPr>
              <a:t>(Zela et al., 2018)。</a:t>
            </a:r>
            <a:endParaRPr>
              <a:ea typeface="Meiryo" panose="020B0604030504040204" charset="-128"/>
            </a:endParaRPr>
          </a:p>
        </p:txBody>
      </p:sp>
      <p:sp>
        <p:nvSpPr>
          <p:cNvPr id="8" name="Rectangle 7"/>
          <p:cNvSpPr/>
          <p:nvPr/>
        </p:nvSpPr>
        <p:spPr>
          <a:xfrm>
            <a:off x="106680" y="5219700"/>
            <a:ext cx="8445500" cy="51752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ja-JP" sz="2000" b="1">
                <a:solidFill>
                  <a:schemeClr val="tx1"/>
                </a:solidFill>
                <a:latin typeface="Meiryo Bold" panose="020B0604030504040204" charset="-128"/>
                <a:ea typeface="Meiryo Bold" panose="020B0604030504040204" charset="-128"/>
                <a:sym typeface="+mn-ea"/>
              </a:rPr>
              <a:t>learning curve extrapolation(学習曲線外挿)</a:t>
            </a:r>
            <a:endParaRPr lang="ja-JP" sz="2000" b="1">
              <a:solidFill>
                <a:schemeClr val="tx1"/>
              </a:solidFill>
              <a:latin typeface="Meiryo Bold" panose="020B0604030504040204" charset="-128"/>
              <a:ea typeface="Meiryo Bold" panose="020B0604030504040204" charset="-128"/>
              <a:cs typeface="Meiryo Bold" panose="020B0604030504040204" charset="-128"/>
              <a:sym typeface="+mn-ea"/>
            </a:endParaRPr>
          </a:p>
        </p:txBody>
      </p:sp>
      <p:sp>
        <p:nvSpPr>
          <p:cNvPr id="9" name="Text Box 8"/>
          <p:cNvSpPr txBox="1"/>
          <p:nvPr/>
        </p:nvSpPr>
        <p:spPr>
          <a:xfrm>
            <a:off x="111125" y="5861050"/>
            <a:ext cx="11971020" cy="860425"/>
          </a:xfrm>
          <a:prstGeom prst="rect">
            <a:avLst/>
          </a:prstGeom>
          <a:noFill/>
          <a:ln>
            <a:solidFill>
              <a:schemeClr val="accent2">
                <a:lumMod val="75000"/>
              </a:schemeClr>
            </a:solidFill>
            <a:prstDash val="dashDot"/>
          </a:ln>
        </p:spPr>
        <p:txBody>
          <a:bodyPr wrap="square" rtlCol="0">
            <a:spAutoFit/>
          </a:bodyPr>
          <a:p>
            <a:pPr marL="285750" indent="-285750" fontAlgn="auto">
              <a:lnSpc>
                <a:spcPct val="125000"/>
              </a:lnSpc>
              <a:buFont typeface="Arial" panose="020B0604020202090204" pitchFamily="34" charset="0"/>
              <a:buChar char="•"/>
            </a:pPr>
            <a:r>
              <a:rPr sz="2000">
                <a:ea typeface="Meiryo" panose="020B0604030504040204" charset="-128"/>
              </a:rPr>
              <a:t>初期学習曲線を外挿し、パフォーマンスが低いと予測されたものを打ち切る</a:t>
            </a:r>
            <a:r>
              <a:rPr lang="ja-JP" sz="2000">
                <a:ea typeface="Meiryo" panose="020B0604030504040204" charset="-128"/>
              </a:rPr>
              <a:t>ことやどの部分の学習曲線が将来有望そうかに着目し、全体の探索時間を短縮する。</a:t>
            </a:r>
            <a:endParaRPr lang="ja-JP" sz="2000">
              <a:ea typeface="Meiryo" panose="020B0604030504040204"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5" name="Text Box 4"/>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sym typeface="+mn-ea"/>
              </a:rPr>
              <a:t>Performance estimation strategy</a:t>
            </a:r>
            <a:endParaRPr lang="en-US" sz="2800" b="1">
              <a:latin typeface="Meiryo Bold" panose="020B0604030504040204" charset="-128"/>
              <a:ea typeface="Meiryo Bold" panose="020B0604030504040204" charset="-128"/>
            </a:endParaRPr>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2" name="Rectangle 1"/>
          <p:cNvSpPr/>
          <p:nvPr/>
        </p:nvSpPr>
        <p:spPr>
          <a:xfrm>
            <a:off x="106680" y="890270"/>
            <a:ext cx="8445500" cy="51752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ja-JP" sz="2000" b="1">
                <a:solidFill>
                  <a:schemeClr val="tx1"/>
                </a:solidFill>
                <a:latin typeface="Meiryo Bold" panose="020B0604030504040204" charset="-128"/>
                <a:ea typeface="Meiryo Bold" panose="020B0604030504040204" charset="-128"/>
                <a:cs typeface="Meiryo Bold" panose="020B0604030504040204" charset="-128"/>
                <a:sym typeface="+mn-ea"/>
              </a:rPr>
              <a:t>Network Morphism</a:t>
            </a:r>
            <a:endParaRPr lang="ja-JP" sz="2000" b="1">
              <a:solidFill>
                <a:schemeClr val="tx1"/>
              </a:solidFill>
              <a:latin typeface="Meiryo Bold" panose="020B0604030504040204" charset="-128"/>
              <a:ea typeface="Meiryo Bold" panose="020B0604030504040204" charset="-128"/>
              <a:cs typeface="Meiryo Bold" panose="020B0604030504040204" charset="-128"/>
              <a:sym typeface="+mn-ea"/>
            </a:endParaRPr>
          </a:p>
        </p:txBody>
      </p:sp>
      <p:sp>
        <p:nvSpPr>
          <p:cNvPr id="6" name="Text Box 5"/>
          <p:cNvSpPr txBox="1"/>
          <p:nvPr/>
        </p:nvSpPr>
        <p:spPr>
          <a:xfrm>
            <a:off x="106680" y="1407795"/>
            <a:ext cx="11971020" cy="860425"/>
          </a:xfrm>
          <a:prstGeom prst="rect">
            <a:avLst/>
          </a:prstGeom>
          <a:noFill/>
          <a:ln>
            <a:solidFill>
              <a:schemeClr val="bg1"/>
            </a:solidFill>
            <a:prstDash val="dashDot"/>
          </a:ln>
        </p:spPr>
        <p:txBody>
          <a:bodyPr wrap="square" rtlCol="0">
            <a:spAutoFit/>
          </a:bodyPr>
          <a:p>
            <a:pPr marL="342900" indent="-342900" fontAlgn="auto">
              <a:lnSpc>
                <a:spcPct val="125000"/>
              </a:lnSpc>
              <a:buFont typeface="Arial" panose="020B0604020202090204" pitchFamily="34" charset="0"/>
              <a:buChar char="•"/>
            </a:pPr>
            <a:r>
              <a:rPr sz="2000">
                <a:ea typeface="Meiryo" panose="020B0604030504040204" charset="-128"/>
              </a:rPr>
              <a:t>訓練済みのNNの重みを新しいNNの重みの初期値に使う</a:t>
            </a:r>
            <a:r>
              <a:rPr lang="ja-JP" sz="2000">
                <a:ea typeface="Meiryo" panose="020B0604030504040204" charset="-128"/>
              </a:rPr>
              <a:t>方法。</a:t>
            </a:r>
            <a:endParaRPr sz="2000">
              <a:ea typeface="Meiryo" panose="020B0604030504040204" charset="-128"/>
            </a:endParaRPr>
          </a:p>
          <a:p>
            <a:pPr marL="342900" indent="-342900" fontAlgn="auto">
              <a:lnSpc>
                <a:spcPct val="125000"/>
              </a:lnSpc>
              <a:buFont typeface="Arial" panose="020B0604020202090204" pitchFamily="34" charset="0"/>
              <a:buChar char="•"/>
            </a:pPr>
            <a:r>
              <a:rPr sz="2000">
                <a:ea typeface="Meiryo" panose="020B0604030504040204" charset="-128"/>
              </a:rPr>
              <a:t>探索空間の上界が構造のサイズによってバウンドされない</a:t>
            </a:r>
            <a:r>
              <a:rPr lang="ja-JP" sz="2000">
                <a:ea typeface="Meiryo" panose="020B0604030504040204" charset="-128"/>
              </a:rPr>
              <a:t>メリットがある。</a:t>
            </a:r>
            <a:endParaRPr lang="ja-JP" sz="2000">
              <a:ea typeface="Meiryo" panose="020B0604030504040204" charset="-128"/>
            </a:endParaRPr>
          </a:p>
        </p:txBody>
      </p:sp>
      <p:sp>
        <p:nvSpPr>
          <p:cNvPr id="8" name="Rectangle 7"/>
          <p:cNvSpPr/>
          <p:nvPr/>
        </p:nvSpPr>
        <p:spPr>
          <a:xfrm>
            <a:off x="106680" y="2388870"/>
            <a:ext cx="8445500" cy="51752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ja-JP" sz="2000" b="1">
                <a:solidFill>
                  <a:schemeClr val="tx1"/>
                </a:solidFill>
                <a:latin typeface="Meiryo Bold" panose="020B0604030504040204" charset="-128"/>
                <a:ea typeface="Meiryo Bold" panose="020B0604030504040204" charset="-128"/>
                <a:sym typeface="+mn-ea"/>
              </a:rPr>
              <a:t>One-Shot NAS</a:t>
            </a:r>
            <a:endParaRPr lang="ja-JP" sz="2000" b="1">
              <a:solidFill>
                <a:schemeClr val="tx1"/>
              </a:solidFill>
              <a:latin typeface="Meiryo Bold" panose="020B0604030504040204" charset="-128"/>
              <a:ea typeface="Meiryo Bold" panose="020B0604030504040204" charset="-128"/>
              <a:sym typeface="+mn-ea"/>
            </a:endParaRPr>
          </a:p>
        </p:txBody>
      </p:sp>
      <p:sp>
        <p:nvSpPr>
          <p:cNvPr id="3" name="Text Box 2"/>
          <p:cNvSpPr txBox="1"/>
          <p:nvPr/>
        </p:nvSpPr>
        <p:spPr>
          <a:xfrm>
            <a:off x="111125" y="2906395"/>
            <a:ext cx="11971020" cy="3553460"/>
          </a:xfrm>
          <a:prstGeom prst="rect">
            <a:avLst/>
          </a:prstGeom>
          <a:noFill/>
          <a:ln>
            <a:solidFill>
              <a:schemeClr val="bg1"/>
            </a:solidFill>
            <a:prstDash val="dashDot"/>
          </a:ln>
        </p:spPr>
        <p:txBody>
          <a:bodyPr wrap="square" rtlCol="0">
            <a:spAutoFit/>
          </a:bodyPr>
          <a:p>
            <a:pPr marL="342900" indent="-342900" fontAlgn="auto">
              <a:lnSpc>
                <a:spcPct val="125000"/>
              </a:lnSpc>
              <a:buFont typeface="Arial" panose="020B0604020202090204" pitchFamily="34" charset="0"/>
              <a:buChar char="•"/>
            </a:pPr>
            <a:r>
              <a:rPr sz="2000">
                <a:ea typeface="Meiryo" panose="020B0604030504040204" charset="-128"/>
              </a:rPr>
              <a:t>生成されうる全ての構造は1つのスーパーグラフのサブグラフであると仮定</a:t>
            </a:r>
            <a:r>
              <a:rPr lang="ja-JP" sz="2000">
                <a:ea typeface="Meiryo" panose="020B0604030504040204" charset="-128"/>
              </a:rPr>
              <a:t>する</a:t>
            </a:r>
            <a:r>
              <a:rPr sz="2000">
                <a:ea typeface="Meiryo" panose="020B0604030504040204" charset="-128"/>
              </a:rPr>
              <a:t>。</a:t>
            </a:r>
            <a:endParaRPr sz="2000">
              <a:ea typeface="Meiryo" panose="020B0604030504040204" charset="-128"/>
            </a:endParaRPr>
          </a:p>
          <a:p>
            <a:pPr indent="0" fontAlgn="auto">
              <a:lnSpc>
                <a:spcPct val="125000"/>
              </a:lnSpc>
              <a:buFont typeface="Arial" panose="020B0604020202090204" pitchFamily="34" charset="0"/>
              <a:buNone/>
            </a:pPr>
            <a:r>
              <a:rPr lang="ja-JP" sz="2000">
                <a:ea typeface="Meiryo" panose="020B0604030504040204" charset="-128"/>
              </a:rPr>
              <a:t>　</a:t>
            </a:r>
            <a:r>
              <a:rPr sz="2000">
                <a:ea typeface="Meiryo" panose="020B0604030504040204" charset="-128"/>
              </a:rPr>
              <a:t>(サブグラフ間で重みを共有</a:t>
            </a:r>
            <a:r>
              <a:rPr lang="ja-JP" sz="2000">
                <a:ea typeface="Meiryo" panose="020B0604030504040204" charset="-128"/>
              </a:rPr>
              <a:t>する；スーパーグラフを一回で学習する；</a:t>
            </a:r>
            <a:r>
              <a:rPr lang="en-US" altLang="ja-JP" sz="2000">
                <a:ea typeface="Meiryo" panose="020B0604030504040204" charset="-128"/>
              </a:rPr>
              <a:t>one-shot</a:t>
            </a:r>
            <a:r>
              <a:rPr lang="ja-JP" altLang="en-US" sz="2000">
                <a:ea typeface="Meiryo" panose="020B0604030504040204" charset="-128"/>
              </a:rPr>
              <a:t>モデルの重みのみ訓練する必要がある）</a:t>
            </a:r>
            <a:endParaRPr lang="ja-JP" altLang="en-US" sz="2000">
              <a:ea typeface="Meiryo" panose="020B0604030504040204" charset="-128"/>
            </a:endParaRPr>
          </a:p>
          <a:p>
            <a:pPr marL="342900" indent="-342900" fontAlgn="auto">
              <a:lnSpc>
                <a:spcPct val="125000"/>
              </a:lnSpc>
              <a:buFont typeface="Arial" panose="020B0604020202090204" pitchFamily="34" charset="0"/>
              <a:buChar char="•"/>
            </a:pPr>
            <a:r>
              <a:rPr lang="en-US" altLang="ja-JP" sz="2000" b="1">
                <a:ea typeface="Meiryo" panose="020B0604030504040204" charset="-128"/>
              </a:rPr>
              <a:t>one-shot NAS</a:t>
            </a:r>
            <a:r>
              <a:rPr lang="ja-JP" altLang="en-US" sz="2000" b="1">
                <a:ea typeface="Meiryo" panose="020B0604030504040204" charset="-128"/>
              </a:rPr>
              <a:t>の流れ</a:t>
            </a:r>
            <a:endParaRPr lang="ja-JP" altLang="en-US" sz="2000">
              <a:ea typeface="Meiryo" panose="020B0604030504040204" charset="-128"/>
            </a:endParaRPr>
          </a:p>
          <a:p>
            <a:pPr marL="914400" lvl="1" indent="-457200" fontAlgn="auto">
              <a:lnSpc>
                <a:spcPct val="125000"/>
              </a:lnSpc>
              <a:buFont typeface="+mj-lt"/>
              <a:buAutoNum type="arabicPeriod"/>
            </a:pPr>
            <a:r>
              <a:rPr sz="2000">
                <a:ea typeface="Meiryo" panose="020B0604030504040204" charset="-128"/>
                <a:sym typeface="+mn-ea"/>
              </a:rPr>
              <a:t>スーパーグラフを1回学習する</a:t>
            </a:r>
            <a:endParaRPr sz="2000">
              <a:ea typeface="Meiryo" panose="020B0604030504040204" charset="-128"/>
            </a:endParaRPr>
          </a:p>
          <a:p>
            <a:pPr marL="914400" lvl="1" indent="-457200" fontAlgn="auto">
              <a:lnSpc>
                <a:spcPct val="125000"/>
              </a:lnSpc>
              <a:buFont typeface="+mj-lt"/>
              <a:buAutoNum type="arabicPeriod"/>
            </a:pPr>
            <a:r>
              <a:rPr sz="2000">
                <a:ea typeface="Meiryo" panose="020B0604030504040204" charset="-128"/>
                <a:sym typeface="+mn-ea"/>
              </a:rPr>
              <a:t>スーパーグラフからサブグラフを抽出する</a:t>
            </a:r>
            <a:endParaRPr sz="2000">
              <a:ea typeface="Meiryo" panose="020B0604030504040204" charset="-128"/>
            </a:endParaRPr>
          </a:p>
          <a:p>
            <a:pPr marL="914400" lvl="1" indent="-457200" fontAlgn="auto">
              <a:lnSpc>
                <a:spcPct val="125000"/>
              </a:lnSpc>
              <a:buFont typeface="+mj-lt"/>
              <a:buAutoNum type="arabicPeriod"/>
            </a:pPr>
            <a:r>
              <a:rPr sz="2000">
                <a:ea typeface="Meiryo" panose="020B0604030504040204" charset="-128"/>
                <a:sym typeface="+mn-ea"/>
              </a:rPr>
              <a:t>サブグラフの評価を行う</a:t>
            </a:r>
            <a:endParaRPr sz="2000">
              <a:ea typeface="Meiryo" panose="020B0604030504040204" charset="-128"/>
            </a:endParaRPr>
          </a:p>
          <a:p>
            <a:pPr marL="914400" lvl="1" indent="-457200" fontAlgn="auto">
              <a:lnSpc>
                <a:spcPct val="125000"/>
              </a:lnSpc>
              <a:buFont typeface="+mj-lt"/>
              <a:buAutoNum type="arabicPeriod"/>
            </a:pPr>
            <a:r>
              <a:rPr lang="ja-JP" sz="2000">
                <a:ea typeface="Meiryo" panose="020B0604030504040204" charset="-128"/>
                <a:sym typeface="+mn-ea"/>
              </a:rPr>
              <a:t>２</a:t>
            </a:r>
            <a:r>
              <a:rPr sz="2000">
                <a:ea typeface="Meiryo" panose="020B0604030504040204" charset="-128"/>
                <a:sym typeface="+mn-ea"/>
              </a:rPr>
              <a:t>と</a:t>
            </a:r>
            <a:r>
              <a:rPr lang="ja-JP" sz="2000">
                <a:ea typeface="Meiryo" panose="020B0604030504040204" charset="-128"/>
                <a:sym typeface="+mn-ea"/>
              </a:rPr>
              <a:t>３</a:t>
            </a:r>
            <a:r>
              <a:rPr sz="2000">
                <a:ea typeface="Meiryo" panose="020B0604030504040204" charset="-128"/>
                <a:sym typeface="+mn-ea"/>
              </a:rPr>
              <a:t>を繰り返す</a:t>
            </a:r>
            <a:endParaRPr lang="ja-JP" altLang="en-US" sz="2000">
              <a:ea typeface="Meiryo" panose="020B0604030504040204" charset="-128"/>
            </a:endParaRPr>
          </a:p>
          <a:p>
            <a:pPr marL="342900" indent="-342900" fontAlgn="auto">
              <a:lnSpc>
                <a:spcPct val="125000"/>
              </a:lnSpc>
              <a:buFont typeface="Arial" panose="020B0604020202090204" pitchFamily="34" charset="0"/>
              <a:buChar char="•"/>
            </a:pPr>
            <a:endParaRPr lang="ja-JP" altLang="en-US" sz="2000">
              <a:ea typeface="Meiryo" panose="020B0604030504040204"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5" name="Text Box 4"/>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rPr>
              <a:t>Performance estimation strategy</a:t>
            </a:r>
            <a:endParaRPr lang="en-US" sz="2800" b="1">
              <a:latin typeface="Meiryo Bold" panose="020B0604030504040204" charset="-128"/>
              <a:ea typeface="Meiryo Bold" panose="020B0604030504040204" charset="-128"/>
            </a:endParaRPr>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2" name="Text Box 1"/>
          <p:cNvSpPr txBox="1"/>
          <p:nvPr/>
        </p:nvSpPr>
        <p:spPr>
          <a:xfrm>
            <a:off x="127635" y="1437005"/>
            <a:ext cx="11936095" cy="2014855"/>
          </a:xfrm>
          <a:prstGeom prst="rect">
            <a:avLst/>
          </a:prstGeom>
          <a:noFill/>
        </p:spPr>
        <p:txBody>
          <a:bodyPr wrap="square" rtlCol="0" anchor="t">
            <a:spAutoFit/>
          </a:bodyPr>
          <a:p>
            <a:pPr marL="342900" indent="-342900" algn="l">
              <a:lnSpc>
                <a:spcPct val="125000"/>
              </a:lnSpc>
              <a:buFont typeface="Arial" panose="020B0604020202090204" pitchFamily="34" charset="0"/>
            </a:pPr>
            <a:r>
              <a:rPr lang="ja-JP" altLang="en-US" sz="2000">
                <a:ea typeface="Meiryo" panose="020B0604030504040204" charset="-128"/>
                <a:sym typeface="+mn-ea"/>
              </a:rPr>
              <a:t>One-Shotモデルはパフォーマンスを過小評価するバイアスが掛かりやすいという欠点がある。</a:t>
            </a:r>
            <a:endParaRPr lang="ja-JP" altLang="en-US" sz="2000">
              <a:ea typeface="Meiryo" panose="020B0604030504040204" charset="-128"/>
            </a:endParaRPr>
          </a:p>
          <a:p>
            <a:pPr marL="342900" indent="-342900" algn="l">
              <a:lnSpc>
                <a:spcPct val="125000"/>
              </a:lnSpc>
              <a:buFont typeface="Arial" panose="020B0604020202090204" pitchFamily="34" charset="0"/>
            </a:pPr>
            <a:r>
              <a:rPr lang="ja-JP" altLang="en-US" sz="2000">
                <a:ea typeface="Meiryo" panose="020B0604030504040204" charset="-128"/>
                <a:sym typeface="+mn-ea"/>
              </a:rPr>
              <a:t>構造のよさに順位を付けることは可能なので、推定パフォーマンスと実際のパフォーマンスの相関が強いと仮定すれば特に問題ない。</a:t>
            </a:r>
            <a:endParaRPr lang="ja-JP" altLang="en-US" sz="2000">
              <a:ea typeface="Meiryo" panose="020B0604030504040204" charset="-128"/>
              <a:sym typeface="+mn-ea"/>
            </a:endParaRPr>
          </a:p>
          <a:p>
            <a:pPr marL="342900" indent="-342900" algn="l">
              <a:lnSpc>
                <a:spcPct val="125000"/>
              </a:lnSpc>
              <a:buFont typeface="Arial" panose="020B0604020202090204" pitchFamily="34" charset="0"/>
            </a:pPr>
            <a:r>
              <a:rPr lang="ja-JP" altLang="en-US" sz="2000">
                <a:solidFill>
                  <a:schemeClr val="tx1">
                    <a:lumMod val="50000"/>
                    <a:lumOff val="50000"/>
                  </a:schemeClr>
                </a:solidFill>
                <a:ea typeface="Meiryo" panose="020B0604030504040204" charset="-128"/>
                <a:sym typeface="+mn-ea"/>
              </a:rPr>
              <a:t>しかし、2019年現在、実問題において推定パフォーマンスと実際のパフォーマンス強い相関が存在するかはまだ明らかではない。</a:t>
            </a:r>
            <a:endParaRPr lang="ja-JP" altLang="en-US" sz="2000">
              <a:solidFill>
                <a:schemeClr val="tx1">
                  <a:lumMod val="50000"/>
                  <a:lumOff val="50000"/>
                </a:schemeClr>
              </a:solidFill>
              <a:ea typeface="Meiryo" panose="020B0604030504040204" charset="-128"/>
              <a:sym typeface="+mn-ea"/>
            </a:endParaRPr>
          </a:p>
        </p:txBody>
      </p:sp>
      <p:sp>
        <p:nvSpPr>
          <p:cNvPr id="3" name="Rectangle 2"/>
          <p:cNvSpPr/>
          <p:nvPr/>
        </p:nvSpPr>
        <p:spPr>
          <a:xfrm>
            <a:off x="127635" y="919480"/>
            <a:ext cx="8445500" cy="51752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ja-JP" sz="2000" b="1">
                <a:solidFill>
                  <a:schemeClr val="tx1"/>
                </a:solidFill>
                <a:latin typeface="Meiryo Bold" panose="020B0604030504040204" charset="-128"/>
                <a:ea typeface="Meiryo Bold" panose="020B0604030504040204" charset="-128"/>
                <a:sym typeface="+mn-ea"/>
              </a:rPr>
              <a:t>One-Shot NAS</a:t>
            </a:r>
            <a:endParaRPr lang="ja-JP" sz="2000" b="1">
              <a:solidFill>
                <a:schemeClr val="tx1"/>
              </a:solidFill>
              <a:latin typeface="Meiryo Bold" panose="020B0604030504040204" charset="-128"/>
              <a:ea typeface="Meiryo Bold" panose="020B0604030504040204" charset="-128"/>
              <a:sym typeface="+mn-ea"/>
            </a:endParaRPr>
          </a:p>
        </p:txBody>
      </p:sp>
      <p:sp>
        <p:nvSpPr>
          <p:cNvPr id="11" name="Text Box 10"/>
          <p:cNvSpPr txBox="1"/>
          <p:nvPr/>
        </p:nvSpPr>
        <p:spPr>
          <a:xfrm>
            <a:off x="127635" y="3584575"/>
            <a:ext cx="11864340" cy="2014855"/>
          </a:xfrm>
          <a:prstGeom prst="rect">
            <a:avLst/>
          </a:prstGeom>
          <a:noFill/>
          <a:ln>
            <a:solidFill>
              <a:schemeClr val="accent2">
                <a:lumMod val="75000"/>
              </a:schemeClr>
            </a:solidFill>
            <a:prstDash val="dashDot"/>
          </a:ln>
        </p:spPr>
        <p:txBody>
          <a:bodyPr wrap="square" rtlCol="0">
            <a:spAutoFit/>
          </a:bodyPr>
          <a:p>
            <a:pPr indent="0" fontAlgn="auto">
              <a:lnSpc>
                <a:spcPct val="125000"/>
              </a:lnSpc>
              <a:buFont typeface="Arial" panose="020B0604020202090204" pitchFamily="34" charset="0"/>
              <a:buNone/>
            </a:pPr>
            <a:r>
              <a:rPr sz="2000" b="1">
                <a:solidFill>
                  <a:schemeClr val="tx1"/>
                </a:solidFill>
                <a:latin typeface="Meiryo Bold" panose="020B0604030504040204" charset="-128"/>
                <a:ea typeface="Meiryo Bold" panose="020B0604030504040204" charset="-128"/>
                <a:cs typeface="Meiryo Bold" panose="020B0604030504040204" charset="-128"/>
              </a:rPr>
              <a:t>One-Shot NASを実現する各手法は、1度のスーパーグラフの学習を</a:t>
            </a:r>
            <a:r>
              <a:rPr lang="ja-JP" sz="2000" b="1">
                <a:solidFill>
                  <a:schemeClr val="tx1"/>
                </a:solidFill>
                <a:latin typeface="Meiryo Bold" panose="020B0604030504040204" charset="-128"/>
                <a:ea typeface="Meiryo Bold" panose="020B0604030504040204" charset="-128"/>
                <a:cs typeface="Meiryo Bold" panose="020B0604030504040204" charset="-128"/>
              </a:rPr>
              <a:t>どのように</a:t>
            </a:r>
            <a:r>
              <a:rPr sz="2000" b="1">
                <a:solidFill>
                  <a:schemeClr val="tx1"/>
                </a:solidFill>
                <a:latin typeface="Meiryo Bold" panose="020B0604030504040204" charset="-128"/>
                <a:ea typeface="Meiryo Bold" panose="020B0604030504040204" charset="-128"/>
                <a:cs typeface="Meiryo Bold" panose="020B0604030504040204" charset="-128"/>
              </a:rPr>
              <a:t>行う所に違いがあ</a:t>
            </a:r>
            <a:r>
              <a:rPr lang="ja-JP" sz="2000" b="1">
                <a:solidFill>
                  <a:schemeClr val="tx1"/>
                </a:solidFill>
                <a:latin typeface="Meiryo Bold" panose="020B0604030504040204" charset="-128"/>
                <a:ea typeface="Meiryo Bold" panose="020B0604030504040204" charset="-128"/>
                <a:cs typeface="Meiryo Bold" panose="020B0604030504040204" charset="-128"/>
              </a:rPr>
              <a:t>る。</a:t>
            </a:r>
            <a:endParaRPr sz="2000" b="1">
              <a:solidFill>
                <a:schemeClr val="tx1"/>
              </a:solidFill>
              <a:latin typeface="Meiryo Bold" panose="020B0604030504040204" charset="-128"/>
              <a:ea typeface="Meiryo Bold" panose="020B0604030504040204" charset="-128"/>
              <a:cs typeface="Meiryo Bold" panose="020B0604030504040204" charset="-128"/>
            </a:endParaRPr>
          </a:p>
          <a:p>
            <a:pPr marL="342900" indent="-342900" fontAlgn="auto">
              <a:lnSpc>
                <a:spcPct val="125000"/>
              </a:lnSpc>
              <a:buFont typeface="Arial" panose="020B0604020202090204" pitchFamily="34" charset="0"/>
              <a:buChar char="•"/>
            </a:pPr>
            <a:r>
              <a:rPr lang="ja-JP" sz="2000" b="1">
                <a:solidFill>
                  <a:schemeClr val="tx1"/>
                </a:solidFill>
                <a:latin typeface="Meiryo Bold" panose="020B0604030504040204" charset="-128"/>
                <a:ea typeface="Meiryo Bold" panose="020B0604030504040204" charset="-128"/>
              </a:rPr>
              <a:t>ENAS</a:t>
            </a:r>
            <a:r>
              <a:rPr lang="ja-JP" sz="2000">
                <a:solidFill>
                  <a:schemeClr val="tx1"/>
                </a:solidFill>
                <a:latin typeface="Meiryo Regular" panose="020B0604030504040204" charset="-128"/>
                <a:ea typeface="Meiryo Regular" panose="020B0604030504040204" charset="-128"/>
              </a:rPr>
              <a:t>はRNN controllerを用いて構造をサンプルし、強化学習によって得られた勾配を用いて学習を行う。</a:t>
            </a:r>
            <a:endParaRPr lang="ja-JP" sz="2000">
              <a:solidFill>
                <a:schemeClr val="tx1"/>
              </a:solidFill>
              <a:latin typeface="Meiryo Regular" panose="020B0604030504040204" charset="-128"/>
              <a:ea typeface="Meiryo Regular" panose="020B0604030504040204" charset="-128"/>
            </a:endParaRPr>
          </a:p>
          <a:p>
            <a:pPr marL="342900" indent="-342900" fontAlgn="auto">
              <a:lnSpc>
                <a:spcPct val="125000"/>
              </a:lnSpc>
              <a:buFont typeface="Arial" panose="020B0604020202090204" pitchFamily="34" charset="0"/>
              <a:buChar char="•"/>
            </a:pPr>
            <a:r>
              <a:rPr lang="ja-JP" sz="2000">
                <a:solidFill>
                  <a:schemeClr val="tx1"/>
                </a:solidFill>
                <a:latin typeface="Meiryo Regular" panose="020B0604030504040204" charset="-128"/>
                <a:ea typeface="Meiryo Regular" panose="020B0604030504040204" charset="-128"/>
              </a:rPr>
              <a:t>DARTSは連続緩和(continuous relaxation)を用いて凸結合を計算し、各エッジにおける操作の候補を混合して表現することで構造を学習する。</a:t>
            </a:r>
            <a:endParaRPr lang="ja-JP" sz="2000">
              <a:solidFill>
                <a:schemeClr val="tx1"/>
              </a:solidFill>
              <a:latin typeface="Meiryo Regular" panose="020B0604030504040204" charset="-128"/>
              <a:ea typeface="Meiryo Regular" panose="020B0604030504040204" charset="-12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2" name="Text Box 1"/>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rPr>
              <a:t>Performance estimation strategy</a:t>
            </a:r>
            <a:endParaRPr lang="en-US" sz="2800" b="1">
              <a:latin typeface="Meiryo Bold" panose="020B0604030504040204" charset="-128"/>
              <a:ea typeface="Meiryo Bold" panose="020B0604030504040204" charset="-128"/>
            </a:endParaRPr>
          </a:p>
        </p:txBody>
      </p:sp>
      <p:sp>
        <p:nvSpPr>
          <p:cNvPr id="3" name="Rectangle 2"/>
          <p:cNvSpPr/>
          <p:nvPr/>
        </p:nvSpPr>
        <p:spPr>
          <a:xfrm>
            <a:off x="127635" y="919480"/>
            <a:ext cx="8445500" cy="517525"/>
          </a:xfrm>
          <a:prstGeom prst="rect">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lnSpc>
                <a:spcPct val="125000"/>
              </a:lnSpc>
            </a:pPr>
            <a:r>
              <a:rPr lang="ja-JP" sz="2000" b="1">
                <a:solidFill>
                  <a:schemeClr val="tx1"/>
                </a:solidFill>
                <a:latin typeface="Meiryo Bold" panose="020B0604030504040204" charset="-128"/>
                <a:ea typeface="Meiryo Bold" panose="020B0604030504040204" charset="-128"/>
                <a:sym typeface="+mn-ea"/>
              </a:rPr>
              <a:t>One-Shot NAS</a:t>
            </a:r>
            <a:endParaRPr lang="ja-JP" sz="2000" b="1">
              <a:solidFill>
                <a:schemeClr val="tx1"/>
              </a:solidFill>
              <a:latin typeface="Meiryo Bold" panose="020B0604030504040204" charset="-128"/>
              <a:ea typeface="Meiryo Bold" panose="020B0604030504040204" charset="-128"/>
              <a:sym typeface="+mn-ea"/>
            </a:endParaRPr>
          </a:p>
        </p:txBody>
      </p:sp>
      <p:sp>
        <p:nvSpPr>
          <p:cNvPr id="8" name="Text Box 7"/>
          <p:cNvSpPr txBox="1"/>
          <p:nvPr/>
        </p:nvSpPr>
        <p:spPr>
          <a:xfrm>
            <a:off x="127635" y="1437005"/>
            <a:ext cx="11936095" cy="3169285"/>
          </a:xfrm>
          <a:prstGeom prst="rect">
            <a:avLst/>
          </a:prstGeom>
          <a:noFill/>
        </p:spPr>
        <p:txBody>
          <a:bodyPr wrap="square" rtlCol="0" anchor="t">
            <a:spAutoFit/>
          </a:bodyPr>
          <a:p>
            <a:pPr marL="342900" indent="-342900" algn="l">
              <a:lnSpc>
                <a:spcPct val="125000"/>
              </a:lnSpc>
              <a:buFont typeface="Arial" panose="020B0604020202090204" pitchFamily="34" charset="0"/>
            </a:pPr>
            <a:r>
              <a:rPr lang="ja-JP" altLang="en-US" sz="2000" b="1">
                <a:latin typeface="Meiryo Bold" panose="020B0604030504040204" charset="-128"/>
                <a:ea typeface="Meiryo Bold" panose="020B0604030504040204" charset="-128"/>
                <a:cs typeface="Meiryo Bold" panose="020B0604030504040204" charset="-128"/>
                <a:sym typeface="+mn-ea"/>
              </a:rPr>
              <a:t>関連手法：</a:t>
            </a:r>
            <a:r>
              <a:rPr lang="en-US" altLang="ja-JP" sz="2000" b="1">
                <a:latin typeface="Meiryo Bold" panose="020B0604030504040204" charset="-128"/>
                <a:ea typeface="Meiryo Bold" panose="020B0604030504040204" charset="-128"/>
                <a:cs typeface="Meiryo Bold" panose="020B0604030504040204" charset="-128"/>
                <a:sym typeface="+mn-ea"/>
              </a:rPr>
              <a:t>meta-learning of Hypernetwork</a:t>
            </a:r>
            <a:endParaRPr lang="en-US" altLang="ja-JP" sz="2000" b="1">
              <a:latin typeface="Meiryo Bold" panose="020B0604030504040204" charset="-128"/>
              <a:ea typeface="Meiryo Bold" panose="020B0604030504040204" charset="-128"/>
              <a:cs typeface="Meiryo Bold" panose="020B0604030504040204" charset="-128"/>
              <a:sym typeface="+mn-ea"/>
            </a:endParaRPr>
          </a:p>
          <a:p>
            <a:pPr marL="342900" indent="-342900" algn="l">
              <a:lnSpc>
                <a:spcPct val="125000"/>
              </a:lnSpc>
              <a:buFont typeface="Arial" panose="020B0604020202090204" pitchFamily="34" charset="0"/>
            </a:pPr>
            <a:r>
              <a:rPr lang="en-US" altLang="ja-JP" sz="2000" b="1">
                <a:latin typeface="Meiryo Regular" panose="020B0604030504040204" charset="-128"/>
                <a:ea typeface="Meiryo Regular" panose="020B0604030504040204" charset="-128"/>
                <a:cs typeface="Meiryo Regular" panose="020B0604030504040204" charset="-128"/>
                <a:sym typeface="+mn-ea"/>
              </a:rPr>
              <a:t>Child network</a:t>
            </a:r>
            <a:r>
              <a:rPr lang="en-US" altLang="ja-JP" sz="2000">
                <a:latin typeface="Arial Bold" panose="020B0604020202090204" charset="0"/>
                <a:ea typeface="Meiryo" panose="020B0604030504040204" charset="-128"/>
                <a:cs typeface="Arial Bold" panose="020B0604020202090204" charset="0"/>
                <a:sym typeface="+mn-ea"/>
              </a:rPr>
              <a:t>を生成する構造を1度だけ学習する手法</a:t>
            </a:r>
            <a:r>
              <a:rPr lang="ja-JP" altLang="en-US" sz="2000">
                <a:latin typeface="Arial Bold" panose="020B0604020202090204" charset="0"/>
                <a:ea typeface="Meiryo" panose="020B0604030504040204" charset="-128"/>
                <a:cs typeface="Arial Bold" panose="020B0604020202090204" charset="0"/>
                <a:sym typeface="+mn-ea"/>
              </a:rPr>
              <a:t>。</a:t>
            </a:r>
            <a:endParaRPr lang="ja-JP" altLang="en-US" sz="2000">
              <a:latin typeface="Arial Bold" panose="020B0604020202090204" charset="0"/>
              <a:ea typeface="Meiryo" panose="020B0604030504040204" charset="-128"/>
              <a:cs typeface="Arial Bold" panose="020B0604020202090204" charset="0"/>
              <a:sym typeface="+mn-ea"/>
            </a:endParaRPr>
          </a:p>
          <a:p>
            <a:pPr marL="342900" indent="-342900" algn="l">
              <a:lnSpc>
                <a:spcPct val="125000"/>
              </a:lnSpc>
              <a:buFont typeface="Arial" panose="020B0604020202090204" pitchFamily="34" charset="0"/>
            </a:pPr>
            <a:r>
              <a:rPr lang="ja-JP" altLang="en-US" sz="2000">
                <a:latin typeface="Meiryo Regular" panose="020B0604030504040204" charset="-128"/>
                <a:ea typeface="Meiryo Regular" panose="020B0604030504040204" charset="-128"/>
                <a:cs typeface="Arial Bold" panose="020B0604020202090204" charset="0"/>
                <a:sym typeface="+mn-ea"/>
              </a:rPr>
              <a:t>One-Shot NAS</a:t>
            </a:r>
            <a:r>
              <a:rPr lang="ja-JP" altLang="en-US" sz="2000">
                <a:latin typeface="Arial Bold" panose="020B0604020202090204" charset="0"/>
                <a:ea typeface="Meiryo" panose="020B0604030504040204" charset="-128"/>
                <a:cs typeface="Arial Bold" panose="020B0604020202090204" charset="0"/>
                <a:sym typeface="+mn-ea"/>
              </a:rPr>
              <a:t>のスーパーグラフと似ているが、以下のように違いがある。</a:t>
            </a:r>
            <a:endParaRPr lang="ja-JP" altLang="en-US" sz="2000">
              <a:latin typeface="Arial Bold" panose="020B0604020202090204" charset="0"/>
              <a:ea typeface="Meiryo" panose="020B0604030504040204" charset="-128"/>
              <a:cs typeface="Arial Bold" panose="020B0604020202090204" charset="0"/>
              <a:sym typeface="+mn-ea"/>
            </a:endParaRPr>
          </a:p>
          <a:p>
            <a:pPr marL="342900" indent="-342900" algn="l">
              <a:lnSpc>
                <a:spcPct val="125000"/>
              </a:lnSpc>
              <a:buFont typeface="Arial" panose="020B0604020202090204" pitchFamily="34" charset="0"/>
              <a:buChar char="•"/>
            </a:pPr>
            <a:r>
              <a:rPr lang="en-US" altLang="ja-JP" sz="2000">
                <a:latin typeface="Meiryo Regular" panose="020B0604030504040204" charset="-128"/>
                <a:ea typeface="Meiryo Regular" panose="020B0604030504040204" charset="-128"/>
                <a:cs typeface="Meiryo Regular" panose="020B0604030504040204" charset="-128"/>
                <a:sym typeface="+mn-ea"/>
              </a:rPr>
              <a:t>O</a:t>
            </a:r>
            <a:r>
              <a:rPr lang="ja-JP" altLang="en-US" sz="2000">
                <a:latin typeface="Meiryo Regular" panose="020B0604030504040204" charset="-128"/>
                <a:ea typeface="Meiryo Regular" panose="020B0604030504040204" charset="-128"/>
                <a:cs typeface="Meiryo Regular" panose="020B0604030504040204" charset="-128"/>
                <a:sym typeface="+mn-ea"/>
              </a:rPr>
              <a:t>ne-Shot NASは、スーパーグラフの一部がサブグラフ(スーパーグラフとサブグラフで</a:t>
            </a:r>
            <a:r>
              <a:rPr lang="ja-JP" altLang="en-US" sz="2000" u="sng">
                <a:latin typeface="Meiryo Regular" panose="020B0604030504040204" charset="-128"/>
                <a:ea typeface="Meiryo Regular" panose="020B0604030504040204" charset="-128"/>
                <a:cs typeface="Meiryo Regular" panose="020B0604030504040204" charset="-128"/>
                <a:sym typeface="+mn-ea"/>
              </a:rPr>
              <a:t>重みを共有する</a:t>
            </a:r>
            <a:r>
              <a:rPr lang="ja-JP" altLang="en-US" sz="2000">
                <a:latin typeface="Meiryo Regular" panose="020B0604030504040204" charset="-128"/>
                <a:ea typeface="Meiryo Regular" panose="020B0604030504040204" charset="-128"/>
                <a:cs typeface="Meiryo Regular" panose="020B0604030504040204" charset="-128"/>
                <a:sym typeface="+mn-ea"/>
              </a:rPr>
              <a:t>)</a:t>
            </a:r>
            <a:endParaRPr lang="ja-JP" altLang="en-US" sz="2000">
              <a:latin typeface="Meiryo Regular" panose="020B0604030504040204" charset="-128"/>
              <a:ea typeface="Meiryo Regular" panose="020B0604030504040204" charset="-128"/>
              <a:cs typeface="Meiryo Regular" panose="020B0604030504040204" charset="-128"/>
              <a:sym typeface="+mn-ea"/>
            </a:endParaRPr>
          </a:p>
          <a:p>
            <a:pPr marL="342900" indent="-342900" algn="l">
              <a:lnSpc>
                <a:spcPct val="125000"/>
              </a:lnSpc>
              <a:buFont typeface="Arial" panose="020B0604020202090204" pitchFamily="34" charset="0"/>
              <a:buChar char="•"/>
            </a:pPr>
            <a:r>
              <a:rPr lang="ja-JP" altLang="en-US" sz="2000">
                <a:latin typeface="Meiryo Regular" panose="020B0604030504040204" charset="-128"/>
                <a:ea typeface="Meiryo Regular" panose="020B0604030504040204" charset="-128"/>
                <a:cs typeface="Meiryo Regular" panose="020B0604030504040204" charset="-128"/>
                <a:sym typeface="+mn-ea"/>
              </a:rPr>
              <a:t>メタラーニングがHypernertworkの一部がサンプルされ、それからChild networkを生成する(HypernertworkとChild networkで</a:t>
            </a:r>
            <a:r>
              <a:rPr lang="ja-JP" altLang="en-US" sz="2000" u="sng">
                <a:latin typeface="Meiryo Regular" panose="020B0604030504040204" charset="-128"/>
                <a:ea typeface="Meiryo Regular" panose="020B0604030504040204" charset="-128"/>
                <a:cs typeface="Meiryo Regular" panose="020B0604030504040204" charset="-128"/>
                <a:sym typeface="+mn-ea"/>
              </a:rPr>
              <a:t>重みを共有するわけではない</a:t>
            </a:r>
            <a:r>
              <a:rPr lang="ja-JP" altLang="en-US" sz="2000">
                <a:latin typeface="Meiryo Regular" panose="020B0604030504040204" charset="-128"/>
                <a:ea typeface="Meiryo Regular" panose="020B0604030504040204" charset="-128"/>
                <a:cs typeface="Meiryo Regular" panose="020B0604030504040204" charset="-128"/>
                <a:sym typeface="+mn-ea"/>
              </a:rPr>
              <a:t>)</a:t>
            </a:r>
            <a:endParaRPr lang="ja-JP" altLang="en-US" sz="2000">
              <a:latin typeface="Meiryo Regular" panose="020B0604030504040204" charset="-128"/>
              <a:ea typeface="Meiryo Regular" panose="020B0604030504040204" charset="-128"/>
              <a:cs typeface="Meiryo Regular" panose="020B0604030504040204" charset="-128"/>
              <a:sym typeface="+mn-ea"/>
            </a:endParaRPr>
          </a:p>
          <a:p>
            <a:pPr indent="0" algn="l">
              <a:lnSpc>
                <a:spcPct val="125000"/>
              </a:lnSpc>
              <a:buFont typeface="Arial" panose="020B0604020202090204" pitchFamily="34" charset="0"/>
              <a:buNone/>
            </a:pPr>
            <a:endParaRPr lang="ja-JP" altLang="en-US" sz="2000">
              <a:latin typeface="Meiryo Regular" panose="020B0604030504040204" charset="-128"/>
              <a:ea typeface="Meiryo Regular" panose="020B0604030504040204" charset="-128"/>
              <a:cs typeface="Meiryo Regular" panose="020B0604030504040204" charset="-128"/>
              <a:sym typeface="+mn-ea"/>
            </a:endParaRPr>
          </a:p>
        </p:txBody>
      </p:sp>
      <p:sp>
        <p:nvSpPr>
          <p:cNvPr id="11" name="Text Box 10"/>
          <p:cNvSpPr txBox="1"/>
          <p:nvPr/>
        </p:nvSpPr>
        <p:spPr>
          <a:xfrm>
            <a:off x="127635" y="4325620"/>
            <a:ext cx="11864340" cy="2399665"/>
          </a:xfrm>
          <a:prstGeom prst="rect">
            <a:avLst/>
          </a:prstGeom>
          <a:noFill/>
          <a:ln>
            <a:solidFill>
              <a:schemeClr val="accent2">
                <a:lumMod val="75000"/>
              </a:schemeClr>
            </a:solidFill>
            <a:prstDash val="dashDot"/>
          </a:ln>
        </p:spPr>
        <p:txBody>
          <a:bodyPr wrap="square" rtlCol="0">
            <a:spAutoFit/>
          </a:bodyPr>
          <a:p>
            <a:pPr indent="0" fontAlgn="auto">
              <a:lnSpc>
                <a:spcPct val="125000"/>
              </a:lnSpc>
              <a:buFont typeface="Arial" panose="020B0604020202090204" pitchFamily="34" charset="0"/>
              <a:buNone/>
            </a:pPr>
            <a:r>
              <a:rPr sz="2000" b="1">
                <a:solidFill>
                  <a:schemeClr val="tx1"/>
                </a:solidFill>
                <a:latin typeface="Meiryo Bold" panose="020B0604030504040204" charset="-128"/>
                <a:ea typeface="Meiryo Bold" panose="020B0604030504040204" charset="-128"/>
                <a:cs typeface="Meiryo Bold" panose="020B0604030504040204" charset="-128"/>
              </a:rPr>
              <a:t>One-Shot NASの限界</a:t>
            </a:r>
            <a:endParaRPr sz="2000" b="1">
              <a:solidFill>
                <a:schemeClr val="tx1"/>
              </a:solidFill>
              <a:latin typeface="Meiryo Bold" panose="020B0604030504040204" charset="-128"/>
              <a:ea typeface="Meiryo Bold" panose="020B0604030504040204" charset="-128"/>
              <a:cs typeface="Meiryo Bold" panose="020B0604030504040204" charset="-128"/>
            </a:endParaRPr>
          </a:p>
          <a:p>
            <a:pPr marL="342900" indent="-342900" fontAlgn="auto">
              <a:lnSpc>
                <a:spcPct val="125000"/>
              </a:lnSpc>
              <a:buFont typeface="Arial" panose="020B0604020202090204" pitchFamily="34" charset="0"/>
              <a:buChar char="•"/>
            </a:pPr>
            <a:r>
              <a:rPr sz="2000">
                <a:solidFill>
                  <a:schemeClr val="tx1"/>
                </a:solidFill>
                <a:latin typeface="Meiryo" panose="020B0604030504040204" charset="-128"/>
                <a:ea typeface="Meiryo" panose="020B0604030504040204" charset="-128"/>
                <a:cs typeface="Meiryo" panose="020B0604030504040204" charset="-128"/>
              </a:rPr>
              <a:t>スーパーグラフが探索空間を制限してしまう</a:t>
            </a:r>
            <a:endParaRPr sz="2000">
              <a:solidFill>
                <a:schemeClr val="tx1"/>
              </a:solidFill>
              <a:latin typeface="Meiryo" panose="020B0604030504040204" charset="-128"/>
              <a:ea typeface="Meiryo" panose="020B0604030504040204" charset="-128"/>
              <a:cs typeface="Meiryo" panose="020B0604030504040204" charset="-128"/>
            </a:endParaRPr>
          </a:p>
          <a:p>
            <a:pPr marL="342900" indent="-342900" fontAlgn="auto">
              <a:lnSpc>
                <a:spcPct val="125000"/>
              </a:lnSpc>
              <a:buFont typeface="Arial" panose="020B0604020202090204" pitchFamily="34" charset="0"/>
              <a:buChar char="•"/>
            </a:pPr>
            <a:r>
              <a:rPr sz="2000">
                <a:solidFill>
                  <a:schemeClr val="tx1"/>
                </a:solidFill>
                <a:latin typeface="Meiryo" panose="020B0604030504040204" charset="-128"/>
                <a:ea typeface="Meiryo" panose="020B0604030504040204" charset="-128"/>
                <a:cs typeface="Meiryo" panose="020B0604030504040204" charset="-128"/>
              </a:rPr>
              <a:t>GPUのメモリを大量に消費するので、メモリが少ないと小さいスーパーグラフしか探索できない</a:t>
            </a:r>
            <a:endParaRPr sz="2000">
              <a:solidFill>
                <a:schemeClr val="tx1"/>
              </a:solidFill>
              <a:latin typeface="Meiryo" panose="020B0604030504040204" charset="-128"/>
              <a:ea typeface="Meiryo" panose="020B0604030504040204" charset="-128"/>
              <a:cs typeface="Meiryo" panose="020B0604030504040204" charset="-128"/>
            </a:endParaRPr>
          </a:p>
          <a:p>
            <a:pPr indent="0" fontAlgn="auto">
              <a:lnSpc>
                <a:spcPct val="125000"/>
              </a:lnSpc>
              <a:buFont typeface="Arial" panose="020B0604020202090204" pitchFamily="34" charset="0"/>
              <a:buNone/>
            </a:pPr>
            <a:r>
              <a:rPr lang="ja-JP" sz="2000">
                <a:solidFill>
                  <a:schemeClr val="tx1"/>
                </a:solidFill>
                <a:latin typeface="Meiryo" panose="020B0604030504040204" charset="-128"/>
                <a:ea typeface="Meiryo" panose="020B0604030504040204" charset="-128"/>
                <a:cs typeface="Meiryo" panose="020B0604030504040204" charset="-128"/>
              </a:rPr>
              <a:t>　</a:t>
            </a:r>
            <a:r>
              <a:rPr lang="en-US" altLang="ja-JP" sz="2000">
                <a:solidFill>
                  <a:schemeClr val="tx1"/>
                </a:solidFill>
                <a:latin typeface="Meiryo" panose="020B0604030504040204" charset="-128"/>
                <a:ea typeface="Meiryo" panose="020B0604030504040204" charset="-128"/>
                <a:cs typeface="Meiryo" panose="020B0604030504040204" charset="-128"/>
              </a:rPr>
              <a:t>→</a:t>
            </a:r>
            <a:r>
              <a:rPr sz="2000">
                <a:solidFill>
                  <a:schemeClr val="tx1"/>
                </a:solidFill>
                <a:latin typeface="Meiryo" panose="020B0604030504040204" charset="-128"/>
                <a:ea typeface="Meiryo" panose="020B0604030504040204" charset="-128"/>
                <a:cs typeface="Meiryo" panose="020B0604030504040204" charset="-128"/>
              </a:rPr>
              <a:t>メモリが少ないと探索空間が制限されてしまう</a:t>
            </a:r>
            <a:endParaRPr sz="2000">
              <a:solidFill>
                <a:schemeClr val="tx1"/>
              </a:solidFill>
              <a:latin typeface="Meiryo" panose="020B0604030504040204" charset="-128"/>
              <a:ea typeface="Meiryo" panose="020B0604030504040204" charset="-128"/>
              <a:cs typeface="Meiryo" panose="020B0604030504040204" charset="-128"/>
            </a:endParaRPr>
          </a:p>
          <a:p>
            <a:pPr indent="0" fontAlgn="auto">
              <a:lnSpc>
                <a:spcPct val="125000"/>
              </a:lnSpc>
              <a:buFont typeface="Arial" panose="020B0604020202090204" pitchFamily="34" charset="0"/>
              <a:buNone/>
            </a:pPr>
            <a:r>
              <a:rPr lang="en-US" sz="2000">
                <a:solidFill>
                  <a:schemeClr val="tx1"/>
                </a:solidFill>
                <a:latin typeface="Meiryo" panose="020B0604030504040204" charset="-128"/>
                <a:ea typeface="Meiryo" panose="020B0604030504040204" charset="-128"/>
                <a:cs typeface="Meiryo" panose="020B0604030504040204" charset="-128"/>
              </a:rPr>
              <a:t>※</a:t>
            </a:r>
            <a:r>
              <a:rPr sz="2000">
                <a:solidFill>
                  <a:schemeClr val="tx1"/>
                </a:solidFill>
                <a:latin typeface="Meiryo" panose="020B0604030504040204" charset="-128"/>
                <a:ea typeface="Meiryo" panose="020B0604030504040204" charset="-128"/>
                <a:cs typeface="Meiryo" panose="020B0604030504040204" charset="-128"/>
              </a:rPr>
              <a:t>通常はCellベースの探索空間と組み合わせて</a:t>
            </a:r>
            <a:r>
              <a:rPr lang="ja-JP" sz="2000">
                <a:solidFill>
                  <a:schemeClr val="tx1"/>
                </a:solidFill>
                <a:latin typeface="Meiryo" panose="020B0604030504040204" charset="-128"/>
                <a:ea typeface="Meiryo" panose="020B0604030504040204" charset="-128"/>
                <a:cs typeface="Meiryo" panose="020B0604030504040204" charset="-128"/>
              </a:rPr>
              <a:t>使われる。</a:t>
            </a:r>
            <a:endParaRPr sz="2000">
              <a:solidFill>
                <a:schemeClr val="tx1"/>
              </a:solidFill>
              <a:latin typeface="Meiryo" panose="020B0604030504040204" charset="-128"/>
              <a:ea typeface="Meiryo" panose="020B0604030504040204" charset="-128"/>
              <a:cs typeface="Meiryo" panose="020B0604030504040204" charset="-128"/>
            </a:endParaRPr>
          </a:p>
          <a:p>
            <a:pPr indent="0" fontAlgn="auto">
              <a:lnSpc>
                <a:spcPct val="125000"/>
              </a:lnSpc>
              <a:buFont typeface="Arial" panose="020B0604020202090204" pitchFamily="34" charset="0"/>
              <a:buNone/>
            </a:pPr>
            <a:r>
              <a:rPr lang="ja-JP" sz="2000">
                <a:solidFill>
                  <a:schemeClr val="tx1"/>
                </a:solidFill>
                <a:latin typeface="Meiryo" panose="020B0604030504040204" charset="-128"/>
                <a:ea typeface="Meiryo" panose="020B0604030504040204" charset="-128"/>
                <a:cs typeface="Meiryo" panose="020B0604030504040204" charset="-128"/>
              </a:rPr>
              <a:t>　</a:t>
            </a:r>
            <a:r>
              <a:rPr sz="2000">
                <a:solidFill>
                  <a:schemeClr val="tx1"/>
                </a:solidFill>
                <a:latin typeface="Meiryo" panose="020B0604030504040204" charset="-128"/>
                <a:ea typeface="Meiryo" panose="020B0604030504040204" charset="-128"/>
                <a:cs typeface="Meiryo" panose="020B0604030504040204" charset="-128"/>
              </a:rPr>
              <a:t>2019年現在、One-Shotモデルはどのようなバイアスが発生するか十分にわかってい</a:t>
            </a:r>
            <a:r>
              <a:rPr lang="ja-JP" sz="2000">
                <a:solidFill>
                  <a:schemeClr val="tx1"/>
                </a:solidFill>
                <a:latin typeface="Meiryo" panose="020B0604030504040204" charset="-128"/>
                <a:ea typeface="Meiryo" panose="020B0604030504040204" charset="-128"/>
                <a:cs typeface="Meiryo" panose="020B0604030504040204" charset="-128"/>
              </a:rPr>
              <a:t>ない。</a:t>
            </a:r>
            <a:endParaRPr lang="ja-JP" sz="2000">
              <a:solidFill>
                <a:schemeClr val="tx1"/>
              </a:solidFill>
              <a:latin typeface="Meiryo" panose="020B0604030504040204" charset="-128"/>
              <a:ea typeface="Meiryo" panose="020B0604030504040204" charset="-128"/>
              <a:cs typeface="Meiryo" panose="020B0604030504040204"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Straight Connector 3"/>
          <p:cNvCxnSpPr/>
          <p:nvPr/>
        </p:nvCxnSpPr>
        <p:spPr>
          <a:xfrm>
            <a:off x="635" y="728345"/>
            <a:ext cx="12191365" cy="0"/>
          </a:xfrm>
          <a:prstGeom prst="line">
            <a:avLst/>
          </a:prstGeom>
          <a:effectLst>
            <a:reflection stA="45000" dist="50800" dir="5400000" sy="-100000" algn="bl" rotWithShape="0"/>
          </a:effectLst>
        </p:spPr>
        <p:style>
          <a:lnRef idx="3">
            <a:schemeClr val="accent4"/>
          </a:lnRef>
          <a:fillRef idx="0">
            <a:schemeClr val="accent4"/>
          </a:fillRef>
          <a:effectRef idx="2">
            <a:schemeClr val="accent4"/>
          </a:effectRef>
          <a:fontRef idx="minor">
            <a:schemeClr val="tx1"/>
          </a:fontRef>
        </p:style>
      </p:cxnSp>
      <p:sp>
        <p:nvSpPr>
          <p:cNvPr id="5" name="Text Box 4"/>
          <p:cNvSpPr txBox="1"/>
          <p:nvPr/>
        </p:nvSpPr>
        <p:spPr>
          <a:xfrm>
            <a:off x="635" y="99060"/>
            <a:ext cx="6322060" cy="521970"/>
          </a:xfrm>
          <a:prstGeom prst="rect">
            <a:avLst/>
          </a:prstGeom>
          <a:noFill/>
        </p:spPr>
        <p:txBody>
          <a:bodyPr wrap="square" rtlCol="0">
            <a:spAutoFit/>
          </a:bodyPr>
          <a:p>
            <a:r>
              <a:rPr lang="en-US" sz="2800" b="1">
                <a:latin typeface="Meiryo Bold" panose="020B0604030504040204" charset="-128"/>
                <a:ea typeface="Meiryo Bold" panose="020B0604030504040204" charset="-128"/>
              </a:rPr>
              <a:t>Future Directions</a:t>
            </a:r>
            <a:endParaRPr lang="en-US" sz="2800" b="1">
              <a:latin typeface="Meiryo Bold" panose="020B0604030504040204" charset="-128"/>
              <a:ea typeface="Meiryo Bold" panose="020B0604030504040204" charset="-128"/>
            </a:endParaRPr>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
        <p:nvSpPr>
          <p:cNvPr id="8" name="Text Box 7"/>
          <p:cNvSpPr txBox="1"/>
          <p:nvPr/>
        </p:nvSpPr>
        <p:spPr>
          <a:xfrm>
            <a:off x="127635" y="838200"/>
            <a:ext cx="11936095" cy="5862320"/>
          </a:xfrm>
          <a:prstGeom prst="rect">
            <a:avLst/>
          </a:prstGeom>
          <a:noFill/>
        </p:spPr>
        <p:txBody>
          <a:bodyPr wrap="square" rtlCol="0" anchor="t">
            <a:spAutoFit/>
          </a:bodyPr>
          <a:p>
            <a:pPr marL="342900" indent="-342900" algn="l">
              <a:lnSpc>
                <a:spcPct val="125000"/>
              </a:lnSpc>
              <a:buFont typeface="Arial" panose="020B0604020202090204" pitchFamily="34" charset="0"/>
              <a:buChar char="•"/>
            </a:pPr>
            <a:r>
              <a:rPr sz="2000">
                <a:latin typeface="Meiryo" panose="020B0604030504040204" charset="-128"/>
                <a:ea typeface="Meiryo" panose="020B0604030504040204" charset="-128"/>
                <a:cs typeface="Meiryo" panose="020B0604030504040204" charset="-128"/>
                <a:sym typeface="+mn-ea"/>
              </a:rPr>
              <a:t>既存の研究の多くは</a:t>
            </a:r>
            <a:r>
              <a:rPr sz="2000" u="sng">
                <a:latin typeface="Meiryo" panose="020B0604030504040204" charset="-128"/>
                <a:ea typeface="Meiryo" panose="020B0604030504040204" charset="-128"/>
                <a:cs typeface="Meiryo" panose="020B0604030504040204" charset="-128"/>
                <a:sym typeface="+mn-ea"/>
              </a:rPr>
              <a:t>画像分類</a:t>
            </a:r>
            <a:r>
              <a:rPr sz="2000">
                <a:latin typeface="Meiryo" panose="020B0604030504040204" charset="-128"/>
                <a:ea typeface="Meiryo" panose="020B0604030504040204" charset="-128"/>
                <a:cs typeface="Meiryo" panose="020B0604030504040204" charset="-128"/>
                <a:sym typeface="+mn-ea"/>
              </a:rPr>
              <a:t>にフォーカスして</a:t>
            </a:r>
            <a:r>
              <a:rPr lang="ja-JP" sz="2000">
                <a:latin typeface="Meiryo" panose="020B0604030504040204" charset="-128"/>
                <a:ea typeface="Meiryo" panose="020B0604030504040204" charset="-128"/>
                <a:cs typeface="Meiryo" panose="020B0604030504040204" charset="-128"/>
                <a:sym typeface="+mn-ea"/>
              </a:rPr>
              <a:t>いる。</a:t>
            </a:r>
            <a:endParaRPr lang="ja-JP" sz="2000">
              <a:latin typeface="Meiryo" panose="020B0604030504040204" charset="-128"/>
              <a:ea typeface="Meiryo" panose="020B0604030504040204" charset="-128"/>
              <a:cs typeface="Meiryo" panose="020B0604030504040204" charset="-128"/>
              <a:sym typeface="+mn-ea"/>
            </a:endParaRPr>
          </a:p>
          <a:p>
            <a:pPr marL="342900" indent="-342900" algn="l">
              <a:lnSpc>
                <a:spcPct val="125000"/>
              </a:lnSpc>
              <a:buFont typeface="Arial" panose="020B0604020202090204" pitchFamily="34" charset="0"/>
              <a:buChar char="•"/>
            </a:pPr>
            <a:r>
              <a:rPr lang="ja-JP" sz="2000">
                <a:latin typeface="Meiryo" panose="020B0604030504040204" charset="-128"/>
                <a:ea typeface="Meiryo" panose="020B0604030504040204" charset="-128"/>
                <a:cs typeface="Meiryo" panose="020B0604030504040204" charset="-128"/>
                <a:sym typeface="+mn-ea"/>
              </a:rPr>
              <a:t>ドメイン知識を用いてベストな探索空間を定義することは簡単だが、その場合はNASが生成したNNが既存のNNを超えるとは考えにくいため、</a:t>
            </a:r>
            <a:r>
              <a:rPr lang="ja-JP" sz="2000" u="sng">
                <a:latin typeface="Meiryo" panose="020B0604030504040204" charset="-128"/>
                <a:ea typeface="Meiryo" panose="020B0604030504040204" charset="-128"/>
                <a:cs typeface="Meiryo" panose="020B0604030504040204" charset="-128"/>
                <a:sym typeface="+mn-ea"/>
              </a:rPr>
              <a:t>画像分類以外の、まだあまり探索されていないドメインに適用すべき</a:t>
            </a:r>
            <a:r>
              <a:rPr lang="ja-JP" sz="2000">
                <a:latin typeface="Meiryo" panose="020B0604030504040204" charset="-128"/>
                <a:ea typeface="Meiryo" panose="020B0604030504040204" charset="-128"/>
                <a:cs typeface="Meiryo" panose="020B0604030504040204" charset="-128"/>
                <a:sym typeface="+mn-ea"/>
              </a:rPr>
              <a:t>と述べている。</a:t>
            </a:r>
            <a:endParaRPr lang="ja-JP" sz="2000">
              <a:latin typeface="Meiryo" panose="020B0604030504040204" charset="-128"/>
              <a:ea typeface="Meiryo" panose="020B0604030504040204" charset="-128"/>
              <a:cs typeface="Meiryo" panose="020B0604030504040204" charset="-128"/>
              <a:sym typeface="+mn-ea"/>
            </a:endParaRPr>
          </a:p>
          <a:p>
            <a:pPr indent="0" algn="l">
              <a:lnSpc>
                <a:spcPct val="125000"/>
              </a:lnSpc>
              <a:buFont typeface="Arial" panose="020B0604020202090204" pitchFamily="34" charset="0"/>
              <a:buNone/>
            </a:pPr>
            <a:r>
              <a:rPr lang="ja-JP" sz="2000">
                <a:latin typeface="Meiryo" panose="020B0604030504040204" charset="-128"/>
                <a:ea typeface="Meiryo" panose="020B0604030504040204" charset="-128"/>
                <a:cs typeface="Meiryo" panose="020B0604030504040204" charset="-128"/>
                <a:sym typeface="+mn-ea"/>
              </a:rPr>
              <a:t>　例：画像復元、転移学習、機械翻訳、強化学習、RNNを用いた言語処理や音楽のモデリング、GAN、　　</a:t>
            </a:r>
            <a:endParaRPr lang="ja-JP" sz="2000">
              <a:latin typeface="Meiryo" panose="020B0604030504040204" charset="-128"/>
              <a:ea typeface="Meiryo" panose="020B0604030504040204" charset="-128"/>
              <a:cs typeface="Meiryo" panose="020B0604030504040204" charset="-128"/>
              <a:sym typeface="+mn-ea"/>
            </a:endParaRPr>
          </a:p>
          <a:p>
            <a:pPr indent="0" algn="l">
              <a:lnSpc>
                <a:spcPct val="125000"/>
              </a:lnSpc>
              <a:buFont typeface="Arial" panose="020B0604020202090204" pitchFamily="34" charset="0"/>
              <a:buNone/>
            </a:pPr>
            <a:r>
              <a:rPr lang="ja-JP" sz="2000">
                <a:latin typeface="Meiryo" panose="020B0604030504040204" charset="-128"/>
                <a:ea typeface="Meiryo" panose="020B0604030504040204" charset="-128"/>
                <a:cs typeface="Meiryo" panose="020B0604030504040204" charset="-128"/>
                <a:sym typeface="+mn-ea"/>
              </a:rPr>
              <a:t>　　　</a:t>
            </a:r>
            <a:r>
              <a:rPr lang="en-US" altLang="ja-JP" sz="2000">
                <a:latin typeface="Meiryo" panose="020B0604030504040204" charset="-128"/>
                <a:ea typeface="Meiryo" panose="020B0604030504040204" charset="-128"/>
                <a:cs typeface="Meiryo" panose="020B0604030504040204" charset="-128"/>
                <a:sym typeface="+mn-ea"/>
              </a:rPr>
              <a:t>Sensor fusion</a:t>
            </a:r>
            <a:r>
              <a:rPr lang="ja-JP" altLang="en-US" sz="2000">
                <a:latin typeface="Meiryo" panose="020B0604030504040204" charset="-128"/>
                <a:ea typeface="Meiryo" panose="020B0604030504040204" charset="-128"/>
                <a:cs typeface="Meiryo" panose="020B0604030504040204" charset="-128"/>
                <a:sym typeface="+mn-ea"/>
              </a:rPr>
              <a:t>など</a:t>
            </a:r>
            <a:endParaRPr lang="ja-JP" altLang="en-US" sz="2000">
              <a:latin typeface="Meiryo" panose="020B0604030504040204" charset="-128"/>
              <a:ea typeface="Meiryo" panose="020B0604030504040204" charset="-128"/>
              <a:cs typeface="Meiryo" panose="020B0604030504040204" charset="-128"/>
              <a:sym typeface="+mn-ea"/>
            </a:endParaRPr>
          </a:p>
          <a:p>
            <a:pPr marL="342900" indent="-342900" algn="l">
              <a:lnSpc>
                <a:spcPct val="125000"/>
              </a:lnSpc>
              <a:buFont typeface="Arial" panose="020B0604020202090204" pitchFamily="34" charset="0"/>
              <a:buChar char="•"/>
            </a:pPr>
            <a:r>
              <a:rPr lang="ja-JP" altLang="en-US" sz="2000" u="sng">
                <a:latin typeface="Meiryo" panose="020B0604030504040204" charset="-128"/>
                <a:ea typeface="Meiryo" panose="020B0604030504040204" charset="-128"/>
                <a:cs typeface="Meiryo" panose="020B0604030504040204" charset="-128"/>
                <a:sym typeface="+mn-ea"/>
              </a:rPr>
              <a:t>マルチタスク問題、多目的問題</a:t>
            </a:r>
            <a:r>
              <a:rPr lang="ja-JP" altLang="en-US" sz="2000">
                <a:latin typeface="Meiryo" panose="020B0604030504040204" charset="-128"/>
                <a:ea typeface="Meiryo" panose="020B0604030504040204" charset="-128"/>
                <a:cs typeface="Meiryo" panose="020B0604030504040204" charset="-128"/>
                <a:sym typeface="+mn-ea"/>
              </a:rPr>
              <a:t>のためのNAS手法の開発も期待されている。</a:t>
            </a:r>
            <a:endParaRPr lang="ja-JP" altLang="en-US" sz="2000">
              <a:latin typeface="Meiryo" panose="020B0604030504040204" charset="-128"/>
              <a:ea typeface="Meiryo" panose="020B0604030504040204" charset="-128"/>
              <a:cs typeface="Meiryo" panose="020B0604030504040204" charset="-128"/>
              <a:sym typeface="+mn-ea"/>
            </a:endParaRPr>
          </a:p>
          <a:p>
            <a:pPr marL="342900" indent="-342900" algn="l">
              <a:lnSpc>
                <a:spcPct val="125000"/>
              </a:lnSpc>
              <a:buFont typeface="Arial" panose="020B0604020202090204" pitchFamily="34" charset="0"/>
              <a:buChar char="•"/>
            </a:pPr>
            <a:r>
              <a:rPr lang="ja-JP" altLang="en-US" sz="2000">
                <a:latin typeface="Meiryo" panose="020B0604030504040204" charset="-128"/>
                <a:ea typeface="Meiryo" panose="020B0604030504040204" charset="-128"/>
                <a:cs typeface="Meiryo" panose="020B0604030504040204" charset="-128"/>
                <a:sym typeface="+mn-ea"/>
              </a:rPr>
              <a:t>多目的NASはネットワーク圧縮と密接であり、既存のNAS研究の一部はネットワーク圧縮をみなすことができる。</a:t>
            </a:r>
            <a:endParaRPr lang="ja-JP" altLang="en-US" sz="2000">
              <a:latin typeface="Meiryo" panose="020B0604030504040204" charset="-128"/>
              <a:ea typeface="Meiryo" panose="020B0604030504040204" charset="-128"/>
              <a:cs typeface="Meiryo" panose="020B0604030504040204" charset="-128"/>
              <a:sym typeface="+mn-ea"/>
            </a:endParaRPr>
          </a:p>
          <a:p>
            <a:pPr marL="342900" indent="-342900" algn="l">
              <a:lnSpc>
                <a:spcPct val="125000"/>
              </a:lnSpc>
              <a:buFont typeface="Arial" panose="020B0604020202090204" pitchFamily="34" charset="0"/>
              <a:buChar char="•"/>
            </a:pPr>
            <a:r>
              <a:rPr lang="ja-JP" altLang="en-US" sz="2000">
                <a:latin typeface="Meiryo" panose="020B0604030504040204" charset="-128"/>
                <a:ea typeface="Meiryo" panose="020B0604030504040204" charset="-128"/>
                <a:cs typeface="Meiryo" panose="020B0604030504040204" charset="-128"/>
                <a:sym typeface="+mn-ea"/>
              </a:rPr>
              <a:t>NASの適切な比較や再現性の確保に関する研究：</a:t>
            </a:r>
            <a:endParaRPr lang="ja-JP" altLang="en-US" sz="2000">
              <a:latin typeface="Meiryo" panose="020B0604030504040204" charset="-128"/>
              <a:ea typeface="Meiryo" panose="020B0604030504040204" charset="-128"/>
              <a:cs typeface="Meiryo" panose="020B0604030504040204" charset="-128"/>
              <a:sym typeface="+mn-ea"/>
            </a:endParaRPr>
          </a:p>
          <a:p>
            <a:pPr marL="800100" lvl="1" indent="-342900" algn="l">
              <a:lnSpc>
                <a:spcPct val="125000"/>
              </a:lnSpc>
              <a:buFont typeface="Arial" panose="020B0604020202090204" pitchFamily="34" charset="0"/>
              <a:buChar char="•"/>
            </a:pPr>
            <a:r>
              <a:rPr lang="ja-JP" altLang="en-US" sz="2000">
                <a:latin typeface="Meiryo" panose="020B0604030504040204" charset="-128"/>
                <a:ea typeface="Meiryo" panose="020B0604030504040204" charset="-128"/>
                <a:cs typeface="Meiryo" panose="020B0604030504040204" charset="-128"/>
                <a:sym typeface="+mn-ea"/>
              </a:rPr>
              <a:t>NAS研究の多くは</a:t>
            </a:r>
            <a:r>
              <a:rPr lang="ja-JP" altLang="en-US" sz="2000" u="sng">
                <a:latin typeface="Meiryo" panose="020B0604030504040204" charset="-128"/>
                <a:ea typeface="Meiryo" panose="020B0604030504040204" charset="-128"/>
                <a:cs typeface="Meiryo" panose="020B0604030504040204" charset="-128"/>
                <a:sym typeface="+mn-ea"/>
              </a:rPr>
              <a:t>CIFAR-10</a:t>
            </a:r>
            <a:r>
              <a:rPr lang="ja-JP" altLang="en-US" sz="2000">
                <a:latin typeface="Meiryo" panose="020B0604030504040204" charset="-128"/>
                <a:ea typeface="Meiryo" panose="020B0604030504040204" charset="-128"/>
                <a:cs typeface="Meiryo" panose="020B0604030504040204" charset="-128"/>
                <a:sym typeface="+mn-ea"/>
              </a:rPr>
              <a:t>で実験を行い、計算コスト(GPU台x日)と精度(test error)をレポートしているが、探索空間やData augmentation、正則化、GPUの種類など様々な要因によって結果は変わる。</a:t>
            </a:r>
            <a:endParaRPr lang="ja-JP" altLang="en-US" sz="2000">
              <a:latin typeface="Meiryo" panose="020B0604030504040204" charset="-128"/>
              <a:ea typeface="Meiryo" panose="020B0604030504040204" charset="-128"/>
              <a:cs typeface="Meiryo" panose="020B0604030504040204" charset="-128"/>
              <a:sym typeface="+mn-ea"/>
            </a:endParaRPr>
          </a:p>
          <a:p>
            <a:pPr marL="800100" lvl="1" indent="-342900" algn="l">
              <a:lnSpc>
                <a:spcPct val="125000"/>
              </a:lnSpc>
              <a:buFont typeface="Arial" panose="020B0604020202090204" pitchFamily="34" charset="0"/>
              <a:buChar char="•"/>
            </a:pPr>
            <a:r>
              <a:rPr lang="ja-JP" altLang="en-US" sz="2000">
                <a:latin typeface="Meiryo" panose="020B0604030504040204" charset="-128"/>
                <a:ea typeface="Meiryo" panose="020B0604030504040204" charset="-128"/>
                <a:cs typeface="Meiryo" panose="020B0604030504040204" charset="-128"/>
                <a:sym typeface="+mn-ea"/>
              </a:rPr>
              <a:t>NAS-Bench-101の様な、一般的なNAS専用のベンチマークを使用することが重要だと考えられる。</a:t>
            </a:r>
            <a:r>
              <a:rPr lang="en-US" altLang="ja-JP" sz="2000">
                <a:latin typeface="Meiryo" panose="020B0604030504040204" charset="-128"/>
                <a:ea typeface="Meiryo" panose="020B0604030504040204" charset="-128"/>
                <a:cs typeface="Meiryo" panose="020B0604030504040204" charset="-128"/>
                <a:sym typeface="+mn-ea"/>
              </a:rPr>
              <a:t>(計算資源をあまり使わずにNASの実験ができる) </a:t>
            </a:r>
            <a:endParaRPr lang="en-US" altLang="ja-JP" sz="2000">
              <a:latin typeface="Meiryo" panose="020B0604030504040204" charset="-128"/>
              <a:ea typeface="Meiryo" panose="020B0604030504040204" charset="-128"/>
              <a:cs typeface="Meiryo" panose="020B0604030504040204" charset="-128"/>
              <a:sym typeface="+mn-ea"/>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6427</Words>
  <Application>WPS Writer</Application>
  <PresentationFormat>Widescreen</PresentationFormat>
  <Paragraphs>282</Paragraphs>
  <Slides>16</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16</vt:i4>
      </vt:variant>
    </vt:vector>
  </HeadingPairs>
  <TitlesOfParts>
    <vt:vector size="34" baseType="lpstr">
      <vt:lpstr>Arial</vt:lpstr>
      <vt:lpstr>SimSun</vt:lpstr>
      <vt:lpstr>Wingdings</vt:lpstr>
      <vt:lpstr>宋体</vt:lpstr>
      <vt:lpstr>Arial Unicode MS</vt:lpstr>
      <vt:lpstr>Calibri Light</vt:lpstr>
      <vt:lpstr>Calibri</vt:lpstr>
      <vt:lpstr>微软雅黑</vt:lpstr>
      <vt:lpstr>Arial Bold</vt:lpstr>
      <vt:lpstr>Baoli SC</vt:lpstr>
      <vt:lpstr>Meiryo Regular</vt:lpstr>
      <vt:lpstr>Wingdings</vt:lpstr>
      <vt:lpstr>宋体-简</vt:lpstr>
      <vt:lpstr>Meiryo Bold</vt:lpstr>
      <vt:lpstr>Meiryo</vt:lpstr>
      <vt:lpstr>MS PGothic</vt:lpstr>
      <vt:lpstr>Cambria Math</vt:lpstr>
      <vt:lpstr>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WPP Presentation</dc:title>
  <dc:creator>sumi</dc:creator>
  <cp:lastModifiedBy>sumi</cp:lastModifiedBy>
  <cp:revision>1</cp:revision>
  <dcterms:created xsi:type="dcterms:W3CDTF">2020-11-03T21:39:35Z</dcterms:created>
  <dcterms:modified xsi:type="dcterms:W3CDTF">2020-11-03T21:39:35Z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1033-2.8.0.4624</vt:lpwstr>
  </property>
</Properties>
</file>